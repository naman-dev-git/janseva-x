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1f3520047949a0" /><Relationship Type="http://schemas.openxmlformats.org/officeDocument/2006/relationships/extended-properties" Target="/docProps/app.xml" Id="R029a1823fc394e3f" /><Relationship Type="http://schemas.openxmlformats.org/officeDocument/2006/relationships/officeDocument" Target="/ppt/presentation.xml" Id="R7957a051796f4d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e21cb5b15a4a46"/>
  </p:sldMasterIdLst>
  <p:notesMasterIdLst>
    <p:notesMasterId xmlns:r="http://schemas.openxmlformats.org/officeDocument/2006/relationships" r:id="Rf25a9f528c5b400c"/>
  </p:notesMasterIdLst>
  <p:sldIdLst>
    <p:sldId xmlns:r="http://schemas.openxmlformats.org/officeDocument/2006/relationships" id="256" r:id="R5cddd0941abc4b75"/>
    <p:sldId xmlns:r="http://schemas.openxmlformats.org/officeDocument/2006/relationships" id="257" r:id="R8c4e39828c47489f"/>
    <p:sldId xmlns:r="http://schemas.openxmlformats.org/officeDocument/2006/relationships" id="258" r:id="Rc6b091dfdcbb429a"/>
    <p:sldId xmlns:r="http://schemas.openxmlformats.org/officeDocument/2006/relationships" id="259" r:id="R7d5f899cc83a4261"/>
    <p:sldId xmlns:r="http://schemas.openxmlformats.org/officeDocument/2006/relationships" id="260" r:id="R4276aa78f970401a"/>
    <p:sldId xmlns:r="http://schemas.openxmlformats.org/officeDocument/2006/relationships" id="261" r:id="R5bd67eb58af64499"/>
    <p:sldId xmlns:r="http://schemas.openxmlformats.org/officeDocument/2006/relationships" id="262" r:id="R73b0f2e85f374774"/>
    <p:sldId xmlns:r="http://schemas.openxmlformats.org/officeDocument/2006/relationships" id="263" r:id="Rfc497d1c96dc4cd5"/>
    <p:sldId xmlns:r="http://schemas.openxmlformats.org/officeDocument/2006/relationships" id="264" r:id="R9fd6c38086174a38"/>
    <p:sldId xmlns:r="http://schemas.openxmlformats.org/officeDocument/2006/relationships" id="265" r:id="Rb28a126d40de4e0e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b583b612c34dd1" /><Relationship Type="http://schemas.openxmlformats.org/officeDocument/2006/relationships/slideMaster" Target="/ppt/slideMasters/slideMaster1.xml" Id="Rf5e21cb5b15a4a46" /><Relationship Type="http://schemas.openxmlformats.org/officeDocument/2006/relationships/notesMaster" Target="/ppt/notesMasters/notesMaster1.xml" Id="Rf25a9f528c5b400c" /><Relationship Type="http://schemas.openxmlformats.org/officeDocument/2006/relationships/presProps" Target="/ppt/presProps.xml" Id="R81dd32b3e0ae46b1" /><Relationship Type="http://schemas.openxmlformats.org/officeDocument/2006/relationships/viewProps" Target="/ppt/viewProps.xml" Id="Rf367c6a5ee484a15" /><Relationship Type="http://schemas.openxmlformats.org/officeDocument/2006/relationships/tableStyles" Target="/ppt/tableStyles.xml" Id="Ra43b672e15f44990" /><Relationship Type="http://schemas.openxmlformats.org/officeDocument/2006/relationships/slide" Target="/ppt/slides/slide1.xml" Id="R5cddd0941abc4b75" /><Relationship Type="http://schemas.openxmlformats.org/officeDocument/2006/relationships/slide" Target="/ppt/slides/slide2.xml" Id="R8c4e39828c47489f" /><Relationship Type="http://schemas.openxmlformats.org/officeDocument/2006/relationships/slide" Target="/ppt/slides/slide3.xml" Id="Rc6b091dfdcbb429a" /><Relationship Type="http://schemas.openxmlformats.org/officeDocument/2006/relationships/slide" Target="/ppt/slides/slide4.xml" Id="R7d5f899cc83a4261" /><Relationship Type="http://schemas.openxmlformats.org/officeDocument/2006/relationships/slide" Target="/ppt/slides/slide5.xml" Id="R4276aa78f970401a" /><Relationship Type="http://schemas.openxmlformats.org/officeDocument/2006/relationships/slide" Target="/ppt/slides/slide6.xml" Id="R5bd67eb58af64499" /><Relationship Type="http://schemas.openxmlformats.org/officeDocument/2006/relationships/slide" Target="/ppt/slides/slide7.xml" Id="R73b0f2e85f374774" /><Relationship Type="http://schemas.openxmlformats.org/officeDocument/2006/relationships/slide" Target="/ppt/slides/slide8.xml" Id="Rfc497d1c96dc4cd5" /><Relationship Type="http://schemas.openxmlformats.org/officeDocument/2006/relationships/slide" Target="/ppt/slides/slide9.xml" Id="R9fd6c38086174a38" /><Relationship Type="http://schemas.openxmlformats.org/officeDocument/2006/relationships/slide" Target="/ppt/slides/slide10.xml" Id="Rb28a126d40de4e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f50dfee82344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1dc84f49b64ca8" /><Relationship Type="http://schemas.openxmlformats.org/officeDocument/2006/relationships/notesMaster" Target="/ppt/notesMasters/notesMaster1.xml" Id="R65a7eeb1b4da41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d8a2ce4c1f4d3e" /><Relationship Type="http://schemas.openxmlformats.org/officeDocument/2006/relationships/notesMaster" Target="/ppt/notesMasters/notesMaster1.xml" Id="Rf134c12100a24f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dab764473a4759" /><Relationship Type="http://schemas.openxmlformats.org/officeDocument/2006/relationships/notesMaster" Target="/ppt/notesMasters/notesMaster1.xml" Id="Rb88cc893918b45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c1cf5c91d7453a" /><Relationship Type="http://schemas.openxmlformats.org/officeDocument/2006/relationships/notesMaster" Target="/ppt/notesMasters/notesMaster1.xml" Id="R72e8a1a0630b4d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d8269eb29347b5" /><Relationship Type="http://schemas.openxmlformats.org/officeDocument/2006/relationships/notesMaster" Target="/ppt/notesMasters/notesMaster1.xml" Id="R660482aef1234b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70703ff3b14278" /><Relationship Type="http://schemas.openxmlformats.org/officeDocument/2006/relationships/notesMaster" Target="/ppt/notesMasters/notesMaster1.xml" Id="Ra81d884acdb04c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b1973c8d7d44ef" /><Relationship Type="http://schemas.openxmlformats.org/officeDocument/2006/relationships/notesMaster" Target="/ppt/notesMasters/notesMaster1.xml" Id="R19ea79dfc4214b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5be98d6afc49b0" /><Relationship Type="http://schemas.openxmlformats.org/officeDocument/2006/relationships/notesMaster" Target="/ppt/notesMasters/notesMaster1.xml" Id="R6e6429ca9d9047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c49a9d205f49b1" /><Relationship Type="http://schemas.openxmlformats.org/officeDocument/2006/relationships/notesMaster" Target="/ppt/notesMasters/notesMaster1.xml" Id="R3d7e21154f4044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a16bae12cf4038" /><Relationship Type="http://schemas.openxmlformats.org/officeDocument/2006/relationships/notesMaster" Target="/ppt/notesMasters/notesMaster1.xml" Id="R5f879cb75d2544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7dc37b62844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aa0cc7c35419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c0370cb9c4824" /><Relationship Type="http://schemas.openxmlformats.org/officeDocument/2006/relationships/slideLayout" Target="/ppt/slideLayouts/slideLayout1.xml" Id="Rf255e249d0e54b2e" /><Relationship Type="http://schemas.openxmlformats.org/officeDocument/2006/relationships/slideLayout" Target="/ppt/slideLayouts/slideLayout2.xml" Id="R0b7ee7ba00f64cf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55e249d0e54b2e"/>
    <p:sldLayoutId xmlns:r="http://schemas.openxmlformats.org/officeDocument/2006/relationships" id="2147483650" r:id="R0b7ee7ba00f64cf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98a07210f14c5b" /><Relationship Type="http://schemas.openxmlformats.org/officeDocument/2006/relationships/image" Target="/ppt/media/image.png" Id="R5a9b4388134c4185" /><Relationship Type="http://schemas.openxmlformats.org/officeDocument/2006/relationships/image" Target="/ppt/media/image2.png" Id="R179f6d55e5e5462b" /><Relationship Type="http://schemas.openxmlformats.org/officeDocument/2006/relationships/image" Target="/ppt/media/image3.png" Id="R7f6651bdae234078" /><Relationship Type="http://schemas.openxmlformats.org/officeDocument/2006/relationships/image" Target="/ppt/media/image4.png" Id="R5d3a9d4caff44719" /><Relationship Type="http://schemas.openxmlformats.org/officeDocument/2006/relationships/notesSlide" Target="/ppt/notesSlides/notesSlide1.xml" Id="R604a11ac5b9b44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d2f05967a64270" /><Relationship Type="http://schemas.openxmlformats.org/officeDocument/2006/relationships/image" Target="/ppt/media/image5.png" Id="R6fc069fd0a0b4735" /><Relationship Type="http://schemas.openxmlformats.org/officeDocument/2006/relationships/image" Target="/ppt/media/image6.png" Id="R4bf4098e0eae4315" /><Relationship Type="http://schemas.openxmlformats.org/officeDocument/2006/relationships/image" Target="/ppt/media/image7.png" Id="Rb8cdf29e43254fc8" /><Relationship Type="http://schemas.openxmlformats.org/officeDocument/2006/relationships/notesSlide" Target="/ppt/notesSlides/notesSlide2.xml" Id="R1143f2774be041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14b86a13c5451d" /><Relationship Type="http://schemas.openxmlformats.org/officeDocument/2006/relationships/image" Target="/ppt/media/image8.png" Id="R74d3d67cb40841e4" /><Relationship Type="http://schemas.openxmlformats.org/officeDocument/2006/relationships/image" Target="/ppt/media/image9.png" Id="Ra213b07659a543d9" /><Relationship Type="http://schemas.openxmlformats.org/officeDocument/2006/relationships/image" Target="/ppt/media/image10.png" Id="Rc08fd73ad5b54693" /><Relationship Type="http://schemas.openxmlformats.org/officeDocument/2006/relationships/notesSlide" Target="/ppt/notesSlides/notesSlide3.xml" Id="Rfa1cee8318d944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ec822a99cd4bce" /><Relationship Type="http://schemas.openxmlformats.org/officeDocument/2006/relationships/image" Target="/ppt/media/image11.png" Id="Ra3c39939eb0c4fe2" /><Relationship Type="http://schemas.openxmlformats.org/officeDocument/2006/relationships/image" Target="/ppt/media/image12.png" Id="Rd85cb790e60a4125" /><Relationship Type="http://schemas.openxmlformats.org/officeDocument/2006/relationships/image" Target="/ppt/media/image13.png" Id="R6e491b817718499c" /><Relationship Type="http://schemas.openxmlformats.org/officeDocument/2006/relationships/image" Target="/ppt/media/image14.png" Id="R158d11cb86ba46c3" /><Relationship Type="http://schemas.openxmlformats.org/officeDocument/2006/relationships/image" Target="/ppt/media/image15.png" Id="Re10557686860494e" /><Relationship Type="http://schemas.openxmlformats.org/officeDocument/2006/relationships/image" Target="/ppt/media/image16.png" Id="R9f7ab1c2478d4651" /><Relationship Type="http://schemas.openxmlformats.org/officeDocument/2006/relationships/image" Target="/ppt/media/image17.png" Id="Re4d60c6d41ec41d2" /><Relationship Type="http://schemas.openxmlformats.org/officeDocument/2006/relationships/image" Target="/ppt/media/image18.png" Id="Rca5bef36f2664579" /><Relationship Type="http://schemas.openxmlformats.org/officeDocument/2006/relationships/notesSlide" Target="/ppt/notesSlides/notesSlide4.xml" Id="Rde189239d5544c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04f29848fa4963" /><Relationship Type="http://schemas.openxmlformats.org/officeDocument/2006/relationships/image" Target="/ppt/media/image19.png" Id="Re3e7cc9b9a8847ee" /><Relationship Type="http://schemas.openxmlformats.org/officeDocument/2006/relationships/image" Target="/ppt/media/image20.png" Id="Rc5f1526465494f2e" /><Relationship Type="http://schemas.openxmlformats.org/officeDocument/2006/relationships/image" Target="/ppt/media/image21.png" Id="R36bdc9342eac458b" /><Relationship Type="http://schemas.openxmlformats.org/officeDocument/2006/relationships/image" Target="/ppt/media/image22.png" Id="R8fbd90b9dd814da5" /><Relationship Type="http://schemas.openxmlformats.org/officeDocument/2006/relationships/image" Target="/ppt/media/image23.png" Id="R467943bb07dd46e3" /><Relationship Type="http://schemas.openxmlformats.org/officeDocument/2006/relationships/image" Target="/ppt/media/image24.png" Id="R0da23266d69b448a" /><Relationship Type="http://schemas.openxmlformats.org/officeDocument/2006/relationships/image" Target="/ppt/media/image25.png" Id="Re2cba6f474f24f69" /><Relationship Type="http://schemas.openxmlformats.org/officeDocument/2006/relationships/image" Target="/ppt/media/image26.png" Id="Rde39e20954fb4cfb" /><Relationship Type="http://schemas.openxmlformats.org/officeDocument/2006/relationships/notesSlide" Target="/ppt/notesSlides/notesSlide5.xml" Id="Rc8362f8e63414f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382ca5d9194aef" /><Relationship Type="http://schemas.openxmlformats.org/officeDocument/2006/relationships/image" Target="/ppt/media/image27.png" Id="R5c87adbcfd4e47a1" /><Relationship Type="http://schemas.openxmlformats.org/officeDocument/2006/relationships/image" Target="/ppt/media/image28.png" Id="Rfb704591f7874bef" /><Relationship Type="http://schemas.openxmlformats.org/officeDocument/2006/relationships/image" Target="/ppt/media/image29.png" Id="Rea41fb49c72b4d1c" /><Relationship Type="http://schemas.openxmlformats.org/officeDocument/2006/relationships/image" Target="/ppt/media/image30.png" Id="Rdeecb63dc34f474e" /><Relationship Type="http://schemas.openxmlformats.org/officeDocument/2006/relationships/image" Target="/ppt/media/image31.png" Id="R494bd8f61e834a88" /><Relationship Type="http://schemas.openxmlformats.org/officeDocument/2006/relationships/image" Target="/ppt/media/image32.png" Id="Ra65e712c205e4600" /><Relationship Type="http://schemas.openxmlformats.org/officeDocument/2006/relationships/notesSlide" Target="/ppt/notesSlides/notesSlide6.xml" Id="R8df49f58b0224a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c50aec0ccb49ec" /><Relationship Type="http://schemas.openxmlformats.org/officeDocument/2006/relationships/image" Target="/ppt/media/image33.png" Id="R357e27a855a14eee" /><Relationship Type="http://schemas.openxmlformats.org/officeDocument/2006/relationships/image" Target="/ppt/media/image34.png" Id="R9c0df96c017b4f1d" /><Relationship Type="http://schemas.openxmlformats.org/officeDocument/2006/relationships/image" Target="/ppt/media/image35.png" Id="Rf4143c65bab54406" /><Relationship Type="http://schemas.openxmlformats.org/officeDocument/2006/relationships/image" Target="/ppt/media/image36.png" Id="Re4fd15d2d5774858" /><Relationship Type="http://schemas.openxmlformats.org/officeDocument/2006/relationships/notesSlide" Target="/ppt/notesSlides/notesSlide7.xml" Id="R7eae14b081eb40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345828ae824185" /><Relationship Type="http://schemas.openxmlformats.org/officeDocument/2006/relationships/image" Target="/ppt/media/image37.png" Id="Rf68fabe497d44649" /><Relationship Type="http://schemas.openxmlformats.org/officeDocument/2006/relationships/image" Target="/ppt/media/image38.png" Id="Rff2e3f538fc4413d" /><Relationship Type="http://schemas.openxmlformats.org/officeDocument/2006/relationships/image" Target="/ppt/media/image39.png" Id="Rd702f24806414613" /><Relationship Type="http://schemas.openxmlformats.org/officeDocument/2006/relationships/image" Target="/ppt/media/image40.png" Id="Rcbd52d32299146b5" /><Relationship Type="http://schemas.openxmlformats.org/officeDocument/2006/relationships/image" Target="/ppt/media/image41.png" Id="R615debdab29a45da" /><Relationship Type="http://schemas.openxmlformats.org/officeDocument/2006/relationships/image" Target="/ppt/media/image42.png" Id="R824c9b2cb9a14ce7" /><Relationship Type="http://schemas.openxmlformats.org/officeDocument/2006/relationships/notesSlide" Target="/ppt/notesSlides/notesSlide8.xml" Id="R52d5390e37ee43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730b75f1e442e5" /><Relationship Type="http://schemas.openxmlformats.org/officeDocument/2006/relationships/image" Target="/ppt/media/image43.png" Id="Rd310a1e178394780" /><Relationship Type="http://schemas.openxmlformats.org/officeDocument/2006/relationships/image" Target="/ppt/media/image44.png" Id="R8f6dbefb0b8f4a74" /><Relationship Type="http://schemas.openxmlformats.org/officeDocument/2006/relationships/image" Target="/ppt/media/image45.png" Id="R591d8d4aac6c4ef9" /><Relationship Type="http://schemas.openxmlformats.org/officeDocument/2006/relationships/image" Target="/ppt/media/image46.png" Id="Rc1bb1f21df8441bb" /><Relationship Type="http://schemas.openxmlformats.org/officeDocument/2006/relationships/image" Target="/ppt/media/image47.png" Id="R197fdfb5df074ec0" /><Relationship Type="http://schemas.openxmlformats.org/officeDocument/2006/relationships/image" Target="/ppt/media/image48.png" Id="R2aa81c1467e44d36" /><Relationship Type="http://schemas.openxmlformats.org/officeDocument/2006/relationships/image" Target="/ppt/media/image49.png" Id="R4adc125276ee470f" /><Relationship Type="http://schemas.openxmlformats.org/officeDocument/2006/relationships/notesSlide" Target="/ppt/notesSlides/notesSlide9.xml" Id="R284b9cf440d041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02335127d14a3a" /><Relationship Type="http://schemas.openxmlformats.org/officeDocument/2006/relationships/image" Target="/ppt/media/image50.png" Id="Ra7e0d88608494056" /><Relationship Type="http://schemas.openxmlformats.org/officeDocument/2006/relationships/notesSlide" Target="/ppt/notesSlides/notesSlide10.xml" Id="R5e30a33e766e4a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CE1F8E8-A9D1-4304-BE7B-4316CD24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b4388134c41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EA9888-ABF1-4D32-A0E7-00C76C75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0C192B">
              <a:alpha val="61961"/>
            </a:srgbClr>
          </a:solidFill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F29894F-1801-4C70-B85F-17437273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690" y="1708048"/>
            <a:ext cx="57150" cy="57150"/>
          </a:xfrm>
          <a:custGeom xmlns:a="http://schemas.openxmlformats.org/drawingml/2006/main"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 xmlns:a="http://schemas.openxmlformats.org/drawingml/2006/main">
            <a:srgbClr val="7FD3C6"/>
          </a:solidFill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753A459-4E84-413F-9B21-F5B5C921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667570"/>
            <a:ext cx="838200" cy="138113"/>
          </a:xfrm>
          <a:custGeom xmlns:a="http://schemas.openxmlformats.org/drawingml/2006/main">
            <a:rect l="l" t="t" r="r" b="b"/>
            <a:pathLst>
              <a:path w="838200" h="138113">
                <a:moveTo>
                  <a:pt x="0" y="0"/>
                </a:moveTo>
                <a:lnTo>
                  <a:pt x="838200" y="0"/>
                </a:lnTo>
                <a:lnTo>
                  <a:pt x="838200" y="138113"/>
                </a:lnTo>
                <a:lnTo>
                  <a:pt x="0" y="1381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D50746-42BB-4E4A-9A1E-170EB166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667570"/>
            <a:ext cx="838200" cy="1381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348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D9E6F2"/>
                </a:solidFill>
                <a:latin typeface="Montserrat"/>
                <a:ea typeface="Montserrat"/>
                <a:cs typeface="Montserrat"/>
              </a:rPr>
              <a:t>JANSEVA-X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F18D398-A17A-4657-AFD8-EA9F2590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37342"/>
            <a:ext cx="5619750" cy="742950"/>
          </a:xfrm>
          <a:custGeom xmlns:a="http://schemas.openxmlformats.org/drawingml/2006/main">
            <a:rect l="l" t="t" r="r" b="b"/>
            <a:pathLst>
              <a:path w="5619750" h="742950">
                <a:moveTo>
                  <a:pt x="0" y="0"/>
                </a:moveTo>
                <a:lnTo>
                  <a:pt x="5619750" y="0"/>
                </a:lnTo>
                <a:lnTo>
                  <a:pt x="5619750" y="742950"/>
                </a:lnTo>
                <a:lnTo>
                  <a:pt x="0" y="7429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968912C-42AA-42EE-87AA-F1DA759B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37342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93913"/>
              </a:lnSpc>
              <a:spcBef>
                <a:spcPts val="281"/>
              </a:spcBef>
              <a:buNone/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From citizen intent to completed government application.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6D32E1A-438D-49D2-A5B9-4FCD6C2F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927" y="4423752"/>
            <a:ext cx="3490912" cy="204787"/>
          </a:xfrm>
          <a:custGeom xmlns:a="http://schemas.openxmlformats.org/drawingml/2006/main">
            <a:rect l="l" t="t" r="r" b="b"/>
            <a:pathLst>
              <a:path w="3490912" h="204787">
                <a:moveTo>
                  <a:pt x="0" y="0"/>
                </a:moveTo>
                <a:lnTo>
                  <a:pt x="3490912" y="0"/>
                </a:lnTo>
                <a:lnTo>
                  <a:pt x="3490912" y="204787"/>
                </a:lnTo>
                <a:lnTo>
                  <a:pt x="0" y="20478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0A4EB2A-0EBB-4FFC-8F90-3C7BC427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927" y="4423752"/>
            <a:ext cx="3490912" cy="204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7391"/>
              </a:lnSpc>
              <a:spcBef>
                <a:spcPts val="281"/>
              </a:spcBef>
              <a:buNone/>
            </a:pPr>
            <a:r>
              <a:rPr sz="1198">
                <a:solidFill>
                  <a:srgbClr val="D9E6F2"/>
                </a:solidFill>
                <a:latin typeface="Montserrat"/>
                <a:ea typeface="Montserrat"/>
                <a:cs typeface="Montserrat"/>
              </a:rPr>
              <a:t>Intent-first. Consent-based. Officer-controlled.</a:t>
            </a:r>
          </a:p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f6d55e5e546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93627" y="3327745"/>
            <a:ext cx="123825" cy="123825"/>
          </a:xfrm>
          <a:prstGeom xmlns:a="http://schemas.openxmlformats.org/drawingml/2006/main" prst="rect">
            <a:avLst/>
          </a:prstGeom>
        </p:spPr>
      </p:pic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095C519-8DA1-49AD-89F6-D943CDBA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544" y="3303933"/>
            <a:ext cx="511159" cy="171450"/>
          </a:xfrm>
          <a:custGeom xmlns:a="http://schemas.openxmlformats.org/drawingml/2006/main">
            <a:rect l="l" t="t" r="r" b="b"/>
            <a:pathLst>
              <a:path w="511159" h="171450">
                <a:moveTo>
                  <a:pt x="0" y="0"/>
                </a:moveTo>
                <a:lnTo>
                  <a:pt x="511159" y="0"/>
                </a:lnTo>
                <a:lnTo>
                  <a:pt x="511159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6E2D013-AD52-48CB-853E-B44EC8A1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544" y="3303933"/>
            <a:ext cx="511159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Intent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D83B1C5-CB90-49F8-9C52-E9E299CC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373" y="3322983"/>
            <a:ext cx="4763" cy="133350"/>
          </a:xfrm>
          <a:custGeom xmlns:a="http://schemas.openxmlformats.org/drawingml/2006/main">
            <a:rect l="l" t="t" r="r" b="b"/>
            <a:pathLst>
              <a:path w="4763" h="133350">
                <a:moveTo>
                  <a:pt x="0" y="0"/>
                </a:moveTo>
                <a:lnTo>
                  <a:pt x="4763" y="0"/>
                </a:lnTo>
                <a:lnTo>
                  <a:pt x="4763" y="13335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5098"/>
            </a:srgbClr>
          </a:solidFill>
        </p:spPr>
      </p:sp>
      <p:pic>
        <p:nvPicPr>
          <p:cNvPr id="4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651bdae2340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1835" y="3327745"/>
            <a:ext cx="123825" cy="123825"/>
          </a:xfrm>
          <a:prstGeom xmlns:a="http://schemas.openxmlformats.org/drawingml/2006/main" prst="rect">
            <a:avLst/>
          </a:prstGeom>
        </p:spPr>
      </p:pic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D8F538C2-F994-46BC-A625-0A5E82D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94" y="3303933"/>
            <a:ext cx="706098" cy="171450"/>
          </a:xfrm>
          <a:custGeom xmlns:a="http://schemas.openxmlformats.org/drawingml/2006/main">
            <a:rect l="l" t="t" r="r" b="b"/>
            <a:pathLst>
              <a:path w="706098" h="171450">
                <a:moveTo>
                  <a:pt x="0" y="0"/>
                </a:moveTo>
                <a:lnTo>
                  <a:pt x="706098" y="0"/>
                </a:lnTo>
                <a:lnTo>
                  <a:pt x="706098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D1541477-40F1-43D2-9A3F-3C487CEE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94" y="3303933"/>
            <a:ext cx="706098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Consent</a:t>
            </a:r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58C4F9EB-8B24-45E4-BF90-1E1ACC1A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015" y="3322983"/>
            <a:ext cx="4763" cy="133350"/>
          </a:xfrm>
          <a:custGeom xmlns:a="http://schemas.openxmlformats.org/drawingml/2006/main">
            <a:rect l="l" t="t" r="r" b="b"/>
            <a:pathLst>
              <a:path w="4763" h="133350">
                <a:moveTo>
                  <a:pt x="0" y="0"/>
                </a:moveTo>
                <a:lnTo>
                  <a:pt x="4763" y="0"/>
                </a:lnTo>
                <a:lnTo>
                  <a:pt x="4763" y="13335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5098"/>
            </a:srgbClr>
          </a:solidFill>
        </p:spPr>
      </p:sp>
      <p:pic>
        <p:nvPicPr>
          <p:cNvPr id="4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a9d4caff44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9478" y="3327745"/>
            <a:ext cx="123825" cy="123825"/>
          </a:xfrm>
          <a:prstGeom xmlns:a="http://schemas.openxmlformats.org/drawingml/2006/main" prst="rect">
            <a:avLst/>
          </a:prstGeom>
        </p:spPr>
      </p:pic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D1407AE1-5ECC-4A30-8270-00EB528C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130" y="3303933"/>
            <a:ext cx="906123" cy="171450"/>
          </a:xfrm>
          <a:custGeom xmlns:a="http://schemas.openxmlformats.org/drawingml/2006/main">
            <a:rect l="l" t="t" r="r" b="b"/>
            <a:pathLst>
              <a:path w="906123" h="171450">
                <a:moveTo>
                  <a:pt x="0" y="0"/>
                </a:moveTo>
                <a:lnTo>
                  <a:pt x="906123" y="0"/>
                </a:lnTo>
                <a:lnTo>
                  <a:pt x="906123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1BC4719B-8F26-4FE6-9E3F-AF860D59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130" y="3303933"/>
            <a:ext cx="906123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Completion</a:t>
            </a:r>
          </a:p>
        </p:txBody>
      </p:sp>
      <p:sp>
        <p:nvSpPr>
          <p:cNvPr id="27" name="PS05 challenge label">
            <a:extLst xmlns:a="http://schemas.openxmlformats.org/drawingml/2006/main">
              <a:ext uri="{FF2B5EF4-FFF2-40B4-BE49-F238E27FC236}">
                <a16:creationId xmlns:a16="http://schemas.microsoft.com/office/drawing/2014/main" id="{FF293F41-939A-4408-BCF1-DE7276F1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E6F2"/>
                </a:solidFill>
              </a:defRPr>
            </a:pPr>
            <a:r>
              <a:rPr sz="975" b="1">
                <a:solidFill>
                  <a:srgbClr val="D9E6F2"/>
                </a:solidFill>
              </a:rPr>
              <a:t>PS05 — AI Innovation for Public Services &amp; Citizen-Centric Governance</a:t>
            </a:r>
          </a:p>
        </p:txBody>
      </p:sp>
    </p:spTree>
    <p:extLst>
      <p:ext uri="{BB962C8B-B14F-4D97-AF65-F5344CB8AC3E}">
        <p14:creationId xmlns:p14="http://schemas.microsoft.com/office/powerpoint/2010/main" val="19405119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83D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9B4DBD5-1885-4613-A533-4DFAC88A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12441D-49BD-423A-822C-C4CB4785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7F9FC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C0DFF62-9F97-4574-976C-4557CA52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453"/>
            <a:ext cx="5334000" cy="138113"/>
          </a:xfrm>
          <a:custGeom xmlns:a="http://schemas.openxmlformats.org/drawingml/2006/main">
            <a:rect l="l" t="t" r="r" b="b"/>
            <a:pathLst>
              <a:path w="5334000" h="138113">
                <a:moveTo>
                  <a:pt x="0" y="0"/>
                </a:moveTo>
                <a:lnTo>
                  <a:pt x="5334000" y="0"/>
                </a:lnTo>
                <a:lnTo>
                  <a:pt x="5334000" y="138113"/>
                </a:lnTo>
                <a:lnTo>
                  <a:pt x="0" y="1381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A89B8A7-9083-4C86-9883-607411DD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453"/>
            <a:ext cx="5334000" cy="1381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THE HUMAN PROBLEM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F7146D9-B2D5-403D-95E0-5B70DAE4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495"/>
            <a:ext cx="5334000" cy="700088"/>
          </a:xfrm>
          <a:custGeom xmlns:a="http://schemas.openxmlformats.org/drawingml/2006/main">
            <a:rect l="l" t="t" r="r" b="b"/>
            <a:pathLst>
              <a:path w="5334000" h="700088">
                <a:moveTo>
                  <a:pt x="0" y="0"/>
                </a:moveTo>
                <a:lnTo>
                  <a:pt x="5334000" y="0"/>
                </a:lnTo>
                <a:lnTo>
                  <a:pt x="5334000" y="700088"/>
                </a:lnTo>
                <a:lnTo>
                  <a:pt x="0" y="70008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5CE0DC0-8242-4CFB-8F2E-7C47891D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495"/>
            <a:ext cx="5334000" cy="700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1304"/>
              </a:lnSpc>
              <a:spcBef>
                <a:spcPts val="281"/>
              </a:spcBef>
              <a:buNone/>
            </a:pPr>
            <a:r>
              <a:rPr sz="2498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The citizen should not have to</a:t>
            </a:r>
          </a:p>
          <a:p xmlns:a="http://schemas.openxmlformats.org/drawingml/2006/main">
            <a:pPr marL="0" indent="0" algn="l">
              <a:lnSpc>
                <a:spcPct val="91304"/>
              </a:lnSpc>
              <a:spcBef>
                <a:spcPts val="281"/>
              </a:spcBef>
              <a:buNone/>
            </a:pPr>
            <a:r>
              <a:rPr sz="2498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learn the system before using it.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C2E0B71-04EA-4AF9-B53A-4A06FC8E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59322"/>
            <a:ext cx="3333750" cy="590550"/>
          </a:xfrm>
          <a:custGeom xmlns:a="http://schemas.openxmlformats.org/drawingml/2006/main">
            <a:rect l="l" t="t" r="r" b="b"/>
            <a:pathLst>
              <a:path w="3333750" h="590550">
                <a:moveTo>
                  <a:pt x="0" y="0"/>
                </a:moveTo>
                <a:lnTo>
                  <a:pt x="3333750" y="0"/>
                </a:lnTo>
                <a:lnTo>
                  <a:pt x="3333750" y="590550"/>
                </a:lnTo>
                <a:lnTo>
                  <a:pt x="0" y="5905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0AB4E77-D3E6-490A-A218-A4CF5A5D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59322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sz="1103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Citizens hunt for portals, interpret requirements, gather documents, then enter the same data repeatedly.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811A1CF-F8F5-4E6F-B6BC-1DDF17F4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78919"/>
            <a:ext cx="228600" cy="228600"/>
          </a:xfrm>
          <a:custGeom xmlns:a="http://schemas.openxmlformats.org/drawingml/2006/main">
            <a:rect l="l" t="t" r="r" b="b"/>
            <a:pathLst>
              <a:path w="228600" h="228600">
                <a:moveTo>
                  <a:pt x="0" y="114300"/>
                </a:moveTo>
                <a:cubicBezTo>
                  <a:pt x="0" y="177426"/>
                  <a:pt x="51174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lose/>
              </a:path>
            </a:pathLst>
          </a:custGeom>
          <a:solidFill xmlns:a="http://schemas.openxmlformats.org/drawingml/2006/main">
            <a:srgbClr val="EEF3F8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84E86CA-C009-471C-A187-1D2259D7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78919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A001A1A-7306-43E1-A6FA-5D97D80C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27" y="2779861"/>
            <a:ext cx="2609850" cy="180975"/>
          </a:xfrm>
          <a:custGeom xmlns:a="http://schemas.openxmlformats.org/drawingml/2006/main">
            <a:rect l="l" t="t" r="r" b="b"/>
            <a:pathLst>
              <a:path w="2609850" h="180975">
                <a:moveTo>
                  <a:pt x="0" y="0"/>
                </a:moveTo>
                <a:lnTo>
                  <a:pt x="2609850" y="0"/>
                </a:lnTo>
                <a:lnTo>
                  <a:pt x="2609850" y="180975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93B76A8-1949-4AA8-85FF-0740BD40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27" y="2779861"/>
            <a:ext cx="260985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sz="1198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Deadlines become pressure.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8106491-B62E-492F-9536-1F01E84F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27" y="2999282"/>
            <a:ext cx="2609850" cy="161925"/>
          </a:xfrm>
          <a:custGeom xmlns:a="http://schemas.openxmlformats.org/drawingml/2006/main">
            <a:rect l="l" t="t" r="r" b="b"/>
            <a:pathLst>
              <a:path w="2609850" h="161925">
                <a:moveTo>
                  <a:pt x="0" y="0"/>
                </a:moveTo>
                <a:lnTo>
                  <a:pt x="2609850" y="0"/>
                </a:lnTo>
                <a:lnTo>
                  <a:pt x="2609850" y="161925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E17E10D-56E4-4EE1-B87C-D59B501A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27" y="2999282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sz="900">
                <a:solidFill>
                  <a:srgbClr val="6E7B8F"/>
                </a:solidFill>
                <a:latin typeface="Montserrat"/>
                <a:ea typeface="Montserrat"/>
                <a:cs typeface="Montserrat"/>
              </a:rPr>
              <a:t>Urgency rises when the next step is unclear.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3B0D035-1337-4F25-9123-5A13B625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03487"/>
            <a:ext cx="228600" cy="228600"/>
          </a:xfrm>
          <a:custGeom xmlns:a="http://schemas.openxmlformats.org/drawingml/2006/main">
            <a:rect l="l" t="t" r="r" b="b"/>
            <a:pathLst>
              <a:path w="228600" h="228600">
                <a:moveTo>
                  <a:pt x="0" y="114300"/>
                </a:moveTo>
                <a:cubicBezTo>
                  <a:pt x="0" y="177426"/>
                  <a:pt x="51174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lose/>
              </a:path>
            </a:pathLst>
          </a:custGeom>
          <a:solidFill xmlns:a="http://schemas.openxmlformats.org/drawingml/2006/main">
            <a:srgbClr val="EEF3F8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8F8D273-C119-4E97-B395-43D25D1A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03487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33D5D5E-2B83-4FCE-96C6-A5B02B4E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99" y="3304430"/>
            <a:ext cx="2719387" cy="180975"/>
          </a:xfrm>
          <a:custGeom xmlns:a="http://schemas.openxmlformats.org/drawingml/2006/main">
            <a:rect l="l" t="t" r="r" b="b"/>
            <a:pathLst>
              <a:path w="2719387" h="180975">
                <a:moveTo>
                  <a:pt x="0" y="0"/>
                </a:moveTo>
                <a:lnTo>
                  <a:pt x="2719387" y="0"/>
                </a:lnTo>
                <a:lnTo>
                  <a:pt x="2719387" y="180975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5E1FDE0-5FFF-43E8-A656-1E2120A0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99" y="3304430"/>
            <a:ext cx="2719387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sz="1198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Repeated fields create frustration.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C166705-99A5-4540-83DC-5FEAC7DF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99" y="3523852"/>
            <a:ext cx="2719387" cy="161925"/>
          </a:xfrm>
          <a:custGeom xmlns:a="http://schemas.openxmlformats.org/drawingml/2006/main">
            <a:rect l="l" t="t" r="r" b="b"/>
            <a:pathLst>
              <a:path w="2719387" h="161925">
                <a:moveTo>
                  <a:pt x="0" y="0"/>
                </a:moveTo>
                <a:lnTo>
                  <a:pt x="2719387" y="0"/>
                </a:lnTo>
                <a:lnTo>
                  <a:pt x="2719387" y="161925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7FD5948-AA79-472D-BFCE-71D7C630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99" y="3523852"/>
            <a:ext cx="2719387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sz="900">
                <a:solidFill>
                  <a:srgbClr val="6E7B8F"/>
                </a:solidFill>
                <a:latin typeface="Montserrat"/>
                <a:ea typeface="Montserrat"/>
                <a:cs typeface="Montserrat"/>
              </a:rPr>
              <a:t>Document hunting slows everything down.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6A63CFF-83FB-491B-B0A5-B9B8B28D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28057"/>
            <a:ext cx="228600" cy="228600"/>
          </a:xfrm>
          <a:custGeom xmlns:a="http://schemas.openxmlformats.org/drawingml/2006/main">
            <a:rect l="l" t="t" r="r" b="b"/>
            <a:pathLst>
              <a:path w="228600" h="228600">
                <a:moveTo>
                  <a:pt x="0" y="114300"/>
                </a:moveTo>
                <a:cubicBezTo>
                  <a:pt x="0" y="177426"/>
                  <a:pt x="51174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lose/>
              </a:path>
            </a:pathLst>
          </a:custGeom>
          <a:solidFill xmlns:a="http://schemas.openxmlformats.org/drawingml/2006/main">
            <a:srgbClr val="E6F3F0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3BC2883-6A4A-4057-8963-AF19EB7B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28057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1E8E7E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68652F2-6692-4C4D-8F71-6CC3AF1A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29000"/>
            <a:ext cx="3095625" cy="180975"/>
          </a:xfrm>
          <a:custGeom xmlns:a="http://schemas.openxmlformats.org/drawingml/2006/main">
            <a:rect l="l" t="t" r="r" b="b"/>
            <a:pathLst>
              <a:path w="3095625" h="180975">
                <a:moveTo>
                  <a:pt x="0" y="0"/>
                </a:moveTo>
                <a:lnTo>
                  <a:pt x="3095625" y="0"/>
                </a:lnTo>
                <a:lnTo>
                  <a:pt x="3095625" y="180975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F3C743F-0AC0-4AF2-AEF4-9836B7D1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29000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sz="1198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Queues add uncertainty.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D14DCCE-5771-41DF-A323-1B9E9DDC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47827"/>
            <a:ext cx="3095625" cy="323850"/>
          </a:xfrm>
          <a:custGeom xmlns:a="http://schemas.openxmlformats.org/drawingml/2006/main">
            <a:rect l="l" t="t" r="r" b="b"/>
            <a:pathLst>
              <a:path w="3095625" h="323850">
                <a:moveTo>
                  <a:pt x="0" y="0"/>
                </a:moveTo>
                <a:lnTo>
                  <a:pt x="3095625" y="0"/>
                </a:lnTo>
                <a:lnTo>
                  <a:pt x="309562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FD144A9-EA0A-4177-8AD8-D9682198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47827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sz="900">
                <a:solidFill>
                  <a:srgbClr val="6E7B8F"/>
                </a:solidFill>
                <a:latin typeface="Montserrat"/>
                <a:ea typeface="Montserrat"/>
                <a:cs typeface="Montserrat"/>
              </a:rPr>
              <a:t>Without clear status, citizens are left waiting and wondering.</a:t>
            </a:r>
          </a:p>
        </p:txBody>
      </p:sp>
      <p:pic>
        <p:nvPicPr>
          <p:cNvPr id="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069fd0a0b47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6850" y="1893091"/>
            <a:ext cx="3429000" cy="2735461"/>
          </a:xfrm>
          <a:prstGeom xmlns:a="http://schemas.openxmlformats.org/drawingml/2006/main" prst="rect">
            <a:avLst/>
          </a:prstGeom>
        </p:spPr>
      </p:pic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FC48609-881E-4280-8A5F-81656B58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58256"/>
            <a:ext cx="3124200" cy="504825"/>
          </a:xfrm>
          <a:custGeom xmlns:a="http://schemas.openxmlformats.org/drawingml/2006/main">
            <a:rect l="l" t="t" r="r" b="b"/>
            <a:pathLst>
              <a:path w="3124200" h="504825">
                <a:moveTo>
                  <a:pt x="138024" y="0"/>
                </a:moveTo>
                <a:lnTo>
                  <a:pt x="2986176" y="0"/>
                </a:lnTo>
                <a:quadBezTo>
                  <a:pt x="3124200" y="0"/>
                  <a:pt x="3124200" y="138024"/>
                </a:quadBezTo>
                <a:lnTo>
                  <a:pt x="3124200" y="366801"/>
                </a:lnTo>
                <a:quadBezTo>
                  <a:pt x="3124200" y="504825"/>
                  <a:pt x="2986176" y="504825"/>
                </a:quadBezTo>
                <a:lnTo>
                  <a:pt x="138024" y="504825"/>
                </a:lnTo>
                <a:quadBezTo>
                  <a:pt x="0" y="504825"/>
                  <a:pt x="0" y="366801"/>
                </a:quadBezTo>
                <a:lnTo>
                  <a:pt x="0" y="138024"/>
                </a:lnTo>
                <a:quadBezTo>
                  <a:pt x="0" y="0"/>
                  <a:pt x="138024" y="0"/>
                </a:quadBezTo>
                <a:close/>
              </a:path>
            </a:pathLst>
          </a:custGeom>
          <a:solidFill xmlns:a="http://schemas.openxmlformats.org/drawingml/2006/main">
            <a:srgbClr val="142033">
              <a:alpha val="87843"/>
            </a:srgbClr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F16E1A5-D797-4898-A44C-329BFF67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58256"/>
            <a:ext cx="31242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sz="9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              The burden is not just paperwork.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B9E5DC"/>
                </a:solidFill>
                <a:latin typeface="Montserrat"/>
                <a:ea typeface="Montserrat"/>
                <a:cs typeface="Montserrat"/>
              </a:rPr>
              <a:t>              It is uncertainty at every step.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FED2E169-BB6A-4973-8064-69ABCABC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87080"/>
            <a:ext cx="8267700" cy="214313"/>
          </a:xfrm>
          <a:custGeom xmlns:a="http://schemas.openxmlformats.org/drawingml/2006/main">
            <a:rect l="l" t="t" r="r" b="b"/>
            <a:pathLst>
              <a:path w="8267700" h="214313">
                <a:moveTo>
                  <a:pt x="0" y="0"/>
                </a:moveTo>
                <a:lnTo>
                  <a:pt x="8267700" y="0"/>
                </a:lnTo>
                <a:lnTo>
                  <a:pt x="8267700" y="214313"/>
                </a:lnTo>
                <a:lnTo>
                  <a:pt x="0" y="2143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7AA9831C-13AF-42EA-A30C-5E4E49CC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87080"/>
            <a:ext cx="8267700" cy="214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sz="698">
                <a:solidFill>
                  <a:srgbClr val="6E7B8F"/>
                </a:solidFill>
                <a:latin typeface="Montserrat"/>
                <a:ea typeface="Montserrat"/>
                <a:cs typeface="Montserrat"/>
              </a:rPr>
              <a:t>A fragmented journey turns a simple public service into a test of patience.</a:t>
            </a:r>
          </a:p>
        </p:txBody>
      </p:sp>
      <p:pic>
        <p:nvPicPr>
          <p:cNvPr id="6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4098e0eae4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" y="4587080"/>
            <a:ext cx="8267700" cy="214313"/>
          </a:xfrm>
          <a:prstGeom xmlns:a="http://schemas.openxmlformats.org/drawingml/2006/main" prst="rect">
            <a:avLst/>
          </a:prstGeom>
        </p:spPr>
      </p:pic>
      <p:pic>
        <p:nvPicPr>
          <p:cNvPr id="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df29e43254f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347" y="401836"/>
            <a:ext cx="5469055" cy="32146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23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417860E6-72B5-4B0E-9547-5412EFE3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40BEAE7-C8B4-44D1-8A46-75F21B0E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7F9FC"/>
          </a:solidFill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4BA63C6-A192-4D96-B052-62B2F6DC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51" y="361453"/>
            <a:ext cx="2438400" cy="138113"/>
          </a:xfrm>
          <a:custGeom xmlns:a="http://schemas.openxmlformats.org/drawingml/2006/main">
            <a:rect l="l" t="t" r="r" b="b"/>
            <a:pathLst>
              <a:path w="2438400" h="138113">
                <a:moveTo>
                  <a:pt x="0" y="0"/>
                </a:moveTo>
                <a:lnTo>
                  <a:pt x="2438400" y="0"/>
                </a:lnTo>
                <a:lnTo>
                  <a:pt x="2438400" y="138113"/>
                </a:lnTo>
                <a:lnTo>
                  <a:pt x="0" y="1381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D397916-60C4-4293-91A6-9E9373F3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51" y="361453"/>
            <a:ext cx="2438400" cy="1381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THE SOLUTION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3353DC0-5592-4E4E-B7B6-D4486C0A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23" y="566786"/>
            <a:ext cx="5053012" cy="347663"/>
          </a:xfrm>
          <a:custGeom xmlns:a="http://schemas.openxmlformats.org/drawingml/2006/main">
            <a:rect l="l" t="t" r="r" b="b"/>
            <a:pathLst>
              <a:path w="5053012" h="347663">
                <a:moveTo>
                  <a:pt x="0" y="0"/>
                </a:moveTo>
                <a:lnTo>
                  <a:pt x="5053012" y="0"/>
                </a:lnTo>
                <a:lnTo>
                  <a:pt x="5053012" y="347663"/>
                </a:lnTo>
                <a:lnTo>
                  <a:pt x="0" y="3476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3E85CB1-C608-4E0D-BB3B-DCCE009D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23" y="566786"/>
            <a:ext cx="5053012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sz="2498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Tell JANSEVA-X what you need.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48FC88E-F035-4FAA-9382-1A26DF1B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3108"/>
            <a:ext cx="5334000" cy="409575"/>
          </a:xfrm>
          <a:custGeom xmlns:a="http://schemas.openxmlformats.org/drawingml/2006/main">
            <a:rect l="l" t="t" r="r" b="b"/>
            <a:pathLst>
              <a:path w="5334000" h="409575">
                <a:moveTo>
                  <a:pt x="0" y="0"/>
                </a:moveTo>
                <a:lnTo>
                  <a:pt x="5334000" y="0"/>
                </a:lnTo>
                <a:lnTo>
                  <a:pt x="5334000" y="409575"/>
                </a:lnTo>
                <a:lnTo>
                  <a:pt x="0" y="4095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978E75E-F849-4042-ACDD-5B47D0A1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3108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1198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An intent-first journey that routes citizens to the right service while keeping consent visible.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AB0B1E1-3677-42F5-9F88-56B32B96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37445"/>
            <a:ext cx="2609850" cy="2881313"/>
          </a:xfrm>
          <a:custGeom xmlns:a="http://schemas.openxmlformats.org/drawingml/2006/main">
            <a:rect l="l" t="t" r="r" b="b"/>
            <a:pathLst>
              <a:path w="2609850" h="2881313">
                <a:moveTo>
                  <a:pt x="40035" y="0"/>
                </a:moveTo>
                <a:lnTo>
                  <a:pt x="2569815" y="0"/>
                </a:lnTo>
                <a:quadBezTo>
                  <a:pt x="2609850" y="0"/>
                  <a:pt x="2609850" y="40035"/>
                </a:quadBezTo>
                <a:lnTo>
                  <a:pt x="2609850" y="2841277"/>
                </a:lnTo>
                <a:quadBezTo>
                  <a:pt x="2609850" y="2881313"/>
                  <a:pt x="2569815" y="2881313"/>
                </a:quadBezTo>
                <a:lnTo>
                  <a:pt x="40035" y="2881313"/>
                </a:lnTo>
                <a:quadBezTo>
                  <a:pt x="0" y="2881313"/>
                  <a:pt x="0" y="2841277"/>
                </a:quadBezTo>
                <a:lnTo>
                  <a:pt x="0" y="40035"/>
                </a:lnTo>
                <a:quadBezTo>
                  <a:pt x="0" y="0"/>
                  <a:pt x="40035" y="0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42875" dist="57150" dir="2700000" algn="bl" rotWithShape="0">
              <a:srgbClr val="142033">
                <a:alpha val="5882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8CDF0B3-873E-4707-A87F-486FF212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46102"/>
            <a:ext cx="342900" cy="342900"/>
          </a:xfrm>
          <a:custGeom xmlns:a="http://schemas.openxmlformats.org/drawingml/2006/main">
            <a:rect l="l" t="t" r="r" b="b"/>
            <a:pathLst>
              <a:path w="342900" h="342900">
                <a:moveTo>
                  <a:pt x="57151" y="0"/>
                </a:moveTo>
                <a:lnTo>
                  <a:pt x="285749" y="0"/>
                </a:lnTo>
                <a:quadBezTo>
                  <a:pt x="342900" y="0"/>
                  <a:pt x="342900" y="57151"/>
                </a:quadBezTo>
                <a:lnTo>
                  <a:pt x="342900" y="285749"/>
                </a:lnTo>
                <a:quadBezTo>
                  <a:pt x="342900" y="342900"/>
                  <a:pt x="285749" y="342900"/>
                </a:quadBezTo>
                <a:lnTo>
                  <a:pt x="57151" y="342900"/>
                </a:lnTo>
                <a:quadBezTo>
                  <a:pt x="0" y="342900"/>
                  <a:pt x="0" y="285749"/>
                </a:quadBezTo>
                <a:lnTo>
                  <a:pt x="0" y="57151"/>
                </a:lnTo>
                <a:quadBezTo>
                  <a:pt x="0" y="0"/>
                  <a:pt x="57151" y="0"/>
                </a:quadBezTo>
                <a:close/>
              </a:path>
            </a:pathLst>
          </a:custGeom>
          <a:solidFill xmlns:a="http://schemas.openxmlformats.org/drawingml/2006/main">
            <a:srgbClr val="EEF3F8"/>
          </a:solidFill>
        </p:spPr>
      </p:sp>
      <p:pic>
        <p:nvPicPr>
          <p:cNvPr id="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3d67cb40841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" y="2236589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ADD8D80-B910-483B-93F8-E739450B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50430"/>
            <a:ext cx="2209800" cy="138113"/>
          </a:xfrm>
          <a:custGeom xmlns:a="http://schemas.openxmlformats.org/drawingml/2006/main">
            <a:rect l="l" t="t" r="r" b="b"/>
            <a:pathLst>
              <a:path w="2209800" h="138113">
                <a:moveTo>
                  <a:pt x="0" y="0"/>
                </a:moveTo>
                <a:lnTo>
                  <a:pt x="2209800" y="0"/>
                </a:lnTo>
                <a:lnTo>
                  <a:pt x="2209800" y="138113"/>
                </a:lnTo>
                <a:lnTo>
                  <a:pt x="0" y="1381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61885B1-7E81-4943-BE72-7A25CEB9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50430"/>
            <a:ext cx="2209800" cy="1381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01 · UNDERSTAND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51C836B-2DD6-4153-9149-2A2E0F11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54002"/>
            <a:ext cx="2209800" cy="209550"/>
          </a:xfrm>
          <a:custGeom xmlns:a="http://schemas.openxmlformats.org/drawingml/2006/main">
            <a:rect l="l" t="t" r="r" b="b"/>
            <a:pathLst>
              <a:path w="2209800" h="209550">
                <a:moveTo>
                  <a:pt x="0" y="0"/>
                </a:moveTo>
                <a:lnTo>
                  <a:pt x="2209800" y="0"/>
                </a:lnTo>
                <a:lnTo>
                  <a:pt x="2209800" y="209550"/>
                </a:lnTo>
                <a:lnTo>
                  <a:pt x="0" y="2095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6A59CF8-4137-4B75-97E9-7E3F7FB4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54002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sz="1401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Start with intent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CAAD33E-CEFD-408D-95CC-61BC2621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49152"/>
            <a:ext cx="2209800" cy="566738"/>
          </a:xfrm>
          <a:custGeom xmlns:a="http://schemas.openxmlformats.org/drawingml/2006/main">
            <a:rect l="l" t="t" r="r" b="b"/>
            <a:pathLst>
              <a:path w="2209800" h="566738">
                <a:moveTo>
                  <a:pt x="0" y="0"/>
                </a:moveTo>
                <a:lnTo>
                  <a:pt x="2209800" y="0"/>
                </a:lnTo>
                <a:lnTo>
                  <a:pt x="2209800" y="566738"/>
                </a:lnTo>
                <a:lnTo>
                  <a:pt x="0" y="56673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1EE20EE6-A431-4A8F-8709-9F37E62F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49152"/>
            <a:ext cx="2209800" cy="566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9565"/>
              </a:lnSpc>
              <a:spcBef>
                <a:spcPts val="281"/>
              </a:spcBef>
              <a:buNone/>
            </a:pPr>
            <a:r>
              <a:rPr sz="1001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Citizens explain what they need in their own words, by voice or text.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89BB4320-71BE-403A-9039-C3A717A6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35795"/>
            <a:ext cx="2209800" cy="152400"/>
          </a:xfrm>
          <a:custGeom xmlns:a="http://schemas.openxmlformats.org/drawingml/2006/main">
            <a:rect l="l" t="t" r="r" b="b"/>
            <a:pathLst>
              <a:path w="2209800" h="152400">
                <a:moveTo>
                  <a:pt x="0" y="0"/>
                </a:moveTo>
                <a:lnTo>
                  <a:pt x="2209800" y="0"/>
                </a:lnTo>
                <a:lnTo>
                  <a:pt x="220980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A26FEDCA-AF1B-44B6-ACF2-5156F2A1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35795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sz="900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•</a:t>
            </a:r>
            <a:r>
              <a:rPr sz="900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Service discovery made simple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124723EB-0106-4AA8-AD61-636C2BF9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75806"/>
            <a:ext cx="2209800" cy="152400"/>
          </a:xfrm>
          <a:custGeom xmlns:a="http://schemas.openxmlformats.org/drawingml/2006/main">
            <a:rect l="l" t="t" r="r" b="b"/>
            <a:pathLst>
              <a:path w="2209800" h="152400">
                <a:moveTo>
                  <a:pt x="0" y="0"/>
                </a:moveTo>
                <a:lnTo>
                  <a:pt x="2209800" y="0"/>
                </a:lnTo>
                <a:lnTo>
                  <a:pt x="220980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9591119-D6D6-4DF6-A1E5-361B5B64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75806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sz="900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•</a:t>
            </a:r>
            <a:r>
              <a:rPr sz="900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Guided routing to the right service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69AFF7B2-E73C-40FB-865D-46F5725C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37445"/>
            <a:ext cx="2609850" cy="2881313"/>
          </a:xfrm>
          <a:custGeom xmlns:a="http://schemas.openxmlformats.org/drawingml/2006/main">
            <a:rect l="l" t="t" r="r" b="b"/>
            <a:pathLst>
              <a:path w="2609850" h="2881313">
                <a:moveTo>
                  <a:pt x="40035" y="0"/>
                </a:moveTo>
                <a:lnTo>
                  <a:pt x="2569815" y="0"/>
                </a:lnTo>
                <a:quadBezTo>
                  <a:pt x="2609850" y="0"/>
                  <a:pt x="2609850" y="40035"/>
                </a:quadBezTo>
                <a:lnTo>
                  <a:pt x="2609850" y="2841277"/>
                </a:lnTo>
                <a:quadBezTo>
                  <a:pt x="2609850" y="2881313"/>
                  <a:pt x="2569815" y="2881313"/>
                </a:quadBezTo>
                <a:lnTo>
                  <a:pt x="40035" y="2881313"/>
                </a:lnTo>
                <a:quadBezTo>
                  <a:pt x="0" y="2881313"/>
                  <a:pt x="0" y="2841277"/>
                </a:quadBezTo>
                <a:lnTo>
                  <a:pt x="0" y="40035"/>
                </a:lnTo>
                <a:quadBezTo>
                  <a:pt x="0" y="0"/>
                  <a:pt x="40035" y="0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01">
            <a:solidFill>
              <a:srgbClr val="2F6FED"/>
            </a:solidFill>
            <a:prstDash val="solid"/>
          </a:ln>
          <a:effectLst xmlns:a="http://schemas.openxmlformats.org/drawingml/2006/main">
            <a:outerShdw blurRad="161925" dist="76200" dir="2700000" algn="bl" rotWithShape="0">
              <a:srgbClr val="2F6FED">
                <a:alpha val="12941"/>
              </a:srgbClr>
            </a:outerShdw>
          </a:effectLst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AD6BB81-84D8-45EC-A2D5-F93A4C45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55627"/>
            <a:ext cx="342900" cy="342900"/>
          </a:xfrm>
          <a:custGeom xmlns:a="http://schemas.openxmlformats.org/drawingml/2006/main">
            <a:rect l="l" t="t" r="r" b="b"/>
            <a:pathLst>
              <a:path w="342900" h="342900">
                <a:moveTo>
                  <a:pt x="57151" y="0"/>
                </a:moveTo>
                <a:lnTo>
                  <a:pt x="285749" y="0"/>
                </a:lnTo>
                <a:quadBezTo>
                  <a:pt x="342900" y="0"/>
                  <a:pt x="342900" y="57151"/>
                </a:quadBezTo>
                <a:lnTo>
                  <a:pt x="342900" y="285749"/>
                </a:lnTo>
                <a:quadBezTo>
                  <a:pt x="342900" y="342900"/>
                  <a:pt x="285749" y="342900"/>
                </a:quadBezTo>
                <a:lnTo>
                  <a:pt x="57151" y="342900"/>
                </a:lnTo>
                <a:quadBezTo>
                  <a:pt x="0" y="342900"/>
                  <a:pt x="0" y="285749"/>
                </a:quadBezTo>
                <a:lnTo>
                  <a:pt x="0" y="57151"/>
                </a:lnTo>
                <a:quadBezTo>
                  <a:pt x="0" y="0"/>
                  <a:pt x="57151" y="0"/>
                </a:quadBezTo>
                <a:close/>
              </a:path>
            </a:pathLst>
          </a:custGeom>
          <a:solidFill xmlns:a="http://schemas.openxmlformats.org/drawingml/2006/main">
            <a:srgbClr val="E7F5F2"/>
          </a:solidFill>
        </p:spPr>
      </p:sp>
      <p:pic>
        <p:nvPicPr>
          <p:cNvPr id="7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3b07659a543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7113" y="2246114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69AF7203-AA44-4CC8-B6A7-969D2E3A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59955"/>
            <a:ext cx="2190750" cy="138113"/>
          </a:xfrm>
          <a:custGeom xmlns:a="http://schemas.openxmlformats.org/drawingml/2006/main">
            <a:rect l="l" t="t" r="r" b="b"/>
            <a:pathLst>
              <a:path w="2190750" h="138113">
                <a:moveTo>
                  <a:pt x="0" y="0"/>
                </a:moveTo>
                <a:lnTo>
                  <a:pt x="2190750" y="0"/>
                </a:lnTo>
                <a:lnTo>
                  <a:pt x="2190750" y="138113"/>
                </a:lnTo>
                <a:lnTo>
                  <a:pt x="0" y="1381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06EA9254-EC3A-43F5-8353-B9921CDB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59955"/>
            <a:ext cx="2190750" cy="1381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1E8E7E"/>
                </a:solidFill>
                <a:latin typeface="Montserrat"/>
                <a:ea typeface="Montserrat"/>
                <a:cs typeface="Montserrat"/>
              </a:rPr>
              <a:t>02 · PREPARE</a:t>
            </a:r>
          </a:p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EEEFBB80-C05C-4E83-9A02-B267CCB7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3527"/>
            <a:ext cx="2190750" cy="209550"/>
          </a:xfrm>
          <a:custGeom xmlns:a="http://schemas.openxmlformats.org/drawingml/2006/main">
            <a:rect l="l" t="t" r="r" b="b"/>
            <a:pathLst>
              <a:path w="2190750" h="209550">
                <a:moveTo>
                  <a:pt x="0" y="0"/>
                </a:moveTo>
                <a:lnTo>
                  <a:pt x="2190750" y="0"/>
                </a:lnTo>
                <a:lnTo>
                  <a:pt x="2190750" y="209550"/>
                </a:lnTo>
                <a:lnTo>
                  <a:pt x="0" y="2095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AF4170D5-2743-4B68-9CC5-12C3F8B9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3527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sz="1401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Prepare with consent</a:t>
            </a:r>
          </a:p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0E087507-8BE8-42DE-B2CD-6DA7ECBE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58082"/>
            <a:ext cx="2190750" cy="757238"/>
          </a:xfrm>
          <a:custGeom xmlns:a="http://schemas.openxmlformats.org/drawingml/2006/main">
            <a:rect l="l" t="t" r="r" b="b"/>
            <a:pathLst>
              <a:path w="2190750" h="757238">
                <a:moveTo>
                  <a:pt x="0" y="0"/>
                </a:moveTo>
                <a:lnTo>
                  <a:pt x="2190750" y="0"/>
                </a:lnTo>
                <a:lnTo>
                  <a:pt x="2190750" y="757238"/>
                </a:lnTo>
                <a:lnTo>
                  <a:pt x="0" y="75723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2" name="Text 27">
            <a:extLst xmlns:a="http://schemas.openxmlformats.org/drawingml/2006/main">
              <a:ext uri="{FF2B5EF4-FFF2-40B4-BE49-F238E27FC236}">
                <a16:creationId xmlns:a16="http://schemas.microsoft.com/office/drawing/2014/main" id="{285E7F29-A9B1-43DE-A2F1-1788EF3B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58082"/>
            <a:ext cx="2190750" cy="75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9565"/>
              </a:lnSpc>
              <a:spcBef>
                <a:spcPts val="281"/>
              </a:spcBef>
              <a:buNone/>
            </a:pPr>
            <a:r>
              <a:rPr sz="1001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Smart Fill prepares ready-to-review fields. Smart Attach aligns required documents.</a:t>
            </a:r>
          </a:p>
        </p:txBody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78C31F9C-3CF1-4DDD-9D1E-1833155F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26270"/>
            <a:ext cx="2190750" cy="152400"/>
          </a:xfrm>
          <a:custGeom xmlns:a="http://schemas.openxmlformats.org/drawingml/2006/main">
            <a:rect l="l" t="t" r="r" b="b"/>
            <a:pathLst>
              <a:path w="2190750" h="152400">
                <a:moveTo>
                  <a:pt x="0" y="0"/>
                </a:moveTo>
                <a:lnTo>
                  <a:pt x="2190750" y="0"/>
                </a:lnTo>
                <a:lnTo>
                  <a:pt x="219075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675D0038-9CEA-487C-A487-2794ADD9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26270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sz="900">
                <a:solidFill>
                  <a:srgbClr val="1E8E7E"/>
                </a:solidFill>
                <a:latin typeface="Montserrat"/>
                <a:ea typeface="Montserrat"/>
                <a:cs typeface="Montserrat"/>
              </a:rPr>
              <a:t>•Consent stays visible and explicit</a:t>
            </a:r>
          </a:p>
        </p:txBody>
      </p:sp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87839269-12F1-4CE2-9877-5AB09DC5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66281"/>
            <a:ext cx="2190750" cy="152400"/>
          </a:xfrm>
          <a:custGeom xmlns:a="http://schemas.openxmlformats.org/drawingml/2006/main">
            <a:rect l="l" t="t" r="r" b="b"/>
            <a:pathLst>
              <a:path w="2190750" h="152400">
                <a:moveTo>
                  <a:pt x="0" y="0"/>
                </a:moveTo>
                <a:lnTo>
                  <a:pt x="2190750" y="0"/>
                </a:lnTo>
                <a:lnTo>
                  <a:pt x="219075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99853729-1243-42CB-865C-F893DE13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66281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sz="900">
                <a:solidFill>
                  <a:srgbClr val="1E8E7E"/>
                </a:solidFill>
                <a:latin typeface="Montserrat"/>
                <a:ea typeface="Montserrat"/>
                <a:cs typeface="Montserrat"/>
              </a:rPr>
              <a:t>•Smart Fill + Smart Attach reduce gaps</a:t>
            </a:r>
          </a:p>
        </p:txBody>
      </p:sp>
      <p:sp>
        <p:nvSpPr>
          <p:cNvPr id="37" name="Shape 32">
            <a:extLst xmlns:a="http://schemas.openxmlformats.org/drawingml/2006/main">
              <a:ext uri="{FF2B5EF4-FFF2-40B4-BE49-F238E27FC236}">
                <a16:creationId xmlns:a16="http://schemas.microsoft.com/office/drawing/2014/main" id="{86977F0F-60D9-49B8-BFD3-53FAE1C2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37445"/>
            <a:ext cx="2609850" cy="2881313"/>
          </a:xfrm>
          <a:custGeom xmlns:a="http://schemas.openxmlformats.org/drawingml/2006/main">
            <a:rect l="l" t="t" r="r" b="b"/>
            <a:pathLst>
              <a:path w="2609850" h="2881313">
                <a:moveTo>
                  <a:pt x="40035" y="0"/>
                </a:moveTo>
                <a:lnTo>
                  <a:pt x="2569815" y="0"/>
                </a:lnTo>
                <a:quadBezTo>
                  <a:pt x="2609850" y="0"/>
                  <a:pt x="2609850" y="40035"/>
                </a:quadBezTo>
                <a:lnTo>
                  <a:pt x="2609850" y="2841277"/>
                </a:lnTo>
                <a:quadBezTo>
                  <a:pt x="2609850" y="2881313"/>
                  <a:pt x="2569815" y="2881313"/>
                </a:quadBezTo>
                <a:lnTo>
                  <a:pt x="40035" y="2881313"/>
                </a:lnTo>
                <a:quadBezTo>
                  <a:pt x="0" y="2881313"/>
                  <a:pt x="0" y="2841277"/>
                </a:quadBezTo>
                <a:lnTo>
                  <a:pt x="0" y="40035"/>
                </a:lnTo>
                <a:quadBezTo>
                  <a:pt x="0" y="0"/>
                  <a:pt x="40035" y="0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42875" dist="57150" dir="2700000" algn="bl" rotWithShape="0">
              <a:srgbClr val="142033">
                <a:alpha val="5882"/>
              </a:srgbClr>
            </a:outerShdw>
          </a:effectLst>
        </p:spPr>
      </p:sp>
      <p:sp>
        <p:nvSpPr>
          <p:cNvPr id="38" name="Shape 33">
            <a:extLst xmlns:a="http://schemas.openxmlformats.org/drawingml/2006/main">
              <a:ext uri="{FF2B5EF4-FFF2-40B4-BE49-F238E27FC236}">
                <a16:creationId xmlns:a16="http://schemas.microsoft.com/office/drawing/2014/main" id="{3731C08E-A551-4022-9F59-DA0C7008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46102"/>
            <a:ext cx="342900" cy="342900"/>
          </a:xfrm>
          <a:custGeom xmlns:a="http://schemas.openxmlformats.org/drawingml/2006/main">
            <a:rect l="l" t="t" r="r" b="b"/>
            <a:pathLst>
              <a:path w="342900" h="342900">
                <a:moveTo>
                  <a:pt x="57151" y="0"/>
                </a:moveTo>
                <a:lnTo>
                  <a:pt x="285749" y="0"/>
                </a:lnTo>
                <a:quadBezTo>
                  <a:pt x="342900" y="0"/>
                  <a:pt x="342900" y="57151"/>
                </a:quadBezTo>
                <a:lnTo>
                  <a:pt x="342900" y="285749"/>
                </a:lnTo>
                <a:quadBezTo>
                  <a:pt x="342900" y="342900"/>
                  <a:pt x="285749" y="342900"/>
                </a:quadBezTo>
                <a:lnTo>
                  <a:pt x="57151" y="342900"/>
                </a:lnTo>
                <a:quadBezTo>
                  <a:pt x="0" y="342900"/>
                  <a:pt x="0" y="285749"/>
                </a:quadBezTo>
                <a:lnTo>
                  <a:pt x="0" y="57151"/>
                </a:lnTo>
                <a:quadBezTo>
                  <a:pt x="0" y="0"/>
                  <a:pt x="57151" y="0"/>
                </a:quadBezTo>
                <a:close/>
              </a:path>
            </a:pathLst>
          </a:custGeom>
          <a:solidFill xmlns:a="http://schemas.openxmlformats.org/drawingml/2006/main">
            <a:srgbClr val="EEF3F8"/>
          </a:solidFill>
        </p:spPr>
      </p:sp>
      <p:pic>
        <p:nvPicPr>
          <p:cNvPr id="8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fd73ad5b546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7462" y="2236589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40" name="Shape 34">
            <a:extLst xmlns:a="http://schemas.openxmlformats.org/drawingml/2006/main">
              <a:ext uri="{FF2B5EF4-FFF2-40B4-BE49-F238E27FC236}">
                <a16:creationId xmlns:a16="http://schemas.microsoft.com/office/drawing/2014/main" id="{466FCF46-57FA-4D47-9C0C-63D3E759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50430"/>
            <a:ext cx="2209800" cy="138113"/>
          </a:xfrm>
          <a:custGeom xmlns:a="http://schemas.openxmlformats.org/drawingml/2006/main">
            <a:rect l="l" t="t" r="r" b="b"/>
            <a:pathLst>
              <a:path w="2209800" h="138113">
                <a:moveTo>
                  <a:pt x="0" y="0"/>
                </a:moveTo>
                <a:lnTo>
                  <a:pt x="2209800" y="0"/>
                </a:lnTo>
                <a:lnTo>
                  <a:pt x="2209800" y="138113"/>
                </a:lnTo>
                <a:lnTo>
                  <a:pt x="0" y="1381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1A583CF6-EB4E-4021-A61D-190E1C69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50430"/>
            <a:ext cx="2209800" cy="1381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03 · COMPLETE</a:t>
            </a:r>
          </a:p>
        </p:txBody>
      </p:sp>
      <p:sp>
        <p:nvSpPr>
          <p:cNvPr id="42" name="Shape 36">
            <a:extLst xmlns:a="http://schemas.openxmlformats.org/drawingml/2006/main">
              <a:ext uri="{FF2B5EF4-FFF2-40B4-BE49-F238E27FC236}">
                <a16:creationId xmlns:a16="http://schemas.microsoft.com/office/drawing/2014/main" id="{C8710718-CF79-42F9-8966-6A359BC6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54002"/>
            <a:ext cx="2209800" cy="209550"/>
          </a:xfrm>
          <a:custGeom xmlns:a="http://schemas.openxmlformats.org/drawingml/2006/main">
            <a:rect l="l" t="t" r="r" b="b"/>
            <a:pathLst>
              <a:path w="2209800" h="209550">
                <a:moveTo>
                  <a:pt x="0" y="0"/>
                </a:moveTo>
                <a:lnTo>
                  <a:pt x="2209800" y="0"/>
                </a:lnTo>
                <a:lnTo>
                  <a:pt x="2209800" y="209550"/>
                </a:lnTo>
                <a:lnTo>
                  <a:pt x="0" y="2095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3" name="Text 37">
            <a:extLst xmlns:a="http://schemas.openxmlformats.org/drawingml/2006/main">
              <a:ext uri="{FF2B5EF4-FFF2-40B4-BE49-F238E27FC236}">
                <a16:creationId xmlns:a16="http://schemas.microsoft.com/office/drawing/2014/main" id="{32B05414-58FB-4376-8A05-75C62F42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54002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sz="1401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Complete with clarity</a:t>
            </a:r>
          </a:p>
        </p:txBody>
      </p:sp>
      <p:sp>
        <p:nvSpPr>
          <p:cNvPr id="44" name="Shape 38">
            <a:extLst xmlns:a="http://schemas.openxmlformats.org/drawingml/2006/main">
              <a:ext uri="{FF2B5EF4-FFF2-40B4-BE49-F238E27FC236}">
                <a16:creationId xmlns:a16="http://schemas.microsoft.com/office/drawing/2014/main" id="{2BE05003-E47D-48E6-AB84-072E4FA9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49152"/>
            <a:ext cx="2209800" cy="566738"/>
          </a:xfrm>
          <a:custGeom xmlns:a="http://schemas.openxmlformats.org/drawingml/2006/main">
            <a:rect l="l" t="t" r="r" b="b"/>
            <a:pathLst>
              <a:path w="2209800" h="566738">
                <a:moveTo>
                  <a:pt x="0" y="0"/>
                </a:moveTo>
                <a:lnTo>
                  <a:pt x="2209800" y="0"/>
                </a:lnTo>
                <a:lnTo>
                  <a:pt x="2209800" y="566738"/>
                </a:lnTo>
                <a:lnTo>
                  <a:pt x="0" y="56673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5" name="Text 39">
            <a:extLst xmlns:a="http://schemas.openxmlformats.org/drawingml/2006/main">
              <a:ext uri="{FF2B5EF4-FFF2-40B4-BE49-F238E27FC236}">
                <a16:creationId xmlns:a16="http://schemas.microsoft.com/office/drawing/2014/main" id="{54C51B33-1C1D-46C7-89B4-0FCFD896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49152"/>
            <a:ext cx="2209800" cy="566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9565"/>
              </a:lnSpc>
              <a:spcBef>
                <a:spcPts val="281"/>
              </a:spcBef>
              <a:buNone/>
            </a:pPr>
            <a:r>
              <a:rPr sz="1001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Submit, track and move through a clear officer-owned application lifecycle.</a:t>
            </a:r>
          </a:p>
        </p:txBody>
      </p:sp>
      <p:sp>
        <p:nvSpPr>
          <p:cNvPr id="46" name="Shape 40">
            <a:extLst xmlns:a="http://schemas.openxmlformats.org/drawingml/2006/main">
              <a:ext uri="{FF2B5EF4-FFF2-40B4-BE49-F238E27FC236}">
                <a16:creationId xmlns:a16="http://schemas.microsoft.com/office/drawing/2014/main" id="{BAAF19FB-3CF3-4851-A004-B402918D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235795"/>
            <a:ext cx="2209800" cy="152400"/>
          </a:xfrm>
          <a:custGeom xmlns:a="http://schemas.openxmlformats.org/drawingml/2006/main">
            <a:rect l="l" t="t" r="r" b="b"/>
            <a:pathLst>
              <a:path w="2209800" h="152400">
                <a:moveTo>
                  <a:pt x="0" y="0"/>
                </a:moveTo>
                <a:lnTo>
                  <a:pt x="2209800" y="0"/>
                </a:lnTo>
                <a:lnTo>
                  <a:pt x="220980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7" name="Text 41">
            <a:extLst xmlns:a="http://schemas.openxmlformats.org/drawingml/2006/main">
              <a:ext uri="{FF2B5EF4-FFF2-40B4-BE49-F238E27FC236}">
                <a16:creationId xmlns:a16="http://schemas.microsoft.com/office/drawing/2014/main" id="{4168BC24-C3FC-4798-8155-5039D1AD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235795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sz="900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•</a:t>
            </a:r>
            <a:r>
              <a:rPr sz="900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Status stays easy to follow</a:t>
            </a:r>
          </a:p>
        </p:txBody>
      </p:sp>
      <p:sp>
        <p:nvSpPr>
          <p:cNvPr id="48" name="Shape 42">
            <a:extLst xmlns:a="http://schemas.openxmlformats.org/drawingml/2006/main">
              <a:ext uri="{FF2B5EF4-FFF2-40B4-BE49-F238E27FC236}">
                <a16:creationId xmlns:a16="http://schemas.microsoft.com/office/drawing/2014/main" id="{3F30353D-5BA4-49EC-832A-622C9BC1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75806"/>
            <a:ext cx="2209800" cy="152400"/>
          </a:xfrm>
          <a:custGeom xmlns:a="http://schemas.openxmlformats.org/drawingml/2006/main">
            <a:rect l="l" t="t" r="r" b="b"/>
            <a:pathLst>
              <a:path w="2209800" h="152400">
                <a:moveTo>
                  <a:pt x="0" y="0"/>
                </a:moveTo>
                <a:lnTo>
                  <a:pt x="2209800" y="0"/>
                </a:lnTo>
                <a:lnTo>
                  <a:pt x="220980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9" name="Text 43">
            <a:extLst xmlns:a="http://schemas.openxmlformats.org/drawingml/2006/main">
              <a:ext uri="{FF2B5EF4-FFF2-40B4-BE49-F238E27FC236}">
                <a16:creationId xmlns:a16="http://schemas.microsoft.com/office/drawing/2014/main" id="{5B20C42B-4066-440C-980B-B9BA82C2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75806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sz="900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•</a:t>
            </a:r>
            <a:r>
              <a:rPr sz="900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Every request has an owner</a:t>
            </a:r>
          </a:p>
        </p:txBody>
      </p:sp>
    </p:spTree>
    <p:extLst>
      <p:ext uri="{BB962C8B-B14F-4D97-AF65-F5344CB8AC3E}">
        <p14:creationId xmlns:p14="http://schemas.microsoft.com/office/powerpoint/2010/main" val="5870113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DA8D5F69-F14F-4480-A321-D34106C3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3676C2FD-63B0-4678-96B4-CB0A1CE7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7F9FC"/>
          </a:solidFill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E8409CF-AAB3-4F61-809E-2E380E83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80" y="342900"/>
            <a:ext cx="3009900" cy="171450"/>
          </a:xfrm>
          <a:custGeom xmlns:a="http://schemas.openxmlformats.org/drawingml/2006/main">
            <a:rect l="l" t="t" r="r" b="b"/>
            <a:pathLst>
              <a:path w="3009900" h="171450">
                <a:moveTo>
                  <a:pt x="0" y="0"/>
                </a:moveTo>
                <a:lnTo>
                  <a:pt x="3009900" y="0"/>
                </a:lnTo>
                <a:lnTo>
                  <a:pt x="300990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6678C6E-10F6-4461-BF27-F83D64E0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80" y="342900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LIVE PROTOTYPE · TRADE LICENCE RENEWAL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402D4A4-3D2C-4890-A990-C5CF68D3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433" y="404813"/>
            <a:ext cx="47625" cy="47625"/>
          </a:xfrm>
          <a:custGeom xmlns:a="http://schemas.openxmlformats.org/drawingml/2006/main"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 xmlns:a="http://schemas.openxmlformats.org/drawingml/2006/main">
            <a:srgbClr val="1E8E7E"/>
          </a:solidFill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08BC139-C1FD-43CE-A9E4-59E32E5B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1096"/>
            <a:ext cx="6762750" cy="657225"/>
          </a:xfrm>
          <a:custGeom xmlns:a="http://schemas.openxmlformats.org/drawingml/2006/main">
            <a:rect l="l" t="t" r="r" b="b"/>
            <a:pathLst>
              <a:path w="6762750" h="657225">
                <a:moveTo>
                  <a:pt x="0" y="0"/>
                </a:moveTo>
                <a:lnTo>
                  <a:pt x="6762750" y="0"/>
                </a:lnTo>
                <a:lnTo>
                  <a:pt x="6762750" y="65722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F1EC4B9-5AA3-466F-94BF-621FB996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1096"/>
            <a:ext cx="676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sz="2402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A complete guided Trade Licence Renewal journey.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E2F9265-B8F3-4A85-B5F2-CC3DB83C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26008"/>
            <a:ext cx="5619750" cy="409575"/>
          </a:xfrm>
          <a:custGeom xmlns:a="http://schemas.openxmlformats.org/drawingml/2006/main">
            <a:rect l="l" t="t" r="r" b="b"/>
            <a:pathLst>
              <a:path w="5619750" h="409575">
                <a:moveTo>
                  <a:pt x="0" y="0"/>
                </a:moveTo>
                <a:lnTo>
                  <a:pt x="5619750" y="0"/>
                </a:lnTo>
                <a:lnTo>
                  <a:pt x="5619750" y="409575"/>
                </a:lnTo>
                <a:lnTo>
                  <a:pt x="0" y="4095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197EFA7-8A36-4741-B706-26CDD455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26008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1198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Intent, consent and smart preparation lead to mock verification, ticket tracking and an informed draft/submit choice.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7E38A53-AAF1-40FE-A5E9-276E58BF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08920"/>
            <a:ext cx="5991225" cy="2528888"/>
          </a:xfrm>
          <a:custGeom xmlns:a="http://schemas.openxmlformats.org/drawingml/2006/main">
            <a:rect l="l" t="t" r="r" b="b"/>
            <a:pathLst>
              <a:path w="5991225" h="2528888">
                <a:moveTo>
                  <a:pt x="41322" y="0"/>
                </a:moveTo>
                <a:lnTo>
                  <a:pt x="5949903" y="0"/>
                </a:lnTo>
                <a:quadBezTo>
                  <a:pt x="5991225" y="0"/>
                  <a:pt x="5991225" y="41322"/>
                </a:quadBezTo>
                <a:lnTo>
                  <a:pt x="5991225" y="2487565"/>
                </a:lnTo>
                <a:quadBezTo>
                  <a:pt x="5991225" y="2528888"/>
                  <a:pt x="5949903" y="2528888"/>
                </a:quadBezTo>
                <a:lnTo>
                  <a:pt x="41322" y="2528888"/>
                </a:lnTo>
                <a:quadBezTo>
                  <a:pt x="0" y="2528888"/>
                  <a:pt x="0" y="2487565"/>
                </a:quadBezTo>
                <a:lnTo>
                  <a:pt x="0" y="41322"/>
                </a:lnTo>
                <a:quadBezTo>
                  <a:pt x="0" y="0"/>
                  <a:pt x="41322" y="0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42875" dist="57150" dir="2700000" algn="bl" rotWithShape="0">
              <a:srgbClr val="142033">
                <a:alpha val="7843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4A8C988-C4CF-41EA-ABD1-59F13A0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77" y="2477096"/>
            <a:ext cx="2724150" cy="200025"/>
          </a:xfrm>
          <a:custGeom xmlns:a="http://schemas.openxmlformats.org/drawingml/2006/main">
            <a:rect l="l" t="t" r="r" b="b"/>
            <a:pathLst>
              <a:path w="2724150" h="200025">
                <a:moveTo>
                  <a:pt x="0" y="0"/>
                </a:moveTo>
                <a:lnTo>
                  <a:pt x="2724150" y="0"/>
                </a:lnTo>
                <a:lnTo>
                  <a:pt x="2724150" y="200025"/>
                </a:lnTo>
                <a:lnTo>
                  <a:pt x="0" y="20002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1AC76CB-849A-4A89-ADDA-96A39B64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77" y="2477096"/>
            <a:ext cx="272415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sz="1001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The application, unfolding step by step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9E115ED-1EB2-4A68-9178-41CB3732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549" y="2450902"/>
            <a:ext cx="1190625" cy="252412"/>
          </a:xfrm>
          <a:custGeom xmlns:a="http://schemas.openxmlformats.org/drawingml/2006/main">
            <a:rect l="l" t="t" r="r" b="b"/>
            <a:pathLst>
              <a:path w="1190625" h="252412">
                <a:moveTo>
                  <a:pt x="86264" y="0"/>
                </a:moveTo>
                <a:lnTo>
                  <a:pt x="1104361" y="0"/>
                </a:lnTo>
                <a:quadBezTo>
                  <a:pt x="1190625" y="0"/>
                  <a:pt x="1190625" y="86264"/>
                </a:quadBezTo>
                <a:lnTo>
                  <a:pt x="1190625" y="166148"/>
                </a:lnTo>
                <a:quadBezTo>
                  <a:pt x="1190625" y="252412"/>
                  <a:pt x="1104361" y="252412"/>
                </a:quadBezTo>
                <a:lnTo>
                  <a:pt x="86264" y="252412"/>
                </a:lnTo>
                <a:quadBezTo>
                  <a:pt x="0" y="252412"/>
                  <a:pt x="0" y="166148"/>
                </a:quadBezTo>
                <a:lnTo>
                  <a:pt x="0" y="86264"/>
                </a:lnTo>
                <a:quadBezTo>
                  <a:pt x="0" y="0"/>
                  <a:pt x="86264" y="0"/>
                </a:quadBezTo>
                <a:close/>
              </a:path>
            </a:pathLst>
          </a:custGeom>
          <a:solidFill xmlns:a="http://schemas.openxmlformats.org/drawingml/2006/main">
            <a:srgbClr val="E8F5F2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FB8767E-5BA1-4DBF-9C29-C96AF2FC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549" y="2450902"/>
            <a:ext cx="1190625" cy="2524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1E8E7E"/>
                </a:solidFill>
                <a:latin typeface="Montserrat"/>
                <a:ea typeface="Montserrat"/>
                <a:cs typeface="Montserrat"/>
              </a:rPr>
              <a:t>Citizen-led journey</a:t>
            </a:r>
          </a:p>
        </p:txBody>
      </p:sp>
      <p:pic>
        <p:nvPicPr>
          <p:cNvPr id="7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39939eb0c4f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" y="2808536"/>
            <a:ext cx="1838325" cy="1333500"/>
          </a:xfrm>
          <a:prstGeom xmlns:a="http://schemas.openxmlformats.org/drawingml/2006/main" prst="rect">
            <a:avLst/>
          </a:prstGeom>
        </p:spPr>
      </p:pic>
      <p:pic>
        <p:nvPicPr>
          <p:cNvPr id="7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cb790e60a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5550" y="2808536"/>
            <a:ext cx="1838325" cy="1333500"/>
          </a:xfrm>
          <a:prstGeom xmlns:a="http://schemas.openxmlformats.org/drawingml/2006/main" prst="rect">
            <a:avLst/>
          </a:prstGeom>
        </p:spPr>
      </p:pic>
      <p:pic>
        <p:nvPicPr>
          <p:cNvPr id="7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91b81771849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2808536"/>
            <a:ext cx="1838325" cy="1333500"/>
          </a:xfrm>
          <a:prstGeom xmlns:a="http://schemas.openxmlformats.org/drawingml/2006/main" prst="rect">
            <a:avLst/>
          </a:prstGeom>
        </p:spPr>
      </p:pic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0D2A2D2D-B815-4A05-94AC-8EE2C8DD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71" y="4247257"/>
            <a:ext cx="1752600" cy="157163"/>
          </a:xfrm>
          <a:custGeom xmlns:a="http://schemas.openxmlformats.org/drawingml/2006/main">
            <a:rect l="l" t="t" r="r" b="b"/>
            <a:pathLst>
              <a:path w="1752600" h="157163">
                <a:moveTo>
                  <a:pt x="0" y="0"/>
                </a:moveTo>
                <a:lnTo>
                  <a:pt x="1752600" y="0"/>
                </a:lnTo>
                <a:lnTo>
                  <a:pt x="1752600" y="157163"/>
                </a:lnTo>
                <a:lnTo>
                  <a:pt x="0" y="1571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B74DF10E-846F-45EF-B423-A514AD52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71" y="4247257"/>
            <a:ext cx="1752600" cy="1571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01 · Intent</a:t>
            </a:r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D2D93D4E-DE4F-4ED5-8B37-179DD4EB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71" y="4433440"/>
            <a:ext cx="1752600" cy="271463"/>
          </a:xfrm>
          <a:custGeom xmlns:a="http://schemas.openxmlformats.org/drawingml/2006/main">
            <a:rect l="l" t="t" r="r" b="b"/>
            <a:pathLst>
              <a:path w="1752600" h="271463">
                <a:moveTo>
                  <a:pt x="0" y="0"/>
                </a:moveTo>
                <a:lnTo>
                  <a:pt x="1752600" y="0"/>
                </a:lnTo>
                <a:lnTo>
                  <a:pt x="1752600" y="271463"/>
                </a:lnTo>
                <a:lnTo>
                  <a:pt x="0" y="2714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DBA379EF-8020-4006-9F59-5AAD7D99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71" y="4433440"/>
            <a:ext cx="1752600" cy="2714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sz="799">
                <a:solidFill>
                  <a:srgbClr val="6E7B8F"/>
                </a:solidFill>
                <a:latin typeface="Montserrat"/>
                <a:ea typeface="Montserrat"/>
                <a:cs typeface="Montserrat"/>
              </a:rPr>
              <a:t>Start with the service the citizen came for.</a:t>
            </a:r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D09D3A65-F2DA-4F1F-AF36-836115C9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47704"/>
            <a:ext cx="1952625" cy="457200"/>
          </a:xfrm>
          <a:custGeom xmlns:a="http://schemas.openxmlformats.org/drawingml/2006/main">
            <a:rect l="l" t="t" r="r" b="b"/>
            <a:pathLst>
              <a:path w="1952625" h="457200">
                <a:moveTo>
                  <a:pt x="0" y="0"/>
                </a:moveTo>
                <a:lnTo>
                  <a:pt x="1952625" y="0"/>
                </a:lnTo>
                <a:lnTo>
                  <a:pt x="1952625" y="457200"/>
                </a:lnTo>
                <a:lnTo>
                  <a:pt x="0" y="4572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6A3DA00E-A694-4E67-AF9E-F39D6256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09" y="4247257"/>
            <a:ext cx="1752600" cy="157163"/>
          </a:xfrm>
          <a:custGeom xmlns:a="http://schemas.openxmlformats.org/drawingml/2006/main">
            <a:rect l="l" t="t" r="r" b="b"/>
            <a:pathLst>
              <a:path w="1752600" h="157163">
                <a:moveTo>
                  <a:pt x="0" y="0"/>
                </a:moveTo>
                <a:lnTo>
                  <a:pt x="1752600" y="0"/>
                </a:lnTo>
                <a:lnTo>
                  <a:pt x="1752600" y="157163"/>
                </a:lnTo>
                <a:lnTo>
                  <a:pt x="0" y="1571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447FF1E3-CE2B-4A60-8AE7-03C510BB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09" y="4247257"/>
            <a:ext cx="1752600" cy="1571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1E8E7E"/>
                </a:solidFill>
                <a:latin typeface="Montserrat"/>
                <a:ea typeface="Montserrat"/>
                <a:cs typeface="Montserrat"/>
              </a:rPr>
              <a:t>02 · Assist</a:t>
            </a:r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50DDBA81-9A6D-45D6-B19B-6504E901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09" y="4433440"/>
            <a:ext cx="1752600" cy="271463"/>
          </a:xfrm>
          <a:custGeom xmlns:a="http://schemas.openxmlformats.org/drawingml/2006/main">
            <a:rect l="l" t="t" r="r" b="b"/>
            <a:pathLst>
              <a:path w="1752600" h="271463">
                <a:moveTo>
                  <a:pt x="0" y="0"/>
                </a:moveTo>
                <a:lnTo>
                  <a:pt x="1752600" y="0"/>
                </a:lnTo>
                <a:lnTo>
                  <a:pt x="1752600" y="271463"/>
                </a:lnTo>
                <a:lnTo>
                  <a:pt x="0" y="2714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E358E94C-9309-4EB5-BC0D-377478BD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09" y="4433440"/>
            <a:ext cx="1752600" cy="2714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sz="799">
                <a:solidFill>
                  <a:srgbClr val="6E7B8F"/>
                </a:solidFill>
                <a:latin typeface="Montserrat"/>
                <a:ea typeface="Montserrat"/>
                <a:cs typeface="Montserrat"/>
              </a:rPr>
              <a:t>Consent unlocks Smart Fill + Smart Attach.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7D1EA722-437F-4051-A16F-CF38E187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4" y="4247257"/>
            <a:ext cx="1752600" cy="157163"/>
          </a:xfrm>
          <a:custGeom xmlns:a="http://schemas.openxmlformats.org/drawingml/2006/main">
            <a:rect l="l" t="t" r="r" b="b"/>
            <a:pathLst>
              <a:path w="1752600" h="157163">
                <a:moveTo>
                  <a:pt x="0" y="0"/>
                </a:moveTo>
                <a:lnTo>
                  <a:pt x="1752600" y="0"/>
                </a:lnTo>
                <a:lnTo>
                  <a:pt x="1752600" y="157163"/>
                </a:lnTo>
                <a:lnTo>
                  <a:pt x="0" y="1571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03001584-6641-47FB-81E2-D1E0A624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4" y="4247257"/>
            <a:ext cx="1752600" cy="1571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03 · Complete</a:t>
            </a:r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A08D4E17-DBEF-46D4-AF9D-F86DC629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4" y="4433440"/>
            <a:ext cx="1752600" cy="271463"/>
          </a:xfrm>
          <a:custGeom xmlns:a="http://schemas.openxmlformats.org/drawingml/2006/main">
            <a:rect l="l" t="t" r="r" b="b"/>
            <a:pathLst>
              <a:path w="1752600" h="271463">
                <a:moveTo>
                  <a:pt x="0" y="0"/>
                </a:moveTo>
                <a:lnTo>
                  <a:pt x="1752600" y="0"/>
                </a:lnTo>
                <a:lnTo>
                  <a:pt x="1752600" y="271463"/>
                </a:lnTo>
                <a:lnTo>
                  <a:pt x="0" y="2714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9BC5D047-5747-45F0-8707-FA223496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4" y="4433440"/>
            <a:ext cx="1752600" cy="2714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sz="799">
                <a:solidFill>
                  <a:srgbClr val="6E7B8F"/>
                </a:solidFill>
                <a:latin typeface="Montserrat"/>
                <a:ea typeface="Montserrat"/>
                <a:cs typeface="Montserrat"/>
              </a:rPr>
              <a:t>Verify identity, get a ticket, then submit or save draft.</a:t>
            </a:r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EB0DAA58-7EB2-4C40-8C57-8AE3575C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08920"/>
            <a:ext cx="2047875" cy="2528888"/>
          </a:xfrm>
          <a:custGeom xmlns:a="http://schemas.openxmlformats.org/drawingml/2006/main">
            <a:rect l="l" t="t" r="r" b="b"/>
            <a:pathLst>
              <a:path w="2047875" h="2528888">
                <a:moveTo>
                  <a:pt x="51033" y="0"/>
                </a:moveTo>
                <a:lnTo>
                  <a:pt x="1996842" y="0"/>
                </a:lnTo>
                <a:quadBezTo>
                  <a:pt x="2047875" y="0"/>
                  <a:pt x="2047875" y="51033"/>
                </a:quadBezTo>
                <a:lnTo>
                  <a:pt x="2047875" y="2477854"/>
                </a:lnTo>
                <a:quadBezTo>
                  <a:pt x="2047875" y="2528888"/>
                  <a:pt x="1996842" y="2528888"/>
                </a:quadBezTo>
                <a:lnTo>
                  <a:pt x="51033" y="2528888"/>
                </a:lnTo>
                <a:quadBezTo>
                  <a:pt x="0" y="2528888"/>
                  <a:pt x="0" y="2477854"/>
                </a:quadBezTo>
                <a:lnTo>
                  <a:pt x="0" y="51033"/>
                </a:lnTo>
                <a:quadBezTo>
                  <a:pt x="0" y="0"/>
                  <a:pt x="51033" y="0"/>
                </a:quadBezTo>
                <a:close/>
              </a:path>
            </a:pathLst>
          </a:custGeom>
          <a:solidFill xmlns:a="http://schemas.openxmlformats.org/drawingml/2006/main">
            <a:srgbClr val="142033"/>
          </a:solidFill>
        </p:spPr>
      </p:sp>
      <p:sp>
        <p:nvSpPr>
          <p:cNvPr id="34" name="Shape 28">
            <a:extLst xmlns:a="http://schemas.openxmlformats.org/drawingml/2006/main">
              <a:ext uri="{FF2B5EF4-FFF2-40B4-BE49-F238E27FC236}">
                <a16:creationId xmlns:a16="http://schemas.microsoft.com/office/drawing/2014/main" id="{14E5C774-E0D7-4334-954D-F97E1B70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89796"/>
            <a:ext cx="1724025" cy="300038"/>
          </a:xfrm>
          <a:custGeom xmlns:a="http://schemas.openxmlformats.org/drawingml/2006/main">
            <a:rect l="l" t="t" r="r" b="b"/>
            <a:pathLst>
              <a:path w="1724025" h="300038">
                <a:moveTo>
                  <a:pt x="0" y="0"/>
                </a:moveTo>
                <a:lnTo>
                  <a:pt x="1724025" y="0"/>
                </a:lnTo>
                <a:lnTo>
                  <a:pt x="1724025" y="300038"/>
                </a:lnTo>
                <a:lnTo>
                  <a:pt x="0" y="30003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5C03B107-97A6-48A6-85C9-CB1EB4CF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89796"/>
            <a:ext cx="17240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4783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Guidance with clear boundaries.</a:t>
            </a:r>
          </a:p>
        </p:txBody>
      </p:sp>
      <p:pic>
        <p:nvPicPr>
          <p:cNvPr id="9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d11cb86ba46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2933501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4F2220D9-B18A-46FE-A546-D74ACBDB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34567"/>
            <a:ext cx="1514475" cy="128588"/>
          </a:xfrm>
          <a:custGeom xmlns:a="http://schemas.openxmlformats.org/drawingml/2006/main">
            <a:rect l="l" t="t" r="r" b="b"/>
            <a:pathLst>
              <a:path w="1514475" h="128588">
                <a:moveTo>
                  <a:pt x="0" y="0"/>
                </a:moveTo>
                <a:lnTo>
                  <a:pt x="1514475" y="0"/>
                </a:lnTo>
                <a:lnTo>
                  <a:pt x="1514475" y="128588"/>
                </a:lnTo>
                <a:lnTo>
                  <a:pt x="0" y="12858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F4542489-A1D3-4BD5-95E4-30296F4D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34567"/>
            <a:ext cx="1514475" cy="1285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Consent boundary</a:t>
            </a:r>
          </a:p>
        </p:txBody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B114EB96-122D-4DC8-9DF8-0D69EE78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98204"/>
            <a:ext cx="1514475" cy="247650"/>
          </a:xfrm>
          <a:custGeom xmlns:a="http://schemas.openxmlformats.org/drawingml/2006/main">
            <a:rect l="l" t="t" r="r" b="b"/>
            <a:pathLst>
              <a:path w="1514475" h="247650">
                <a:moveTo>
                  <a:pt x="0" y="0"/>
                </a:moveTo>
                <a:lnTo>
                  <a:pt x="1514475" y="0"/>
                </a:lnTo>
                <a:lnTo>
                  <a:pt x="1514475" y="247650"/>
                </a:lnTo>
                <a:lnTo>
                  <a:pt x="0" y="2476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A77EC86D-05D6-45CF-8895-31F5E7DF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98204"/>
            <a:ext cx="1514475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sz="698">
                <a:solidFill>
                  <a:srgbClr val="D9E6F2"/>
                </a:solidFill>
                <a:latin typeface="Montserrat"/>
                <a:ea typeface="Montserrat"/>
                <a:cs typeface="Montserrat"/>
              </a:rPr>
              <a:t>Preparation begins only after explicit citizen consent.</a:t>
            </a:r>
          </a:p>
        </p:txBody>
      </p:sp>
      <p:pic>
        <p:nvPicPr>
          <p:cNvPr id="9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55768686049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347032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DAE6257F-31C5-4D7B-9B1C-66605EB5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71391"/>
            <a:ext cx="1514475" cy="128588"/>
          </a:xfrm>
          <a:custGeom xmlns:a="http://schemas.openxmlformats.org/drawingml/2006/main">
            <a:rect l="l" t="t" r="r" b="b"/>
            <a:pathLst>
              <a:path w="1514475" h="128588">
                <a:moveTo>
                  <a:pt x="0" y="0"/>
                </a:moveTo>
                <a:lnTo>
                  <a:pt x="1514475" y="0"/>
                </a:lnTo>
                <a:lnTo>
                  <a:pt x="1514475" y="128588"/>
                </a:lnTo>
                <a:lnTo>
                  <a:pt x="0" y="12858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8BB940CD-85FA-4599-BD1B-BAF74A5F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71391"/>
            <a:ext cx="1514475" cy="1285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Smart Fill + Attach</a:t>
            </a:r>
          </a:p>
        </p:txBody>
      </p:sp>
      <p:sp>
        <p:nvSpPr>
          <p:cNvPr id="44" name="Shape 36">
            <a:extLst xmlns:a="http://schemas.openxmlformats.org/drawingml/2006/main">
              <a:ext uri="{FF2B5EF4-FFF2-40B4-BE49-F238E27FC236}">
                <a16:creationId xmlns:a16="http://schemas.microsoft.com/office/drawing/2014/main" id="{BAFC58CC-CF3C-4B92-8429-654B8A07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35028"/>
            <a:ext cx="1514475" cy="247650"/>
          </a:xfrm>
          <a:custGeom xmlns:a="http://schemas.openxmlformats.org/drawingml/2006/main">
            <a:rect l="l" t="t" r="r" b="b"/>
            <a:pathLst>
              <a:path w="1514475" h="247650">
                <a:moveTo>
                  <a:pt x="0" y="0"/>
                </a:moveTo>
                <a:lnTo>
                  <a:pt x="1514475" y="0"/>
                </a:lnTo>
                <a:lnTo>
                  <a:pt x="1514475" y="247650"/>
                </a:lnTo>
                <a:lnTo>
                  <a:pt x="0" y="2476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41ADCD03-93FE-4933-B54D-21724C26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35028"/>
            <a:ext cx="1514475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sz="698">
                <a:solidFill>
                  <a:srgbClr val="D9E6F2"/>
                </a:solidFill>
                <a:latin typeface="Montserrat"/>
                <a:ea typeface="Montserrat"/>
                <a:cs typeface="Montserrat"/>
              </a:rPr>
              <a:t>Ready-to-review fields and required documents using synthetic demo data.</a:t>
            </a:r>
          </a:p>
        </p:txBody>
      </p:sp>
      <p:pic>
        <p:nvPicPr>
          <p:cNvPr id="10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ab1c2478d46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4007147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3DA0CAF6-507F-4BD6-8EF3-03A13AAA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08214"/>
            <a:ext cx="1514475" cy="128588"/>
          </a:xfrm>
          <a:custGeom xmlns:a="http://schemas.openxmlformats.org/drawingml/2006/main">
            <a:rect l="l" t="t" r="r" b="b"/>
            <a:pathLst>
              <a:path w="1514475" h="128588">
                <a:moveTo>
                  <a:pt x="0" y="0"/>
                </a:moveTo>
                <a:lnTo>
                  <a:pt x="1514475" y="0"/>
                </a:lnTo>
                <a:lnTo>
                  <a:pt x="1514475" y="128588"/>
                </a:lnTo>
                <a:lnTo>
                  <a:pt x="0" y="12858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620A1963-5CB1-48F0-B87F-80B201A4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08214"/>
            <a:ext cx="1514475" cy="1285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Identity + tracking</a:t>
            </a:r>
          </a:p>
        </p:txBody>
      </p:sp>
      <p:sp>
        <p:nvSpPr>
          <p:cNvPr id="49" name="Shape 40">
            <a:extLst xmlns:a="http://schemas.openxmlformats.org/drawingml/2006/main">
              <a:ext uri="{FF2B5EF4-FFF2-40B4-BE49-F238E27FC236}">
                <a16:creationId xmlns:a16="http://schemas.microsoft.com/office/drawing/2014/main" id="{2306AEE6-0368-4784-BC2B-6182C68A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71851"/>
            <a:ext cx="1514475" cy="247650"/>
          </a:xfrm>
          <a:custGeom xmlns:a="http://schemas.openxmlformats.org/drawingml/2006/main">
            <a:rect l="l" t="t" r="r" b="b"/>
            <a:pathLst>
              <a:path w="1514475" h="247650">
                <a:moveTo>
                  <a:pt x="0" y="0"/>
                </a:moveTo>
                <a:lnTo>
                  <a:pt x="1514475" y="0"/>
                </a:lnTo>
                <a:lnTo>
                  <a:pt x="1514475" y="247650"/>
                </a:lnTo>
                <a:lnTo>
                  <a:pt x="0" y="2476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50" name="Text 41">
            <a:extLst xmlns:a="http://schemas.openxmlformats.org/drawingml/2006/main">
              <a:ext uri="{FF2B5EF4-FFF2-40B4-BE49-F238E27FC236}">
                <a16:creationId xmlns:a16="http://schemas.microsoft.com/office/drawing/2014/main" id="{964AAEC9-DADA-43E8-946D-DFEC82FF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71851"/>
            <a:ext cx="1514475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sz="698">
                <a:solidFill>
                  <a:srgbClr val="D9E6F2"/>
                </a:solidFill>
                <a:latin typeface="Montserrat"/>
                <a:ea typeface="Montserrat"/>
                <a:cs typeface="Montserrat"/>
              </a:rPr>
              <a:t>Mock verification, ticket reference and clear application status.</a:t>
            </a:r>
          </a:p>
        </p:txBody>
      </p:sp>
      <p:sp>
        <p:nvSpPr>
          <p:cNvPr id="51" name="Shape 42">
            <a:extLst xmlns:a="http://schemas.openxmlformats.org/drawingml/2006/main">
              <a:ext uri="{FF2B5EF4-FFF2-40B4-BE49-F238E27FC236}">
                <a16:creationId xmlns:a16="http://schemas.microsoft.com/office/drawing/2014/main" id="{952F8B32-25CC-469F-BB5A-FFDD054E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9996"/>
            <a:ext cx="1724025" cy="366712"/>
          </a:xfrm>
          <a:custGeom xmlns:a="http://schemas.openxmlformats.org/drawingml/2006/main">
            <a:rect l="l" t="t" r="r" b="b"/>
            <a:pathLst>
              <a:path w="1724025" h="366712">
                <a:moveTo>
                  <a:pt x="0" y="0"/>
                </a:moveTo>
                <a:lnTo>
                  <a:pt x="1724025" y="0"/>
                </a:lnTo>
                <a:lnTo>
                  <a:pt x="1724025" y="366712"/>
                </a:lnTo>
                <a:lnTo>
                  <a:pt x="0" y="366712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52" name="Text 43">
            <a:extLst xmlns:a="http://schemas.openxmlformats.org/drawingml/2006/main">
              <a:ext uri="{FF2B5EF4-FFF2-40B4-BE49-F238E27FC236}">
                <a16:creationId xmlns:a16="http://schemas.microsoft.com/office/drawing/2014/main" id="{13223214-739F-4BF3-ADCE-4C808B63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9996"/>
            <a:ext cx="1724025" cy="366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sz="698" b="1">
                <a:solidFill>
                  <a:srgbClr val="8BB9FF"/>
                </a:solidFill>
                <a:latin typeface="Montserrat"/>
                <a:ea typeface="Montserrat"/>
                <a:cs typeface="Montserrat"/>
              </a:rPr>
              <a:t>Prototype only — no real registry retrieval or government data access.</a:t>
            </a:r>
          </a:p>
        </p:txBody>
      </p:sp>
      <p:pic>
        <p:nvPicPr>
          <p:cNvPr id="11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60c6d41ec41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8400" y="4247704"/>
            <a:ext cx="1952625" cy="457200"/>
          </a:xfrm>
          <a:prstGeom xmlns:a="http://schemas.openxmlformats.org/drawingml/2006/main" prst="rect">
            <a:avLst/>
          </a:prstGeom>
        </p:spPr>
      </p:pic>
      <p:pic>
        <p:nvPicPr>
          <p:cNvPr id="11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bef36f26645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4419996"/>
            <a:ext cx="1724025" cy="366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9622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8C05D53B-7777-4008-8534-6E60861B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E8920EB-259E-42EB-9FB1-EEFB89EE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7F9FC"/>
          </a:solidFill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D77873A-4E90-422D-9B83-55149C9F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8267700" cy="171450"/>
          </a:xfrm>
          <a:custGeom xmlns:a="http://schemas.openxmlformats.org/drawingml/2006/main">
            <a:rect l="l" t="t" r="r" b="b"/>
            <a:pathLst>
              <a:path w="8267700" h="171450">
                <a:moveTo>
                  <a:pt x="0" y="0"/>
                </a:moveTo>
                <a:lnTo>
                  <a:pt x="8267700" y="0"/>
                </a:lnTo>
                <a:lnTo>
                  <a:pt x="826770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D058696-12DC-4B26-9F1E-EBCB3F60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826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PROTOTYPE VERIFICATION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C655079-920C-41F2-8CB7-B4C5709A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1571"/>
            <a:ext cx="8267700" cy="657225"/>
          </a:xfrm>
          <a:custGeom xmlns:a="http://schemas.openxmlformats.org/drawingml/2006/main">
            <a:rect l="l" t="t" r="r" b="b"/>
            <a:pathLst>
              <a:path w="8267700" h="657225">
                <a:moveTo>
                  <a:pt x="0" y="0"/>
                </a:moveTo>
                <a:lnTo>
                  <a:pt x="8267700" y="0"/>
                </a:lnTo>
                <a:lnTo>
                  <a:pt x="8267700" y="65722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C9353BC-8858-48E0-9453-F392E5D9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1571"/>
            <a:ext cx="8267700" cy="657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sz="2402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Verification is visible, deterministic and clearly marked as a prototype.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5FAE084-F437-4CFD-8A76-94F09507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4826"/>
            <a:ext cx="8267700" cy="195263"/>
          </a:xfrm>
          <a:custGeom xmlns:a="http://schemas.openxmlformats.org/drawingml/2006/main">
            <a:rect l="l" t="t" r="r" b="b"/>
            <a:pathLst>
              <a:path w="8267700" h="195263">
                <a:moveTo>
                  <a:pt x="0" y="0"/>
                </a:moveTo>
                <a:lnTo>
                  <a:pt x="8267700" y="0"/>
                </a:lnTo>
                <a:lnTo>
                  <a:pt x="8267700" y="195263"/>
                </a:lnTo>
                <a:lnTo>
                  <a:pt x="0" y="1952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032D665-6E31-45C4-BACF-E3EAA76E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4826"/>
            <a:ext cx="8267700" cy="1952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sz="1103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A guided synthetic journey — from document capture to face and biometric demos.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2CE462C-8794-4D9D-BE0E-4123DD51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23417"/>
            <a:ext cx="5943600" cy="2795588"/>
          </a:xfrm>
          <a:custGeom xmlns:a="http://schemas.openxmlformats.org/drawingml/2006/main">
            <a:rect l="l" t="t" r="r" b="b"/>
            <a:pathLst>
              <a:path w="5943600" h="2795588">
                <a:moveTo>
                  <a:pt x="43611" y="0"/>
                </a:moveTo>
                <a:lnTo>
                  <a:pt x="5899989" y="0"/>
                </a:lnTo>
                <a:quadBezTo>
                  <a:pt x="5943600" y="0"/>
                  <a:pt x="5943600" y="43611"/>
                </a:quadBezTo>
                <a:lnTo>
                  <a:pt x="5943600" y="2751976"/>
                </a:lnTo>
                <a:quadBezTo>
                  <a:pt x="5943600" y="2795588"/>
                  <a:pt x="5899989" y="2795588"/>
                </a:quadBezTo>
                <a:lnTo>
                  <a:pt x="43611" y="2795588"/>
                </a:lnTo>
                <a:quadBezTo>
                  <a:pt x="0" y="2795588"/>
                  <a:pt x="0" y="2751976"/>
                </a:quadBezTo>
                <a:lnTo>
                  <a:pt x="0" y="43611"/>
                </a:lnTo>
                <a:quadBezTo>
                  <a:pt x="0" y="0"/>
                  <a:pt x="43611" y="0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61925" dist="66675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426F1E0-3064-43C2-B487-65150FAC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24" y="2184697"/>
            <a:ext cx="1609725" cy="228600"/>
          </a:xfrm>
          <a:custGeom xmlns:a="http://schemas.openxmlformats.org/drawingml/2006/main">
            <a:rect l="l" t="t" r="r" b="b"/>
            <a:pathLst>
              <a:path w="1609725" h="228600">
                <a:moveTo>
                  <a:pt x="0" y="0"/>
                </a:moveTo>
                <a:lnTo>
                  <a:pt x="1609725" y="0"/>
                </a:lnTo>
                <a:lnTo>
                  <a:pt x="1609725" y="2286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D5FAF84-948B-43E8-88BC-05573314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24" y="2184697"/>
            <a:ext cx="16097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sz="1198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Prototype sequence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5F346CD-A34E-4609-B613-9E25D47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106" y="2270422"/>
            <a:ext cx="57150" cy="57150"/>
          </a:xfrm>
          <a:custGeom xmlns:a="http://schemas.openxmlformats.org/drawingml/2006/main"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 xmlns:a="http://schemas.openxmlformats.org/drawingml/2006/main">
            <a:srgbClr val="1E8E7E"/>
          </a:solidFill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61EEA6E-08DF-4B5F-8F98-12CE6778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881" y="2233116"/>
            <a:ext cx="626419" cy="127000"/>
          </a:xfrm>
          <a:custGeom xmlns:a="http://schemas.openxmlformats.org/drawingml/2006/main">
            <a:rect l="l" t="t" r="r" b="b"/>
            <a:pathLst>
              <a:path w="626419" h="127000">
                <a:moveTo>
                  <a:pt x="0" y="0"/>
                </a:moveTo>
                <a:lnTo>
                  <a:pt x="626419" y="0"/>
                </a:lnTo>
                <a:lnTo>
                  <a:pt x="626419" y="127000"/>
                </a:lnTo>
                <a:lnTo>
                  <a:pt x="0" y="127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504A34E-D9B6-4B2F-A6CB-FD8994E5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881" y="2233116"/>
            <a:ext cx="626419" cy="127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1E8E7E"/>
                </a:solidFill>
                <a:latin typeface="Montserrat"/>
                <a:ea typeface="Montserrat"/>
                <a:cs typeface="Montserrat"/>
              </a:rPr>
              <a:t>Demo state</a:t>
            </a:r>
          </a:p>
        </p:txBody>
      </p:sp>
      <p:pic>
        <p:nvPicPr>
          <p:cNvPr id="6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7cc9b9a8847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8757" y="2536354"/>
            <a:ext cx="1743075" cy="1628775"/>
          </a:xfrm>
          <a:prstGeom xmlns:a="http://schemas.openxmlformats.org/drawingml/2006/main" prst="rect">
            <a:avLst/>
          </a:prstGeom>
        </p:spPr>
      </p:pic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593AC55-477C-41D5-B0DB-64A784B4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7" y="4239591"/>
            <a:ext cx="1743075" cy="133350"/>
          </a:xfrm>
          <a:custGeom xmlns:a="http://schemas.openxmlformats.org/drawingml/2006/main">
            <a:rect l="l" t="t" r="r" b="b"/>
            <a:pathLst>
              <a:path w="1743075" h="133350">
                <a:moveTo>
                  <a:pt x="0" y="0"/>
                </a:moveTo>
                <a:lnTo>
                  <a:pt x="1743075" y="0"/>
                </a:lnTo>
                <a:lnTo>
                  <a:pt x="1743075" y="13335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07450E43-0B66-406D-8176-4DB5A2A0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7" y="4239591"/>
            <a:ext cx="17430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01  Mock Aadhaar + mock PAN</a:t>
            </a:r>
          </a:p>
        </p:txBody>
      </p:sp>
      <p:pic>
        <p:nvPicPr>
          <p:cNvPr id="7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1526465494f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54893" y="2536354"/>
            <a:ext cx="1743075" cy="1628775"/>
          </a:xfrm>
          <a:prstGeom xmlns:a="http://schemas.openxmlformats.org/drawingml/2006/main" prst="rect">
            <a:avLst/>
          </a:prstGeom>
        </p:spPr>
      </p:pic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0878F471-D9F7-485D-A5E3-7ABB1DAB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893" y="4239591"/>
            <a:ext cx="1743075" cy="133350"/>
          </a:xfrm>
          <a:custGeom xmlns:a="http://schemas.openxmlformats.org/drawingml/2006/main">
            <a:rect l="l" t="t" r="r" b="b"/>
            <a:pathLst>
              <a:path w="1743075" h="133350">
                <a:moveTo>
                  <a:pt x="0" y="0"/>
                </a:moveTo>
                <a:lnTo>
                  <a:pt x="1743075" y="0"/>
                </a:lnTo>
                <a:lnTo>
                  <a:pt x="1743075" y="13335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7A70605-139B-4B4D-8361-4375408A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893" y="4239591"/>
            <a:ext cx="1743075" cy="133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02  Mock e-KYC + face demo</a:t>
            </a:r>
          </a:p>
        </p:txBody>
      </p:sp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dc9342eac45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1207" y="2537322"/>
            <a:ext cx="1909762" cy="1495425"/>
          </a:xfrm>
          <a:prstGeom xmlns:a="http://schemas.openxmlformats.org/drawingml/2006/main" prst="rect">
            <a:avLst/>
          </a:prstGeom>
        </p:spPr>
      </p:pic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3536821E-9922-4EC0-8D69-3DFF9068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207" y="4109590"/>
            <a:ext cx="1909762" cy="261937"/>
          </a:xfrm>
          <a:custGeom xmlns:a="http://schemas.openxmlformats.org/drawingml/2006/main">
            <a:rect l="l" t="t" r="r" b="b"/>
            <a:pathLst>
              <a:path w="1909762" h="261937">
                <a:moveTo>
                  <a:pt x="0" y="0"/>
                </a:moveTo>
                <a:lnTo>
                  <a:pt x="1909762" y="0"/>
                </a:lnTo>
                <a:lnTo>
                  <a:pt x="1909762" y="261937"/>
                </a:lnTo>
                <a:lnTo>
                  <a:pt x="0" y="26193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DD4331E8-3321-4538-91B7-58C290FE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207" y="4109590"/>
            <a:ext cx="1909762" cy="2619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03  QR fingerprint + five-finger scan</a:t>
            </a:r>
          </a:p>
        </p:txBody>
      </p:sp>
      <p:pic>
        <p:nvPicPr>
          <p:cNvPr id="7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d90b9dd814d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531519"/>
            <a:ext cx="119062" cy="119062"/>
          </a:xfrm>
          <a:prstGeom xmlns:a="http://schemas.openxmlformats.org/drawingml/2006/main" prst="rect">
            <a:avLst/>
          </a:prstGeom>
        </p:spPr>
      </p:pic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CFA6EADE-FBFC-4185-842B-94C5F5F3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35" y="4505325"/>
            <a:ext cx="2800350" cy="171450"/>
          </a:xfrm>
          <a:custGeom xmlns:a="http://schemas.openxmlformats.org/drawingml/2006/main">
            <a:rect l="l" t="t" r="r" b="b"/>
            <a:pathLst>
              <a:path w="2800350" h="171450">
                <a:moveTo>
                  <a:pt x="0" y="0"/>
                </a:moveTo>
                <a:lnTo>
                  <a:pt x="2800350" y="0"/>
                </a:lnTo>
                <a:lnTo>
                  <a:pt x="28003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3A9379C7-00AA-4BEE-BBA4-08374567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35" y="4505325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sz="900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Every state is visible before the next step begins.</a:t>
            </a:r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072B6AE3-82B2-45F5-9E66-41977526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23417"/>
            <a:ext cx="2095500" cy="2795588"/>
          </a:xfrm>
          <a:custGeom xmlns:a="http://schemas.openxmlformats.org/drawingml/2006/main">
            <a:rect l="l" t="t" r="r" b="b"/>
            <a:pathLst>
              <a:path w="2095500" h="2795588">
                <a:moveTo>
                  <a:pt x="58192" y="0"/>
                </a:moveTo>
                <a:lnTo>
                  <a:pt x="2037308" y="0"/>
                </a:lnTo>
                <a:quadBezTo>
                  <a:pt x="2095500" y="0"/>
                  <a:pt x="2095500" y="58192"/>
                </a:quadBezTo>
                <a:lnTo>
                  <a:pt x="2095500" y="2737395"/>
                </a:lnTo>
                <a:quadBezTo>
                  <a:pt x="2095500" y="2795588"/>
                  <a:pt x="2037308" y="2795588"/>
                </a:quadBezTo>
                <a:lnTo>
                  <a:pt x="58192" y="2795588"/>
                </a:lnTo>
                <a:quadBezTo>
                  <a:pt x="0" y="2795588"/>
                  <a:pt x="0" y="2737395"/>
                </a:quadBezTo>
                <a:lnTo>
                  <a:pt x="0" y="58192"/>
                </a:lnTo>
                <a:quadBezTo>
                  <a:pt x="0" y="0"/>
                  <a:pt x="58192" y="0"/>
                </a:quadBezTo>
                <a:close/>
              </a:path>
            </a:pathLst>
          </a:custGeom>
          <a:solidFill xmlns:a="http://schemas.openxmlformats.org/drawingml/2006/main">
            <a:srgbClr val="EEF3F8"/>
          </a:solidFill>
        </p:spPr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3D13109F-EA99-4C2F-95DC-858380FA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03747"/>
            <a:ext cx="276225" cy="276225"/>
          </a:xfrm>
          <a:custGeom xmlns:a="http://schemas.openxmlformats.org/drawingml/2006/main">
            <a:rect l="l" t="t" r="r" b="b"/>
            <a:pathLst>
              <a:path w="276225" h="276225">
                <a:moveTo>
                  <a:pt x="63062" y="0"/>
                </a:moveTo>
                <a:lnTo>
                  <a:pt x="213163" y="0"/>
                </a:lnTo>
                <a:quadBezTo>
                  <a:pt x="276225" y="0"/>
                  <a:pt x="276225" y="63062"/>
                </a:quadBezTo>
                <a:lnTo>
                  <a:pt x="276225" y="213163"/>
                </a:lnTo>
                <a:quadBezTo>
                  <a:pt x="276225" y="276225"/>
                  <a:pt x="213163" y="276225"/>
                </a:quadBezTo>
                <a:lnTo>
                  <a:pt x="63062" y="276225"/>
                </a:lnTo>
                <a:quadBezTo>
                  <a:pt x="0" y="276225"/>
                  <a:pt x="0" y="213163"/>
                </a:quadBezTo>
                <a:lnTo>
                  <a:pt x="0" y="63062"/>
                </a:lnTo>
                <a:quadBezTo>
                  <a:pt x="0" y="0"/>
                  <a:pt x="63062" y="0"/>
                </a:quadBezTo>
                <a:close/>
              </a:path>
            </a:pathLst>
          </a:custGeom>
          <a:solidFill xmlns:a="http://schemas.openxmlformats.org/drawingml/2006/main">
            <a:srgbClr val="2F6FED"/>
          </a:solidFill>
        </p:spPr>
      </p:sp>
      <p:pic>
        <p:nvPicPr>
          <p:cNvPr id="8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943bb07dd46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48475" y="2270422"/>
            <a:ext cx="142875" cy="142875"/>
          </a:xfrm>
          <a:prstGeom xmlns:a="http://schemas.openxmlformats.org/drawingml/2006/main" prst="rect">
            <a:avLst/>
          </a:prstGeom>
        </p:spPr>
      </p:pic>
      <p:sp>
        <p:nvSpPr>
          <p:cNvPr id="32" name="Shape 24">
            <a:extLst xmlns:a="http://schemas.openxmlformats.org/drawingml/2006/main">
              <a:ext uri="{FF2B5EF4-FFF2-40B4-BE49-F238E27FC236}">
                <a16:creationId xmlns:a16="http://schemas.microsoft.com/office/drawing/2014/main" id="{79913771-3B19-4A96-A1E6-816FBD38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94124"/>
            <a:ext cx="1752600" cy="338137"/>
          </a:xfrm>
          <a:custGeom xmlns:a="http://schemas.openxmlformats.org/drawingml/2006/main">
            <a:rect l="l" t="t" r="r" b="b"/>
            <a:pathLst>
              <a:path w="1752600" h="338137">
                <a:moveTo>
                  <a:pt x="0" y="0"/>
                </a:moveTo>
                <a:lnTo>
                  <a:pt x="1752600" y="0"/>
                </a:lnTo>
                <a:lnTo>
                  <a:pt x="1752600" y="338137"/>
                </a:lnTo>
                <a:lnTo>
                  <a:pt x="0" y="33813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49D5BEF5-2AEC-4193-A0DE-00A9D094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94124"/>
            <a:ext cx="1752600" cy="3381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sz="1103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Synthetic-only by design.</a:t>
            </a:r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785CE945-CBC5-43D6-B3B3-1442D93B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18358"/>
            <a:ext cx="1752600" cy="481012"/>
          </a:xfrm>
          <a:custGeom xmlns:a="http://schemas.openxmlformats.org/drawingml/2006/main">
            <a:rect l="l" t="t" r="r" b="b"/>
            <a:pathLst>
              <a:path w="1752600" h="481012">
                <a:moveTo>
                  <a:pt x="0" y="0"/>
                </a:moveTo>
                <a:lnTo>
                  <a:pt x="1752600" y="0"/>
                </a:lnTo>
                <a:lnTo>
                  <a:pt x="1752600" y="481012"/>
                </a:lnTo>
                <a:lnTo>
                  <a:pt x="0" y="481012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47A1AA2D-4AA2-40D5-B586-54DDEB0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18358"/>
            <a:ext cx="1752600" cy="481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7391"/>
              </a:lnSpc>
              <a:spcBef>
                <a:spcPts val="281"/>
              </a:spcBef>
              <a:buNone/>
            </a:pPr>
            <a:r>
              <a:rPr sz="799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The prototype makes its verification boundary impossible to miss.</a:t>
            </a:r>
          </a:p>
        </p:txBody>
      </p:sp>
      <p:sp>
        <p:nvSpPr>
          <p:cNvPr id="36" name="Shape 28">
            <a:extLst xmlns:a="http://schemas.openxmlformats.org/drawingml/2006/main">
              <a:ext uri="{FF2B5EF4-FFF2-40B4-BE49-F238E27FC236}">
                <a16:creationId xmlns:a16="http://schemas.microsoft.com/office/drawing/2014/main" id="{2C9A7A8B-114D-4BC8-9E2D-D875E09A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99891"/>
            <a:ext cx="1752600" cy="4763"/>
          </a:xfrm>
          <a:custGeom xmlns:a="http://schemas.openxmlformats.org/drawingml/2006/main">
            <a:rect l="l" t="t" r="r" b="b"/>
            <a:pathLst>
              <a:path w="1752600" h="4763">
                <a:moveTo>
                  <a:pt x="0" y="0"/>
                </a:moveTo>
                <a:lnTo>
                  <a:pt x="1752600" y="0"/>
                </a:lnTo>
                <a:lnTo>
                  <a:pt x="1752600" y="4763"/>
                </a:lnTo>
                <a:lnTo>
                  <a:pt x="0" y="4763"/>
                </a:lnTo>
                <a:close/>
              </a:path>
            </a:pathLst>
          </a:custGeom>
          <a:solidFill xmlns:a="http://schemas.openxmlformats.org/drawingml/2006/main">
            <a:srgbClr val="D9E6F2"/>
          </a:solidFill>
        </p:spPr>
      </p:sp>
      <p:pic>
        <p:nvPicPr>
          <p:cNvPr id="8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23266d69b44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3618954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38" name="Shape 29">
            <a:extLst xmlns:a="http://schemas.openxmlformats.org/drawingml/2006/main">
              <a:ext uri="{FF2B5EF4-FFF2-40B4-BE49-F238E27FC236}">
                <a16:creationId xmlns:a16="http://schemas.microsoft.com/office/drawing/2014/main" id="{9B536803-359F-4686-9711-7A942CF9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3610373"/>
            <a:ext cx="1547813" cy="280987"/>
          </a:xfrm>
          <a:custGeom xmlns:a="http://schemas.openxmlformats.org/drawingml/2006/main">
            <a:rect l="l" t="t" r="r" b="b"/>
            <a:pathLst>
              <a:path w="1547813" h="280987">
                <a:moveTo>
                  <a:pt x="0" y="0"/>
                </a:moveTo>
                <a:lnTo>
                  <a:pt x="1547813" y="0"/>
                </a:lnTo>
                <a:lnTo>
                  <a:pt x="1547813" y="280987"/>
                </a:lnTo>
                <a:lnTo>
                  <a:pt x="0" y="28098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4B72E7EA-14EE-4502-85E4-823502B5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3610373"/>
            <a:ext cx="1547813" cy="280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Mock documents and demo biometrics only</a:t>
            </a:r>
          </a:p>
        </p:txBody>
      </p:sp>
      <p:pic>
        <p:nvPicPr>
          <p:cNvPr id="9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ba6f474f24f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4006602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41" name="Shape 31">
            <a:extLst xmlns:a="http://schemas.openxmlformats.org/drawingml/2006/main">
              <a:ext uri="{FF2B5EF4-FFF2-40B4-BE49-F238E27FC236}">
                <a16:creationId xmlns:a16="http://schemas.microsoft.com/office/drawing/2014/main" id="{61C7A4A2-731D-49D6-8AF8-45E9FDC6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3998020"/>
            <a:ext cx="1547813" cy="280987"/>
          </a:xfrm>
          <a:custGeom xmlns:a="http://schemas.openxmlformats.org/drawingml/2006/main">
            <a:rect l="l" t="t" r="r" b="b"/>
            <a:pathLst>
              <a:path w="1547813" h="280987">
                <a:moveTo>
                  <a:pt x="0" y="0"/>
                </a:moveTo>
                <a:lnTo>
                  <a:pt x="1547813" y="0"/>
                </a:lnTo>
                <a:lnTo>
                  <a:pt x="1547813" y="280987"/>
                </a:lnTo>
                <a:lnTo>
                  <a:pt x="0" y="28098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2" name="Text 32">
            <a:extLst xmlns:a="http://schemas.openxmlformats.org/drawingml/2006/main">
              <a:ext uri="{FF2B5EF4-FFF2-40B4-BE49-F238E27FC236}">
                <a16:creationId xmlns:a16="http://schemas.microsoft.com/office/drawing/2014/main" id="{7275FE47-0FE0-47AC-A8F3-FB542CE1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3998020"/>
            <a:ext cx="1547813" cy="280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No real government provider is contacted</a:t>
            </a:r>
          </a:p>
        </p:txBody>
      </p:sp>
      <p:sp>
        <p:nvSpPr>
          <p:cNvPr id="43" name="Shape 33">
            <a:extLst xmlns:a="http://schemas.openxmlformats.org/drawingml/2006/main">
              <a:ext uri="{FF2B5EF4-FFF2-40B4-BE49-F238E27FC236}">
                <a16:creationId xmlns:a16="http://schemas.microsoft.com/office/drawing/2014/main" id="{6DE66EC2-1116-4086-BA4B-A74512FF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85368"/>
            <a:ext cx="1752600" cy="419100"/>
          </a:xfrm>
          <a:custGeom xmlns:a="http://schemas.openxmlformats.org/drawingml/2006/main">
            <a:rect l="l" t="t" r="r" b="b"/>
            <a:pathLst>
              <a:path w="1752600" h="419100">
                <a:moveTo>
                  <a:pt x="38968" y="0"/>
                </a:moveTo>
                <a:lnTo>
                  <a:pt x="1713632" y="0"/>
                </a:lnTo>
                <a:quadBezTo>
                  <a:pt x="1752600" y="0"/>
                  <a:pt x="1752600" y="38968"/>
                </a:quadBezTo>
                <a:lnTo>
                  <a:pt x="1752600" y="380132"/>
                </a:lnTo>
                <a:quadBezTo>
                  <a:pt x="1752600" y="419100"/>
                  <a:pt x="1713632" y="419100"/>
                </a:quadBezTo>
                <a:lnTo>
                  <a:pt x="38968" y="419100"/>
                </a:lnTo>
                <a:quadBezTo>
                  <a:pt x="0" y="419100"/>
                  <a:pt x="0" y="380132"/>
                </a:quadBezTo>
                <a:lnTo>
                  <a:pt x="0" y="38968"/>
                </a:lnTo>
                <a:quadBezTo>
                  <a:pt x="0" y="0"/>
                  <a:pt x="38968" y="0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44" name="Text 34">
            <a:extLst xmlns:a="http://schemas.openxmlformats.org/drawingml/2006/main">
              <a:ext uri="{FF2B5EF4-FFF2-40B4-BE49-F238E27FC236}">
                <a16:creationId xmlns:a16="http://schemas.microsoft.com/office/drawing/2014/main" id="{68A2F73E-7054-44BC-80FF-2A443A7B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85368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sz="698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Safe to present, inspect and repeat.</a:t>
            </a:r>
          </a:p>
        </p:txBody>
      </p:sp>
      <p:pic>
        <p:nvPicPr>
          <p:cNvPr id="9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9e20954fb4c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4385368"/>
            <a:ext cx="17526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76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2D6C8E8B-5C43-4874-B4AE-4D942C74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1BCA6F5-8D68-431D-BA26-8A07F9FC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7F9FC"/>
          </a:solidFill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FE05B7A-76F9-431A-81A5-B9BE10E2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0978"/>
            <a:ext cx="8267700" cy="138113"/>
          </a:xfrm>
          <a:custGeom xmlns:a="http://schemas.openxmlformats.org/drawingml/2006/main"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D860317-96BF-47FA-9328-BF146A09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0978"/>
            <a:ext cx="8267700" cy="1381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HUMAN-OWNED REVIEW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EB9239D-6C35-4513-B819-E27EBFA9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4973"/>
            <a:ext cx="8267700" cy="700088"/>
          </a:xfrm>
          <a:custGeom xmlns:a="http://schemas.openxmlformats.org/drawingml/2006/main">
            <a:rect l="l" t="t" r="r" b="b"/>
            <a:pathLst>
              <a:path w="8267700" h="700088">
                <a:moveTo>
                  <a:pt x="0" y="0"/>
                </a:moveTo>
                <a:lnTo>
                  <a:pt x="8267700" y="0"/>
                </a:lnTo>
                <a:lnTo>
                  <a:pt x="8267700" y="700088"/>
                </a:lnTo>
                <a:lnTo>
                  <a:pt x="0" y="70008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980DBA-4ED5-4544-B8B7-25FB1139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4973"/>
            <a:ext cx="8267700" cy="700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sz="2498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AI assists the officer. The officer owns the final decision.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3475B49-B7D5-40EA-8CA4-1EFF7151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42380"/>
            <a:ext cx="5619750" cy="409575"/>
          </a:xfrm>
          <a:custGeom xmlns:a="http://schemas.openxmlformats.org/drawingml/2006/main">
            <a:rect l="l" t="t" r="r" b="b"/>
            <a:pathLst>
              <a:path w="5619750" h="409575">
                <a:moveTo>
                  <a:pt x="0" y="0"/>
                </a:moveTo>
                <a:lnTo>
                  <a:pt x="5619750" y="0"/>
                </a:lnTo>
                <a:lnTo>
                  <a:pt x="5619750" y="409575"/>
                </a:lnTo>
                <a:lnTo>
                  <a:pt x="0" y="4095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A3421ED-4610-4EE7-92B7-F9314360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4238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1198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One shared application state keeps citizen progress and officer action aligned from intent to completion.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6EB1246-3DB0-4A30-8262-217F97AD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63539"/>
            <a:ext cx="2628900" cy="1824037"/>
          </a:xfrm>
          <a:custGeom xmlns:a="http://schemas.openxmlformats.org/drawingml/2006/main">
            <a:rect l="l" t="t" r="r" b="b"/>
            <a:pathLst>
              <a:path w="2628900" h="1824037">
                <a:moveTo>
                  <a:pt x="57293" y="0"/>
                </a:moveTo>
                <a:lnTo>
                  <a:pt x="2571607" y="0"/>
                </a:lnTo>
                <a:quadBezTo>
                  <a:pt x="2628900" y="0"/>
                  <a:pt x="2628900" y="57293"/>
                </a:quadBezTo>
                <a:lnTo>
                  <a:pt x="2628900" y="1766744"/>
                </a:lnTo>
                <a:quadBezTo>
                  <a:pt x="2628900" y="1824037"/>
                  <a:pt x="2571607" y="1824037"/>
                </a:quadBezTo>
                <a:lnTo>
                  <a:pt x="57293" y="1824037"/>
                </a:lnTo>
                <a:quadBezTo>
                  <a:pt x="0" y="1824037"/>
                  <a:pt x="0" y="1766744"/>
                </a:quadBezTo>
                <a:lnTo>
                  <a:pt x="0" y="57293"/>
                </a:lnTo>
                <a:quadBezTo>
                  <a:pt x="0" y="0"/>
                  <a:pt x="57293" y="0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42875" dist="57150" dir="2700000" algn="bl" rotWithShape="0">
              <a:srgbClr val="142033">
                <a:alpha val="5882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2C5C59E-387A-43E4-9BDB-BC1E72EE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523"/>
            <a:ext cx="304800" cy="304800"/>
          </a:xfrm>
          <a:custGeom xmlns:a="http://schemas.openxmlformats.org/drawingml/2006/main"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 xmlns:a="http://schemas.openxmlformats.org/drawingml/2006/main">
            <a:srgbClr val="EEF3F8"/>
          </a:solidFill>
        </p:spPr>
      </p:sp>
      <p:pic>
        <p:nvPicPr>
          <p:cNvPr id="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7adbcfd4e47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2638723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A4CFC15-9AC0-4EE8-A003-A90AD843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345" y="2662535"/>
            <a:ext cx="109537" cy="104775"/>
          </a:xfrm>
          <a:custGeom xmlns:a="http://schemas.openxmlformats.org/drawingml/2006/main">
            <a:rect l="l" t="t" r="r" b="b"/>
            <a:pathLst>
              <a:path w="109537" h="104775">
                <a:moveTo>
                  <a:pt x="0" y="0"/>
                </a:moveTo>
                <a:lnTo>
                  <a:pt x="109537" y="0"/>
                </a:lnTo>
                <a:lnTo>
                  <a:pt x="109537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F87FAA5-27CA-4C62-AAEC-4BCCC919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345" y="2662535"/>
            <a:ext cx="109537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565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6E7B8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97E613EE-6A4A-4485-9996-C9BFD96D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2069"/>
            <a:ext cx="2228850" cy="371475"/>
          </a:xfrm>
          <a:custGeom xmlns:a="http://schemas.openxmlformats.org/drawingml/2006/main">
            <a:rect l="l" t="t" r="r" b="b"/>
            <a:pathLst>
              <a:path w="2228850" h="371475">
                <a:moveTo>
                  <a:pt x="0" y="0"/>
                </a:moveTo>
                <a:lnTo>
                  <a:pt x="2228850" y="0"/>
                </a:lnTo>
                <a:lnTo>
                  <a:pt x="2228850" y="371475"/>
                </a:lnTo>
                <a:lnTo>
                  <a:pt x="0" y="3714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F264472-F49B-4DCA-852F-9E0DDA0E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2069"/>
            <a:ext cx="2228850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sz="1198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Submission enters the queue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37EC6547-7DCF-44F4-8569-54AAB541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10645"/>
            <a:ext cx="2228850" cy="347663"/>
          </a:xfrm>
          <a:custGeom xmlns:a="http://schemas.openxmlformats.org/drawingml/2006/main">
            <a:rect l="l" t="t" r="r" b="b"/>
            <a:pathLst>
              <a:path w="2228850" h="347663">
                <a:moveTo>
                  <a:pt x="0" y="0"/>
                </a:moveTo>
                <a:lnTo>
                  <a:pt x="2228850" y="0"/>
                </a:lnTo>
                <a:lnTo>
                  <a:pt x="2228850" y="347663"/>
                </a:lnTo>
                <a:lnTo>
                  <a:pt x="0" y="3476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77CF0B78-7A63-49A2-A538-79779F40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10645"/>
            <a:ext cx="2228850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sz="900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Citizen submission and evidence arrive in one shared case state.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CF537135-8506-4C4B-B6B9-1FBDB44C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83831"/>
            <a:ext cx="2228850" cy="23812"/>
          </a:xfrm>
          <a:custGeom xmlns:a="http://schemas.openxmlformats.org/drawingml/2006/main">
            <a:rect l="l" t="t" r="r" b="b"/>
            <a:pathLst>
              <a:path w="2228850" h="23812">
                <a:moveTo>
                  <a:pt x="21167" y="0"/>
                </a:moveTo>
                <a:lnTo>
                  <a:pt x="3941233" y="0"/>
                </a:lnTo>
                <a:quadBezTo>
                  <a:pt x="3962400" y="0"/>
                  <a:pt x="3962400" y="21167"/>
                </a:quadBezTo>
                <a:lnTo>
                  <a:pt x="3962400" y="21167"/>
                </a:lnTo>
                <a:quadBezTo>
                  <a:pt x="3962400" y="42333"/>
                  <a:pt x="3941233" y="42333"/>
                </a:quadBezTo>
                <a:lnTo>
                  <a:pt x="21167" y="42333"/>
                </a:lnTo>
                <a:quadBezTo>
                  <a:pt x="0" y="42333"/>
                  <a:pt x="0" y="21167"/>
                </a:quadBezTo>
                <a:lnTo>
                  <a:pt x="0" y="21167"/>
                </a:lnTo>
                <a:quadBezTo>
                  <a:pt x="0" y="0"/>
                  <a:pt x="21167" y="0"/>
                </a:quadBezTo>
                <a:close/>
              </a:path>
            </a:pathLst>
          </a:custGeom>
          <a:solidFill xmlns:a="http://schemas.openxmlformats.org/drawingml/2006/main">
            <a:srgbClr val="D9E6F2"/>
          </a:solidFill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D7420658-FDEB-444E-B314-964F331E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63539"/>
            <a:ext cx="2628900" cy="1824037"/>
          </a:xfrm>
          <a:custGeom xmlns:a="http://schemas.openxmlformats.org/drawingml/2006/main">
            <a:rect l="l" t="t" r="r" b="b"/>
            <a:pathLst>
              <a:path w="2628900" h="1824037">
                <a:moveTo>
                  <a:pt x="57293" y="0"/>
                </a:moveTo>
                <a:lnTo>
                  <a:pt x="2571607" y="0"/>
                </a:lnTo>
                <a:quadBezTo>
                  <a:pt x="2628900" y="0"/>
                  <a:pt x="2628900" y="57293"/>
                </a:quadBezTo>
                <a:lnTo>
                  <a:pt x="2628900" y="1766744"/>
                </a:lnTo>
                <a:quadBezTo>
                  <a:pt x="2628900" y="1824037"/>
                  <a:pt x="2571607" y="1824037"/>
                </a:quadBezTo>
                <a:lnTo>
                  <a:pt x="57293" y="1824037"/>
                </a:lnTo>
                <a:quadBezTo>
                  <a:pt x="0" y="1824037"/>
                  <a:pt x="0" y="1766744"/>
                </a:quadBezTo>
                <a:lnTo>
                  <a:pt x="0" y="57293"/>
                </a:lnTo>
                <a:quadBezTo>
                  <a:pt x="0" y="0"/>
                  <a:pt x="57293" y="0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42875" dist="57150" dir="2700000" algn="bl" rotWithShape="0">
              <a:srgbClr val="142033">
                <a:alpha val="5882"/>
              </a:srgbClr>
            </a:outerShdw>
          </a:effectLst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7DB82845-A517-4BB6-A3BA-2D701CED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62523"/>
            <a:ext cx="304800" cy="304800"/>
          </a:xfrm>
          <a:custGeom xmlns:a="http://schemas.openxmlformats.org/drawingml/2006/main"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 xmlns:a="http://schemas.openxmlformats.org/drawingml/2006/main">
            <a:srgbClr val="E7F5F2"/>
          </a:solidFill>
        </p:spPr>
      </p:sp>
      <p:pic>
        <p:nvPicPr>
          <p:cNvPr id="7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04591f7874b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33775" y="2638723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2FC920F1-8A20-417D-AE93-F7ECB1CB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469" y="2662535"/>
            <a:ext cx="133350" cy="104775"/>
          </a:xfrm>
          <a:custGeom xmlns:a="http://schemas.openxmlformats.org/drawingml/2006/main">
            <a:rect l="l" t="t" r="r" b="b"/>
            <a:pathLst>
              <a:path w="133350" h="104775">
                <a:moveTo>
                  <a:pt x="0" y="0"/>
                </a:moveTo>
                <a:lnTo>
                  <a:pt x="133350" y="0"/>
                </a:lnTo>
                <a:lnTo>
                  <a:pt x="133350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814049C9-406E-4C86-AA0B-1194606E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469" y="2662535"/>
            <a:ext cx="133350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565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6E7B8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A05D50D2-1E31-49EA-BC47-CA19E385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82069"/>
            <a:ext cx="2228850" cy="371475"/>
          </a:xfrm>
          <a:custGeom xmlns:a="http://schemas.openxmlformats.org/drawingml/2006/main">
            <a:rect l="l" t="t" r="r" b="b"/>
            <a:pathLst>
              <a:path w="2228850" h="371475">
                <a:moveTo>
                  <a:pt x="0" y="0"/>
                </a:moveTo>
                <a:lnTo>
                  <a:pt x="2228850" y="0"/>
                </a:lnTo>
                <a:lnTo>
                  <a:pt x="2228850" y="371475"/>
                </a:lnTo>
                <a:lnTo>
                  <a:pt x="0" y="3714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9B231631-0551-40ED-BB15-1DF7DF8A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82069"/>
            <a:ext cx="2228850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sz="1198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Officer claims and reviews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C74F8D73-C126-4097-BD7F-D5B4D2D1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410645"/>
            <a:ext cx="2228850" cy="347663"/>
          </a:xfrm>
          <a:custGeom xmlns:a="http://schemas.openxmlformats.org/drawingml/2006/main">
            <a:rect l="l" t="t" r="r" b="b"/>
            <a:pathLst>
              <a:path w="2228850" h="347663">
                <a:moveTo>
                  <a:pt x="0" y="0"/>
                </a:moveTo>
                <a:lnTo>
                  <a:pt x="2228850" y="0"/>
                </a:lnTo>
                <a:lnTo>
                  <a:pt x="2228850" y="347663"/>
                </a:lnTo>
                <a:lnTo>
                  <a:pt x="0" y="3476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48C387FE-2B15-4C89-B38A-6A7330D8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410645"/>
            <a:ext cx="2228850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sz="900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The officer reviews evidence, identity signals and application context.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FF5F4B7F-2A2A-42EB-B713-C6A38DFC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83831"/>
            <a:ext cx="2228850" cy="23812"/>
          </a:xfrm>
          <a:custGeom xmlns:a="http://schemas.openxmlformats.org/drawingml/2006/main">
            <a:rect l="l" t="t" r="r" b="b"/>
            <a:pathLst>
              <a:path w="2228850" h="23812">
                <a:moveTo>
                  <a:pt x="21167" y="0"/>
                </a:moveTo>
                <a:lnTo>
                  <a:pt x="3941233" y="0"/>
                </a:lnTo>
                <a:quadBezTo>
                  <a:pt x="3962400" y="0"/>
                  <a:pt x="3962400" y="21167"/>
                </a:quadBezTo>
                <a:lnTo>
                  <a:pt x="3962400" y="21167"/>
                </a:lnTo>
                <a:quadBezTo>
                  <a:pt x="3962400" y="42333"/>
                  <a:pt x="3941233" y="42333"/>
                </a:quadBezTo>
                <a:lnTo>
                  <a:pt x="21167" y="42333"/>
                </a:lnTo>
                <a:quadBezTo>
                  <a:pt x="0" y="42333"/>
                  <a:pt x="0" y="21167"/>
                </a:quadBezTo>
                <a:lnTo>
                  <a:pt x="0" y="21167"/>
                </a:lnTo>
                <a:quadBezTo>
                  <a:pt x="0" y="0"/>
                  <a:pt x="21167" y="0"/>
                </a:quadBezTo>
                <a:close/>
              </a:path>
            </a:pathLst>
          </a:custGeom>
          <a:solidFill xmlns:a="http://schemas.openxmlformats.org/drawingml/2006/main">
            <a:srgbClr val="7FD3C6"/>
          </a:solidFill>
        </p:spPr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39CCDB92-42F2-4E86-AEA7-54FB3376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63539"/>
            <a:ext cx="2628900" cy="1824037"/>
          </a:xfrm>
          <a:custGeom xmlns:a="http://schemas.openxmlformats.org/drawingml/2006/main">
            <a:rect l="l" t="t" r="r" b="b"/>
            <a:pathLst>
              <a:path w="2628900" h="1824037">
                <a:moveTo>
                  <a:pt x="57293" y="0"/>
                </a:moveTo>
                <a:lnTo>
                  <a:pt x="2571607" y="0"/>
                </a:lnTo>
                <a:quadBezTo>
                  <a:pt x="2628900" y="0"/>
                  <a:pt x="2628900" y="57293"/>
                </a:quadBezTo>
                <a:lnTo>
                  <a:pt x="2628900" y="1766744"/>
                </a:lnTo>
                <a:quadBezTo>
                  <a:pt x="2628900" y="1824037"/>
                  <a:pt x="2571607" y="1824037"/>
                </a:quadBezTo>
                <a:lnTo>
                  <a:pt x="57293" y="1824037"/>
                </a:lnTo>
                <a:quadBezTo>
                  <a:pt x="0" y="1824037"/>
                  <a:pt x="0" y="1766744"/>
                </a:quadBezTo>
                <a:lnTo>
                  <a:pt x="0" y="57293"/>
                </a:lnTo>
                <a:quadBezTo>
                  <a:pt x="0" y="0"/>
                  <a:pt x="57293" y="0"/>
                </a:quadBezTo>
                <a:close/>
              </a:path>
            </a:pathLst>
          </a:custGeom>
          <a:solidFill xmlns:a="http://schemas.openxmlformats.org/drawingml/2006/main">
            <a:srgbClr val="142033"/>
          </a:solidFill>
          <a:effectLst xmlns:a="http://schemas.openxmlformats.org/drawingml/2006/main">
            <a:outerShdw blurRad="142875" dist="57150" dir="2700000" algn="bl" rotWithShape="0">
              <a:srgbClr val="142033">
                <a:alpha val="12157"/>
              </a:srgbClr>
            </a:outerShdw>
          </a:effectLst>
        </p:spPr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866963AB-32A0-44E9-B7F5-85040AC9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62523"/>
            <a:ext cx="304800" cy="304800"/>
          </a:xfrm>
          <a:custGeom xmlns:a="http://schemas.openxmlformats.org/drawingml/2006/main"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 xmlns:a="http://schemas.openxmlformats.org/drawingml/2006/main">
            <a:srgbClr val="2F6FED"/>
          </a:solidFill>
        </p:spPr>
      </p:sp>
      <p:pic>
        <p:nvPicPr>
          <p:cNvPr id="8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1fb49c72b4d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3175" y="2638723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34" name="Shape 28">
            <a:extLst xmlns:a="http://schemas.openxmlformats.org/drawingml/2006/main">
              <a:ext uri="{FF2B5EF4-FFF2-40B4-BE49-F238E27FC236}">
                <a16:creationId xmlns:a16="http://schemas.microsoft.com/office/drawing/2014/main" id="{E29D4A4E-13DA-4EE2-9B83-0F09F2B8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071" y="2662535"/>
            <a:ext cx="133350" cy="104775"/>
          </a:xfrm>
          <a:custGeom xmlns:a="http://schemas.openxmlformats.org/drawingml/2006/main">
            <a:rect l="l" t="t" r="r" b="b"/>
            <a:pathLst>
              <a:path w="133350" h="104775">
                <a:moveTo>
                  <a:pt x="0" y="0"/>
                </a:moveTo>
                <a:lnTo>
                  <a:pt x="133350" y="0"/>
                </a:lnTo>
                <a:lnTo>
                  <a:pt x="133350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131FD64F-1EED-4733-BC22-603EC4B7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071" y="2662535"/>
            <a:ext cx="133350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565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8BB9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36" name="Shape 30">
            <a:extLst xmlns:a="http://schemas.openxmlformats.org/drawingml/2006/main">
              <a:ext uri="{FF2B5EF4-FFF2-40B4-BE49-F238E27FC236}">
                <a16:creationId xmlns:a16="http://schemas.microsoft.com/office/drawing/2014/main" id="{1C1F64AF-334B-4845-A11D-D16032EB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82069"/>
            <a:ext cx="2228850" cy="371475"/>
          </a:xfrm>
          <a:custGeom xmlns:a="http://schemas.openxmlformats.org/drawingml/2006/main">
            <a:rect l="l" t="t" r="r" b="b"/>
            <a:pathLst>
              <a:path w="2228850" h="371475">
                <a:moveTo>
                  <a:pt x="0" y="0"/>
                </a:moveTo>
                <a:lnTo>
                  <a:pt x="2228850" y="0"/>
                </a:lnTo>
                <a:lnTo>
                  <a:pt x="2228850" y="371475"/>
                </a:lnTo>
                <a:lnTo>
                  <a:pt x="0" y="3714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AF980637-2EB5-4666-9AC6-13A93284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82069"/>
            <a:ext cx="2228850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sz="1198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AI advises. Officer decides.</a:t>
            </a:r>
          </a:p>
        </p:txBody>
      </p:sp>
      <p:sp>
        <p:nvSpPr>
          <p:cNvPr id="38" name="Shape 32">
            <a:extLst xmlns:a="http://schemas.openxmlformats.org/drawingml/2006/main">
              <a:ext uri="{FF2B5EF4-FFF2-40B4-BE49-F238E27FC236}">
                <a16:creationId xmlns:a16="http://schemas.microsoft.com/office/drawing/2014/main" id="{25AF3CFC-5FFE-4B98-9E12-8B4137FA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410645"/>
            <a:ext cx="2228850" cy="347663"/>
          </a:xfrm>
          <a:custGeom xmlns:a="http://schemas.openxmlformats.org/drawingml/2006/main">
            <a:rect l="l" t="t" r="r" b="b"/>
            <a:pathLst>
              <a:path w="2228850" h="347663">
                <a:moveTo>
                  <a:pt x="0" y="0"/>
                </a:moveTo>
                <a:lnTo>
                  <a:pt x="2228850" y="0"/>
                </a:lnTo>
                <a:lnTo>
                  <a:pt x="2228850" y="347663"/>
                </a:lnTo>
                <a:lnTo>
                  <a:pt x="0" y="3476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6B19B222-04D5-4E3A-B0F9-E4E1F27B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410645"/>
            <a:ext cx="2228850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sz="900">
                <a:solidFill>
                  <a:srgbClr val="D9E6F2"/>
                </a:solidFill>
                <a:latin typeface="Montserrat"/>
                <a:ea typeface="Montserrat"/>
                <a:cs typeface="Montserrat"/>
              </a:rPr>
              <a:t>Approve, correct, or reject remain officer decisions.</a:t>
            </a:r>
          </a:p>
        </p:txBody>
      </p:sp>
      <p:sp>
        <p:nvSpPr>
          <p:cNvPr id="40" name="Shape 34">
            <a:extLst xmlns:a="http://schemas.openxmlformats.org/drawingml/2006/main">
              <a:ext uri="{FF2B5EF4-FFF2-40B4-BE49-F238E27FC236}">
                <a16:creationId xmlns:a16="http://schemas.microsoft.com/office/drawing/2014/main" id="{9674538E-E8B8-4985-9306-B16FFA46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69519"/>
            <a:ext cx="2228850" cy="238125"/>
          </a:xfrm>
          <a:custGeom xmlns:a="http://schemas.openxmlformats.org/drawingml/2006/main">
            <a:rect l="l" t="t" r="r" b="b"/>
            <a:pathLst>
              <a:path w="2228850" h="238125">
                <a:moveTo>
                  <a:pt x="0" y="0"/>
                </a:moveTo>
                <a:lnTo>
                  <a:pt x="2228850" y="0"/>
                </a:lnTo>
                <a:lnTo>
                  <a:pt x="2228850" y="238125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BEC941DD-7FE6-40ED-9FAA-C6F7D1C0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69519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sz="698" b="1">
                <a:solidFill>
                  <a:srgbClr val="1E8E7E"/>
                </a:solidFill>
                <a:latin typeface="Montserrat"/>
                <a:ea typeface="Montserrat"/>
                <a:cs typeface="Montserrat"/>
              </a:rPr>
              <a:t>Approve</a:t>
            </a:r>
            <a:r>
              <a:rPr sz="602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698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Correct</a:t>
            </a:r>
            <a:r>
              <a:rPr sz="602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698" b="1">
                <a:solidFill>
                  <a:srgbClr val="A94B58"/>
                </a:solidFill>
                <a:latin typeface="Montserrat"/>
                <a:ea typeface="Montserrat"/>
                <a:cs typeface="Montserrat"/>
              </a:rPr>
              <a:t>Reject</a:t>
            </a:r>
          </a:p>
        </p:txBody>
      </p:sp>
      <p:pic>
        <p:nvPicPr>
          <p:cNvPr id="9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cb63dc34f47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" y="4416027"/>
            <a:ext cx="8267700" cy="385763"/>
          </a:xfrm>
          <a:prstGeom xmlns:a="http://schemas.openxmlformats.org/drawingml/2006/main" prst="rect">
            <a:avLst/>
          </a:prstGeom>
        </p:spPr>
      </p:pic>
      <p:pic>
        <p:nvPicPr>
          <p:cNvPr id="9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bd8f61e834a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4542234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44" name="Shape 36">
            <a:extLst xmlns:a="http://schemas.openxmlformats.org/drawingml/2006/main">
              <a:ext uri="{FF2B5EF4-FFF2-40B4-BE49-F238E27FC236}">
                <a16:creationId xmlns:a16="http://schemas.microsoft.com/office/drawing/2014/main" id="{B99ACD83-66CC-45D4-BBC8-FDB828F2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79" y="4530327"/>
            <a:ext cx="4148137" cy="157163"/>
          </a:xfrm>
          <a:custGeom xmlns:a="http://schemas.openxmlformats.org/drawingml/2006/main">
            <a:rect l="l" t="t" r="r" b="b"/>
            <a:pathLst>
              <a:path w="4148137" h="157163">
                <a:moveTo>
                  <a:pt x="0" y="0"/>
                </a:moveTo>
                <a:lnTo>
                  <a:pt x="4148137" y="0"/>
                </a:lnTo>
                <a:lnTo>
                  <a:pt x="4148137" y="157163"/>
                </a:lnTo>
                <a:lnTo>
                  <a:pt x="0" y="1571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2FD32AFD-DC5E-41FB-96BB-FB8CB22D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79" y="4530327"/>
            <a:ext cx="4148137" cy="1571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Shared lifecycle state connects citizen progress, evidence and officer action.</a:t>
            </a:r>
          </a:p>
        </p:txBody>
      </p:sp>
      <p:pic>
        <p:nvPicPr>
          <p:cNvPr id="9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e712c205e46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" y="4416027"/>
            <a:ext cx="8267700" cy="3857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55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2924BA0D-C76E-4224-9A00-9B345184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991AB346-EF4D-42F4-8C47-F1E9B81E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7F9FC"/>
          </a:solidFill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87B206E-EC94-4646-B9D9-E821A775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453"/>
            <a:ext cx="8267700" cy="138113"/>
          </a:xfrm>
          <a:custGeom xmlns:a="http://schemas.openxmlformats.org/drawingml/2006/main"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5AEBC86-3137-4EFB-A51C-281EC0FD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453"/>
            <a:ext cx="8267700" cy="1381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SYSTEM ARCHITECTURE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D22DE2F-5915-43A3-8ACB-CD73058C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87"/>
            <a:ext cx="8267700" cy="347663"/>
          </a:xfrm>
          <a:custGeom xmlns:a="http://schemas.openxmlformats.org/drawingml/2006/main">
            <a:rect l="l" t="t" r="r" b="b"/>
            <a:pathLst>
              <a:path w="8267700" h="347663">
                <a:moveTo>
                  <a:pt x="0" y="0"/>
                </a:moveTo>
                <a:lnTo>
                  <a:pt x="8267700" y="0"/>
                </a:lnTo>
                <a:lnTo>
                  <a:pt x="8267700" y="347663"/>
                </a:lnTo>
                <a:lnTo>
                  <a:pt x="0" y="3476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CE6D79A-1676-40F2-85E5-1B454AE8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87"/>
            <a:ext cx="8267700" cy="347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sz="2498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How it is built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38D9509-7DC6-4A44-BC0F-D81FCC29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83110"/>
            <a:ext cx="5143500" cy="409575"/>
          </a:xfrm>
          <a:custGeom xmlns:a="http://schemas.openxmlformats.org/drawingml/2006/main">
            <a:rect l="l" t="t" r="r" b="b"/>
            <a:pathLst>
              <a:path w="5143500" h="409575">
                <a:moveTo>
                  <a:pt x="0" y="0"/>
                </a:moveTo>
                <a:lnTo>
                  <a:pt x="5143500" y="0"/>
                </a:lnTo>
                <a:lnTo>
                  <a:pt x="5143500" y="409575"/>
                </a:lnTo>
                <a:lnTo>
                  <a:pt x="0" y="4095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F2984D3-B549-40A2-8EEB-28AB6A7F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8311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1198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Two service journeys, one shared foundation — designed for citizen trust and officer ownership.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6DBE349-93B6-4327-A9F7-E845FC37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37445"/>
            <a:ext cx="4343400" cy="2881313"/>
          </a:xfrm>
          <a:custGeom xmlns:a="http://schemas.openxmlformats.org/drawingml/2006/main">
            <a:rect l="l" t="t" r="r" b="b"/>
            <a:pathLst>
              <a:path w="4343400" h="2881313">
                <a:moveTo>
                  <a:pt x="42326" y="0"/>
                </a:moveTo>
                <a:lnTo>
                  <a:pt x="4301074" y="0"/>
                </a:lnTo>
                <a:quadBezTo>
                  <a:pt x="4343400" y="0"/>
                  <a:pt x="4343400" y="42326"/>
                </a:quadBezTo>
                <a:lnTo>
                  <a:pt x="4343400" y="2838986"/>
                </a:lnTo>
                <a:quadBezTo>
                  <a:pt x="4343400" y="2881313"/>
                  <a:pt x="4301074" y="2881313"/>
                </a:quadBezTo>
                <a:lnTo>
                  <a:pt x="42326" y="2881313"/>
                </a:lnTo>
                <a:quadBezTo>
                  <a:pt x="0" y="2881313"/>
                  <a:pt x="0" y="2838986"/>
                </a:quadBezTo>
                <a:lnTo>
                  <a:pt x="0" y="42326"/>
                </a:lnTo>
                <a:quadBezTo>
                  <a:pt x="0" y="0"/>
                  <a:pt x="42326" y="0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200025" dist="85725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4FA0AAE-CA5C-4F3D-91D7-F021E98A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4971"/>
            <a:ext cx="3886200" cy="195263"/>
          </a:xfrm>
          <a:custGeom xmlns:a="http://schemas.openxmlformats.org/drawingml/2006/main">
            <a:rect l="l" t="t" r="r" b="b"/>
            <a:pathLst>
              <a:path w="3886200" h="195263">
                <a:moveTo>
                  <a:pt x="0" y="0"/>
                </a:moveTo>
                <a:lnTo>
                  <a:pt x="3886200" y="0"/>
                </a:lnTo>
                <a:lnTo>
                  <a:pt x="3886200" y="195263"/>
                </a:lnTo>
                <a:lnTo>
                  <a:pt x="0" y="1952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FA3D22B-6E71-427F-A29D-D6D98916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4971"/>
            <a:ext cx="3886200" cy="1952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sz="1299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One foundation, two experiences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7E1A6FB-3E11-4DF6-94E5-B9C95F15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00"/>
            <a:ext cx="3886200" cy="166688"/>
          </a:xfrm>
          <a:custGeom xmlns:a="http://schemas.openxmlformats.org/drawingml/2006/main">
            <a:rect l="l" t="t" r="r" b="b"/>
            <a:pathLst>
              <a:path w="3886200" h="166688">
                <a:moveTo>
                  <a:pt x="0" y="0"/>
                </a:moveTo>
                <a:lnTo>
                  <a:pt x="3886200" y="0"/>
                </a:lnTo>
                <a:lnTo>
                  <a:pt x="3886200" y="166688"/>
                </a:lnTo>
                <a:lnTo>
                  <a:pt x="0" y="16668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5DDC092-BAA6-4A25-B714-4DFAC2C7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00"/>
            <a:ext cx="3886200" cy="166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sz="900">
                <a:solidFill>
                  <a:srgbClr val="6E7B8F"/>
                </a:solidFill>
                <a:latin typeface="Montserrat"/>
                <a:ea typeface="Montserrat"/>
                <a:cs typeface="Montserrat"/>
              </a:rPr>
              <a:t>The architecture keeps complexity behind the scenes.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774BA20-5C66-436A-93E3-2E03EBF3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7414"/>
            <a:ext cx="3886200" cy="9525"/>
          </a:xfrm>
          <a:custGeom xmlns:a="http://schemas.openxmlformats.org/drawingml/2006/main">
            <a:rect l="l" t="t" r="r" b="b"/>
            <a:pathLst>
              <a:path w="3886200" h="9525">
                <a:moveTo>
                  <a:pt x="0" y="0"/>
                </a:moveTo>
                <a:lnTo>
                  <a:pt x="3886200" y="0"/>
                </a:lnTo>
                <a:lnTo>
                  <a:pt x="3886200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D9E6F2"/>
          </a:solidFill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028F543-EBA8-4329-BADD-79337807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8864"/>
            <a:ext cx="238125" cy="238125"/>
          </a:xfrm>
          <a:custGeom xmlns:a="http://schemas.openxmlformats.org/drawingml/2006/main">
            <a:rect l="l" t="t" r="r" b="b"/>
            <a:pathLst>
              <a:path w="238125" h="238125">
                <a:moveTo>
                  <a:pt x="73152" y="0"/>
                </a:moveTo>
                <a:lnTo>
                  <a:pt x="164973" y="0"/>
                </a:lnTo>
                <a:quadBezTo>
                  <a:pt x="238125" y="0"/>
                  <a:pt x="238125" y="73152"/>
                </a:quadBezTo>
                <a:lnTo>
                  <a:pt x="238125" y="164973"/>
                </a:lnTo>
                <a:quadBezTo>
                  <a:pt x="238125" y="238125"/>
                  <a:pt x="164973" y="238125"/>
                </a:quadBezTo>
                <a:lnTo>
                  <a:pt x="73152" y="238125"/>
                </a:lnTo>
                <a:quadBezTo>
                  <a:pt x="0" y="238125"/>
                  <a:pt x="0" y="164973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 xmlns:a="http://schemas.openxmlformats.org/drawingml/2006/main">
            <a:srgbClr val="EEF3F8"/>
          </a:solidFill>
        </p:spPr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e27a855a14e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786014"/>
            <a:ext cx="123825" cy="123825"/>
          </a:xfrm>
          <a:prstGeom xmlns:a="http://schemas.openxmlformats.org/drawingml/2006/main" prst="rect">
            <a:avLst/>
          </a:prstGeom>
        </p:spPr>
      </p:pic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B36457D-1976-4018-A6ED-F6FC12DB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70" y="2728864"/>
            <a:ext cx="3490912" cy="171450"/>
          </a:xfrm>
          <a:custGeom xmlns:a="http://schemas.openxmlformats.org/drawingml/2006/main">
            <a:rect l="l" t="t" r="r" b="b"/>
            <a:pathLst>
              <a:path w="3490912" h="171450">
                <a:moveTo>
                  <a:pt x="0" y="0"/>
                </a:moveTo>
                <a:lnTo>
                  <a:pt x="3490912" y="0"/>
                </a:lnTo>
                <a:lnTo>
                  <a:pt x="3490912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B2A2995-FA25-4F8F-BBCE-AEFD39FD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70" y="2728864"/>
            <a:ext cx="3490912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6957"/>
              </a:lnSpc>
              <a:spcBef>
                <a:spcPts val="281"/>
              </a:spcBef>
              <a:buNone/>
            </a:pPr>
            <a:r>
              <a:rPr sz="1103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Citizen frontend + backend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84BF3CC-B200-41CC-95F9-977953F7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70" y="2933056"/>
            <a:ext cx="3490912" cy="161925"/>
          </a:xfrm>
          <a:custGeom xmlns:a="http://schemas.openxmlformats.org/drawingml/2006/main">
            <a:rect l="l" t="t" r="r" b="b"/>
            <a:pathLst>
              <a:path w="3490912" h="161925">
                <a:moveTo>
                  <a:pt x="0" y="0"/>
                </a:moveTo>
                <a:lnTo>
                  <a:pt x="3490912" y="0"/>
                </a:lnTo>
                <a:lnTo>
                  <a:pt x="3490912" y="161925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E750C7A-BCC1-4E18-B3E3-14EEFF13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70" y="2933056"/>
            <a:ext cx="3490912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sz="900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A guided public-service journey from intent to completion.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B69F194-A811-4CBE-B713-EDB191D1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7260"/>
            <a:ext cx="238125" cy="238125"/>
          </a:xfrm>
          <a:custGeom xmlns:a="http://schemas.openxmlformats.org/drawingml/2006/main">
            <a:rect l="l" t="t" r="r" b="b"/>
            <a:pathLst>
              <a:path w="238125" h="238125">
                <a:moveTo>
                  <a:pt x="73152" y="0"/>
                </a:moveTo>
                <a:lnTo>
                  <a:pt x="164973" y="0"/>
                </a:lnTo>
                <a:quadBezTo>
                  <a:pt x="238125" y="0"/>
                  <a:pt x="238125" y="73152"/>
                </a:quadBezTo>
                <a:lnTo>
                  <a:pt x="238125" y="164973"/>
                </a:lnTo>
                <a:quadBezTo>
                  <a:pt x="238125" y="238125"/>
                  <a:pt x="164973" y="238125"/>
                </a:quadBezTo>
                <a:lnTo>
                  <a:pt x="73152" y="238125"/>
                </a:lnTo>
                <a:quadBezTo>
                  <a:pt x="0" y="238125"/>
                  <a:pt x="0" y="164973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 xmlns:a="http://schemas.openxmlformats.org/drawingml/2006/main">
            <a:srgbClr val="E8F5F2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df96c017b4f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3294410"/>
            <a:ext cx="123825" cy="123825"/>
          </a:xfrm>
          <a:prstGeom xmlns:a="http://schemas.openxmlformats.org/drawingml/2006/main" prst="rect">
            <a:avLst/>
          </a:prstGeom>
        </p:spPr>
      </p:pic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6BC2BEBF-32ED-4104-8065-89122FE9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459" y="3237260"/>
            <a:ext cx="3100388" cy="171450"/>
          </a:xfrm>
          <a:custGeom xmlns:a="http://schemas.openxmlformats.org/drawingml/2006/main">
            <a:rect l="l" t="t" r="r" b="b"/>
            <a:pathLst>
              <a:path w="3100388" h="171450">
                <a:moveTo>
                  <a:pt x="0" y="0"/>
                </a:moveTo>
                <a:lnTo>
                  <a:pt x="3100388" y="0"/>
                </a:lnTo>
                <a:lnTo>
                  <a:pt x="3100388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F12EFE36-8834-4008-A029-4ABFC222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459" y="3237260"/>
            <a:ext cx="3100388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6957"/>
              </a:lnSpc>
              <a:spcBef>
                <a:spcPts val="281"/>
              </a:spcBef>
              <a:buNone/>
            </a:pPr>
            <a:r>
              <a:rPr sz="1103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Shared state layer</a:t>
            </a:r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8A4CF180-5C0F-4738-961F-72088F2B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459" y="3441454"/>
            <a:ext cx="3100388" cy="161925"/>
          </a:xfrm>
          <a:custGeom xmlns:a="http://schemas.openxmlformats.org/drawingml/2006/main">
            <a:rect l="l" t="t" r="r" b="b"/>
            <a:pathLst>
              <a:path w="3100388" h="161925">
                <a:moveTo>
                  <a:pt x="0" y="0"/>
                </a:moveTo>
                <a:lnTo>
                  <a:pt x="3100388" y="0"/>
                </a:lnTo>
                <a:lnTo>
                  <a:pt x="3100388" y="161925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32F488FC-D0E2-4B45-A009-9B370832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459" y="3441454"/>
            <a:ext cx="3100388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sz="900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PostgreSQL + Prisma keep every handoff consistent.</a:t>
            </a:r>
          </a:p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A7194E38-0331-453F-86F0-877B8D35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5657"/>
            <a:ext cx="238125" cy="238125"/>
          </a:xfrm>
          <a:custGeom xmlns:a="http://schemas.openxmlformats.org/drawingml/2006/main">
            <a:rect l="l" t="t" r="r" b="b"/>
            <a:pathLst>
              <a:path w="238125" h="238125">
                <a:moveTo>
                  <a:pt x="73152" y="0"/>
                </a:moveTo>
                <a:lnTo>
                  <a:pt x="164973" y="0"/>
                </a:lnTo>
                <a:quadBezTo>
                  <a:pt x="238125" y="0"/>
                  <a:pt x="238125" y="73152"/>
                </a:quadBezTo>
                <a:lnTo>
                  <a:pt x="238125" y="164973"/>
                </a:lnTo>
                <a:quadBezTo>
                  <a:pt x="238125" y="238125"/>
                  <a:pt x="164973" y="238125"/>
                </a:quadBezTo>
                <a:lnTo>
                  <a:pt x="73152" y="238125"/>
                </a:lnTo>
                <a:quadBezTo>
                  <a:pt x="0" y="238125"/>
                  <a:pt x="0" y="164973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 xmlns:a="http://schemas.openxmlformats.org/drawingml/2006/main">
            <a:srgbClr val="EEF3F8"/>
          </a:solidFill>
        </p:spPr>
      </p:sp>
      <p:pic>
        <p:nvPicPr>
          <p:cNvPr id="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43c65bab544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3802807"/>
            <a:ext cx="123825" cy="123825"/>
          </a:xfrm>
          <a:prstGeom xmlns:a="http://schemas.openxmlformats.org/drawingml/2006/main" prst="rect">
            <a:avLst/>
          </a:prstGeom>
        </p:spPr>
      </p:pic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D4E7B8FD-8C67-4772-B1D4-DACC1C04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78" y="3745657"/>
            <a:ext cx="3443288" cy="171450"/>
          </a:xfrm>
          <a:custGeom xmlns:a="http://schemas.openxmlformats.org/drawingml/2006/main">
            <a:rect l="l" t="t" r="r" b="b"/>
            <a:pathLst>
              <a:path w="3443288" h="171450">
                <a:moveTo>
                  <a:pt x="0" y="0"/>
                </a:moveTo>
                <a:lnTo>
                  <a:pt x="3443288" y="0"/>
                </a:lnTo>
                <a:lnTo>
                  <a:pt x="3443288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B104A731-CF3E-4015-A2FC-680E66B2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78" y="3745657"/>
            <a:ext cx="3443288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6957"/>
              </a:lnSpc>
              <a:spcBef>
                <a:spcPts val="281"/>
              </a:spcBef>
              <a:buNone/>
            </a:pPr>
            <a:r>
              <a:rPr sz="1103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Employee frontend + backend</a:t>
            </a:r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B7F6AB51-2493-464C-BF77-82532F9E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78" y="3949850"/>
            <a:ext cx="3443288" cy="161925"/>
          </a:xfrm>
          <a:custGeom xmlns:a="http://schemas.openxmlformats.org/drawingml/2006/main">
            <a:rect l="l" t="t" r="r" b="b"/>
            <a:pathLst>
              <a:path w="3443288" h="161925">
                <a:moveTo>
                  <a:pt x="0" y="0"/>
                </a:moveTo>
                <a:lnTo>
                  <a:pt x="3443288" y="0"/>
                </a:lnTo>
                <a:lnTo>
                  <a:pt x="3443288" y="161925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0E62DC8C-8987-4607-90AE-F7119D84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78" y="3949850"/>
            <a:ext cx="3443288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sz="900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JANSEVA AI, mock verification, and PWA-ready workflows.</a:t>
            </a:r>
          </a:p>
        </p:txBody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9E18D094-E348-4F54-94DB-5D73A70F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1658"/>
            <a:ext cx="3886200" cy="481012"/>
          </a:xfrm>
          <a:custGeom xmlns:a="http://schemas.openxmlformats.org/drawingml/2006/main">
            <a:rect l="l" t="t" r="r" b="b"/>
            <a:pathLst>
              <a:path w="3886200" h="481012">
                <a:moveTo>
                  <a:pt x="144857" y="0"/>
                </a:moveTo>
                <a:lnTo>
                  <a:pt x="3741343" y="0"/>
                </a:lnTo>
                <a:quadBezTo>
                  <a:pt x="3886200" y="0"/>
                  <a:pt x="3886200" y="144857"/>
                </a:quadBezTo>
                <a:lnTo>
                  <a:pt x="3886200" y="336156"/>
                </a:lnTo>
                <a:quadBezTo>
                  <a:pt x="3886200" y="481012"/>
                  <a:pt x="3741343" y="481012"/>
                </a:quadBezTo>
                <a:lnTo>
                  <a:pt x="144857" y="481012"/>
                </a:lnTo>
                <a:quadBezTo>
                  <a:pt x="0" y="481012"/>
                  <a:pt x="0" y="336156"/>
                </a:quadBezTo>
                <a:lnTo>
                  <a:pt x="0" y="144857"/>
                </a:lnTo>
                <a:quadBezTo>
                  <a:pt x="0" y="0"/>
                  <a:pt x="144857" y="0"/>
                </a:quadBezTo>
                <a:close/>
              </a:path>
            </a:pathLst>
          </a:custGeom>
          <a:solidFill xmlns:a="http://schemas.openxmlformats.org/drawingml/2006/main">
            <a:srgbClr val="E8F5F2"/>
          </a:solidFill>
        </p:spPr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9F5B227F-E136-46AB-9F4C-E4FF01DA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1658"/>
            <a:ext cx="3886200" cy="481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1E8E7E"/>
                </a:solidFill>
                <a:latin typeface="Montserrat"/>
                <a:ea typeface="Montserrat"/>
                <a:cs typeface="Montserrat"/>
              </a:rPr>
              <a:t>Trust moves with the case — from citizen consent to employee action.</a:t>
            </a:r>
          </a:p>
        </p:txBody>
      </p:sp>
      <p:sp>
        <p:nvSpPr>
          <p:cNvPr id="37" name="Shape 31">
            <a:extLst xmlns:a="http://schemas.openxmlformats.org/drawingml/2006/main">
              <a:ext uri="{FF2B5EF4-FFF2-40B4-BE49-F238E27FC236}">
                <a16:creationId xmlns:a16="http://schemas.microsoft.com/office/drawing/2014/main" id="{1295EA10-ADC2-4A4A-A8FE-4ACF66DC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37445"/>
            <a:ext cx="3619500" cy="2881313"/>
          </a:xfrm>
          <a:custGeom xmlns:a="http://schemas.openxmlformats.org/drawingml/2006/main">
            <a:rect l="l" t="t" r="r" b="b"/>
            <a:pathLst>
              <a:path w="3619500" h="2881313">
                <a:moveTo>
                  <a:pt x="42326" y="0"/>
                </a:moveTo>
                <a:lnTo>
                  <a:pt x="3577174" y="0"/>
                </a:lnTo>
                <a:quadBezTo>
                  <a:pt x="3619500" y="0"/>
                  <a:pt x="3619500" y="42326"/>
                </a:quadBezTo>
                <a:lnTo>
                  <a:pt x="3619500" y="2838986"/>
                </a:lnTo>
                <a:quadBezTo>
                  <a:pt x="3619500" y="2881313"/>
                  <a:pt x="3577174" y="2881313"/>
                </a:quadBezTo>
                <a:lnTo>
                  <a:pt x="42326" y="2881313"/>
                </a:lnTo>
                <a:quadBezTo>
                  <a:pt x="0" y="2881313"/>
                  <a:pt x="0" y="2838986"/>
                </a:quadBezTo>
                <a:lnTo>
                  <a:pt x="0" y="42326"/>
                </a:lnTo>
                <a:quadBezTo>
                  <a:pt x="0" y="0"/>
                  <a:pt x="42326" y="0"/>
                </a:quadBezTo>
                <a:close/>
              </a:path>
            </a:pathLst>
          </a:custGeom>
          <a:solidFill xmlns:a="http://schemas.openxmlformats.org/drawingml/2006/main">
            <a:srgbClr val="EEF3F8"/>
          </a:solidFill>
        </p:spPr>
      </p:sp>
      <p:pic>
        <p:nvPicPr>
          <p:cNvPr id="7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d15d2d5774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2070795"/>
            <a:ext cx="3352800" cy="26146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4413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02FEDE1-53C3-4530-B038-8A10B046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834A042-65EF-4D7A-B562-DCE4F91D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7F9FC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11B8DA-FBF5-4607-B04F-68717755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453"/>
            <a:ext cx="8229600" cy="138113"/>
          </a:xfrm>
          <a:custGeom xmlns:a="http://schemas.openxmlformats.org/drawingml/2006/main"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9E9A8D-299A-4154-A63C-B4789E6F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453"/>
            <a:ext cx="8229600" cy="1381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TRUST, SECURITY &amp; CONTROLLED STATES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870C88A-41EB-4503-AA18-744B6B58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252"/>
            <a:ext cx="8229600" cy="671513"/>
          </a:xfrm>
          <a:custGeom xmlns:a="http://schemas.openxmlformats.org/drawingml/2006/main">
            <a:rect l="l" t="t" r="r" b="b"/>
            <a:pathLst>
              <a:path w="8229600" h="671513">
                <a:moveTo>
                  <a:pt x="0" y="0"/>
                </a:moveTo>
                <a:lnTo>
                  <a:pt x="8229600" y="0"/>
                </a:lnTo>
                <a:lnTo>
                  <a:pt x="8229600" y="671513"/>
                </a:lnTo>
                <a:lnTo>
                  <a:pt x="0" y="6715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CC7CFB5-D76B-4C3E-B486-40F13AB8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252"/>
            <a:ext cx="8229600" cy="6715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sz="2402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Built around consent, ownership and controlled lifecycle states.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4562B65-CD8C-4603-B338-FCAC097E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1276"/>
            <a:ext cx="6096000" cy="195263"/>
          </a:xfrm>
          <a:custGeom xmlns:a="http://schemas.openxmlformats.org/drawingml/2006/main">
            <a:rect l="l" t="t" r="r" b="b"/>
            <a:pathLst>
              <a:path w="6096000" h="195263">
                <a:moveTo>
                  <a:pt x="0" y="0"/>
                </a:moveTo>
                <a:lnTo>
                  <a:pt x="6096000" y="0"/>
                </a:lnTo>
                <a:lnTo>
                  <a:pt x="6096000" y="195263"/>
                </a:lnTo>
                <a:lnTo>
                  <a:pt x="0" y="1952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E9CB144-F25F-4A06-AC1C-A4F2D3C1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1276"/>
            <a:ext cx="6096000" cy="1952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sz="1103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Every request is checked at the point of access, action and transition.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32819AF-6ADB-46E3-BD45-1ACB0D7E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51"/>
            <a:ext cx="4000500" cy="2185988"/>
          </a:xfrm>
          <a:custGeom xmlns:a="http://schemas.openxmlformats.org/drawingml/2006/main">
            <a:rect l="l" t="t" r="r" b="b"/>
            <a:pathLst>
              <a:path w="4000500" h="2185988">
                <a:moveTo>
                  <a:pt x="47808" y="0"/>
                </a:moveTo>
                <a:lnTo>
                  <a:pt x="3952692" y="0"/>
                </a:lnTo>
                <a:quadBezTo>
                  <a:pt x="4000500" y="0"/>
                  <a:pt x="4000500" y="47808"/>
                </a:quadBezTo>
                <a:lnTo>
                  <a:pt x="4000500" y="2138180"/>
                </a:lnTo>
                <a:quadBezTo>
                  <a:pt x="4000500" y="2185988"/>
                  <a:pt x="3952692" y="2185988"/>
                </a:quadBezTo>
                <a:lnTo>
                  <a:pt x="47808" y="2185988"/>
                </a:lnTo>
                <a:quadBezTo>
                  <a:pt x="0" y="2185988"/>
                  <a:pt x="0" y="2138180"/>
                </a:quadBezTo>
                <a:lnTo>
                  <a:pt x="0" y="47808"/>
                </a:lnTo>
                <a:quadBezTo>
                  <a:pt x="0" y="0"/>
                  <a:pt x="47808" y="0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33350" dist="57150" dir="2700000" algn="bl" rotWithShape="0">
              <a:srgbClr val="142033">
                <a:alpha val="5882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2155B62-FB96-4459-B28F-BCB3FC65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2096"/>
            <a:ext cx="276225" cy="276225"/>
          </a:xfrm>
          <a:custGeom xmlns:a="http://schemas.openxmlformats.org/drawingml/2006/main">
            <a:rect l="l" t="t" r="r" b="b"/>
            <a:pathLst>
              <a:path w="276225" h="276225">
                <a:moveTo>
                  <a:pt x="63062" y="0"/>
                </a:moveTo>
                <a:lnTo>
                  <a:pt x="213163" y="0"/>
                </a:lnTo>
                <a:quadBezTo>
                  <a:pt x="276225" y="0"/>
                  <a:pt x="276225" y="63062"/>
                </a:quadBezTo>
                <a:lnTo>
                  <a:pt x="276225" y="213163"/>
                </a:lnTo>
                <a:quadBezTo>
                  <a:pt x="276225" y="276225"/>
                  <a:pt x="213163" y="276225"/>
                </a:quadBezTo>
                <a:lnTo>
                  <a:pt x="63062" y="276225"/>
                </a:lnTo>
                <a:quadBezTo>
                  <a:pt x="0" y="276225"/>
                  <a:pt x="0" y="213163"/>
                </a:quadBezTo>
                <a:lnTo>
                  <a:pt x="0" y="63062"/>
                </a:lnTo>
                <a:quadBezTo>
                  <a:pt x="0" y="0"/>
                  <a:pt x="63062" y="0"/>
                </a:quadBezTo>
                <a:close/>
              </a:path>
            </a:pathLst>
          </a:custGeom>
          <a:solidFill xmlns:a="http://schemas.openxmlformats.org/drawingml/2006/main">
            <a:srgbClr val="EEF3F8"/>
          </a:solidFill>
        </p:spPr>
      </p:sp>
      <p:pic>
        <p:nvPicPr>
          <p:cNvPr id="6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fabe497d44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2378771"/>
            <a:ext cx="142875" cy="142875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B6BD439-E2CB-42DB-87D8-E876DC4D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06" y="2258765"/>
            <a:ext cx="2371725" cy="195263"/>
          </a:xfrm>
          <a:custGeom xmlns:a="http://schemas.openxmlformats.org/drawingml/2006/main">
            <a:rect l="l" t="t" r="r" b="b"/>
            <a:pathLst>
              <a:path w="2371725" h="195263">
                <a:moveTo>
                  <a:pt x="0" y="0"/>
                </a:moveTo>
                <a:lnTo>
                  <a:pt x="2371725" y="0"/>
                </a:lnTo>
                <a:lnTo>
                  <a:pt x="2371725" y="195263"/>
                </a:lnTo>
                <a:lnTo>
                  <a:pt x="0" y="1952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A791619-E9F6-4380-AC4A-8B04DCDA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06" y="2258765"/>
            <a:ext cx="2371725" cy="1952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sz="1299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Identity &amp; authority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1C1D17B-8964-4842-85DD-3156BA95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06" y="2489251"/>
            <a:ext cx="2371725" cy="152400"/>
          </a:xfrm>
          <a:custGeom xmlns:a="http://schemas.openxmlformats.org/drawingml/2006/main">
            <a:rect l="l" t="t" r="r" b="b"/>
            <a:pathLst>
              <a:path w="2371725" h="152400">
                <a:moveTo>
                  <a:pt x="0" y="0"/>
                </a:moveTo>
                <a:lnTo>
                  <a:pt x="2371725" y="0"/>
                </a:lnTo>
                <a:lnTo>
                  <a:pt x="2371725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9E0EEB0-0E3F-4732-8C44-8C86BC02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06" y="2489251"/>
            <a:ext cx="2371725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900">
                <a:solidFill>
                  <a:srgbClr val="6E7B8F"/>
                </a:solidFill>
                <a:latin typeface="Montserrat"/>
                <a:ea typeface="Montserrat"/>
                <a:cs typeface="Montserrat"/>
              </a:rPr>
              <a:t>The right actor, with the right permission.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BFD3953-7CF1-40CC-92FB-9B4F0BB4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4517"/>
            <a:ext cx="3543300" cy="4763"/>
          </a:xfrm>
          <a:custGeom xmlns:a="http://schemas.openxmlformats.org/drawingml/2006/main">
            <a:rect l="l" t="t" r="r" b="b"/>
            <a:pathLst>
              <a:path w="3543300" h="4763">
                <a:moveTo>
                  <a:pt x="0" y="0"/>
                </a:moveTo>
                <a:lnTo>
                  <a:pt x="3543300" y="0"/>
                </a:lnTo>
                <a:lnTo>
                  <a:pt x="3543300" y="4763"/>
                </a:lnTo>
                <a:lnTo>
                  <a:pt x="0" y="4763"/>
                </a:lnTo>
                <a:close/>
              </a:path>
            </a:pathLst>
          </a:custGeom>
          <a:solidFill xmlns:a="http://schemas.openxmlformats.org/drawingml/2006/main">
            <a:srgbClr val="D9E6F2"/>
          </a:solidFill>
        </p:spPr>
      </p:sp>
      <p:pic>
        <p:nvPicPr>
          <p:cNvPr id="7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e3f538fc441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985492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44AE75B9-D4D6-4BCC-816B-8DE555E3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3314700" cy="171450"/>
          </a:xfrm>
          <a:custGeom xmlns:a="http://schemas.openxmlformats.org/drawingml/2006/main">
            <a:rect l="l" t="t" r="r" b="b"/>
            <a:pathLst>
              <a:path w="3314700" h="171450">
                <a:moveTo>
                  <a:pt x="0" y="0"/>
                </a:moveTo>
                <a:lnTo>
                  <a:pt x="3314700" y="0"/>
                </a:lnTo>
                <a:lnTo>
                  <a:pt x="331470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5E68B01-A900-4963-A2ED-525B609E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sz="1001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JWT authentication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36D27C2-14F8-49C9-B0CA-C3FFF48F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7183"/>
            <a:ext cx="3314700" cy="333375"/>
          </a:xfrm>
          <a:custGeom xmlns:a="http://schemas.openxmlformats.org/drawingml/2006/main">
            <a:rect l="l" t="t" r="r" b="b"/>
            <a:pathLst>
              <a:path w="3314700" h="333375">
                <a:moveTo>
                  <a:pt x="0" y="0"/>
                </a:moveTo>
                <a:lnTo>
                  <a:pt x="3314700" y="0"/>
                </a:lnTo>
                <a:lnTo>
                  <a:pt x="3314700" y="333375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565380AE-3D98-47C9-922C-BD7BF5D5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7183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sz="900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Reject unauthenticated requests and inactive accounts.</a:t>
            </a:r>
          </a:p>
        </p:txBody>
      </p:sp>
      <p:pic>
        <p:nvPicPr>
          <p:cNvPr id="8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e3f538fc441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58196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719FEE22-DFD7-496C-9072-10207DC3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54" y="3644502"/>
            <a:ext cx="3062287" cy="171450"/>
          </a:xfrm>
          <a:custGeom xmlns:a="http://schemas.openxmlformats.org/drawingml/2006/main">
            <a:rect l="l" t="t" r="r" b="b"/>
            <a:pathLst>
              <a:path w="3062287" h="171450">
                <a:moveTo>
                  <a:pt x="0" y="0"/>
                </a:moveTo>
                <a:lnTo>
                  <a:pt x="3062287" y="0"/>
                </a:lnTo>
                <a:lnTo>
                  <a:pt x="3062287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C495ED-33C5-4DB8-B422-488FA82F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54" y="3644502"/>
            <a:ext cx="3062287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sz="1001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Role + ownership validation</a:t>
            </a:r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64C737C6-5CA0-4FA1-A40C-5AE7BDB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54" y="3849886"/>
            <a:ext cx="3062287" cy="166688"/>
          </a:xfrm>
          <a:custGeom xmlns:a="http://schemas.openxmlformats.org/drawingml/2006/main">
            <a:rect l="l" t="t" r="r" b="b"/>
            <a:pathLst>
              <a:path w="3062287" h="166688">
                <a:moveTo>
                  <a:pt x="0" y="0"/>
                </a:moveTo>
                <a:lnTo>
                  <a:pt x="3062287" y="0"/>
                </a:lnTo>
                <a:lnTo>
                  <a:pt x="3062287" y="166688"/>
                </a:lnTo>
                <a:lnTo>
                  <a:pt x="0" y="16668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5096A258-BE0E-4D25-A23A-43A4FE9C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54" y="3849886"/>
            <a:ext cx="3062287" cy="166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sz="900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Confirm role authorization and resource ownership.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5045B5D4-62DA-47C9-9C26-D5BD3C4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47851"/>
            <a:ext cx="4000500" cy="2185988"/>
          </a:xfrm>
          <a:custGeom xmlns:a="http://schemas.openxmlformats.org/drawingml/2006/main">
            <a:rect l="l" t="t" r="r" b="b"/>
            <a:pathLst>
              <a:path w="4000500" h="2185988">
                <a:moveTo>
                  <a:pt x="47808" y="0"/>
                </a:moveTo>
                <a:lnTo>
                  <a:pt x="3952692" y="0"/>
                </a:lnTo>
                <a:quadBezTo>
                  <a:pt x="4000500" y="0"/>
                  <a:pt x="4000500" y="47808"/>
                </a:quadBezTo>
                <a:lnTo>
                  <a:pt x="4000500" y="2138180"/>
                </a:lnTo>
                <a:quadBezTo>
                  <a:pt x="4000500" y="2185988"/>
                  <a:pt x="3952692" y="2185988"/>
                </a:quadBezTo>
                <a:lnTo>
                  <a:pt x="47808" y="2185988"/>
                </a:lnTo>
                <a:quadBezTo>
                  <a:pt x="0" y="2185988"/>
                  <a:pt x="0" y="2138180"/>
                </a:quadBezTo>
                <a:lnTo>
                  <a:pt x="0" y="47808"/>
                </a:lnTo>
                <a:quadBezTo>
                  <a:pt x="0" y="0"/>
                  <a:pt x="47808" y="0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33350" dist="57150" dir="2700000" algn="bl" rotWithShape="0">
              <a:srgbClr val="142033">
                <a:alpha val="5882"/>
              </a:srgbClr>
            </a:outerShdw>
          </a:effectLst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A02FAB6D-91DC-4624-8B72-6D65322E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12096"/>
            <a:ext cx="276225" cy="276225"/>
          </a:xfrm>
          <a:custGeom xmlns:a="http://schemas.openxmlformats.org/drawingml/2006/main">
            <a:rect l="l" t="t" r="r" b="b"/>
            <a:pathLst>
              <a:path w="276225" h="276225">
                <a:moveTo>
                  <a:pt x="63062" y="0"/>
                </a:moveTo>
                <a:lnTo>
                  <a:pt x="213163" y="0"/>
                </a:lnTo>
                <a:quadBezTo>
                  <a:pt x="276225" y="0"/>
                  <a:pt x="276225" y="63062"/>
                </a:quadBezTo>
                <a:lnTo>
                  <a:pt x="276225" y="213163"/>
                </a:lnTo>
                <a:quadBezTo>
                  <a:pt x="276225" y="276225"/>
                  <a:pt x="213163" y="276225"/>
                </a:quadBezTo>
                <a:lnTo>
                  <a:pt x="63062" y="276225"/>
                </a:lnTo>
                <a:quadBezTo>
                  <a:pt x="0" y="276225"/>
                  <a:pt x="0" y="213163"/>
                </a:quadBezTo>
                <a:lnTo>
                  <a:pt x="0" y="63062"/>
                </a:lnTo>
                <a:quadBezTo>
                  <a:pt x="0" y="0"/>
                  <a:pt x="63062" y="0"/>
                </a:quadBezTo>
                <a:close/>
              </a:path>
            </a:pathLst>
          </a:custGeom>
          <a:solidFill xmlns:a="http://schemas.openxmlformats.org/drawingml/2006/main">
            <a:srgbClr val="E8F5F2"/>
          </a:solidFill>
        </p:spPr>
      </p:sp>
      <p:pic>
        <p:nvPicPr>
          <p:cNvPr id="8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2f248064146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1575" y="2378771"/>
            <a:ext cx="142875" cy="142875"/>
          </a:xfrm>
          <a:prstGeom xmlns:a="http://schemas.openxmlformats.org/drawingml/2006/main" prst="rect">
            <a:avLst/>
          </a:prstGeom>
        </p:spPr>
      </p:pic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8B8B001C-884B-458A-9ADE-C669F66F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751" y="2258765"/>
            <a:ext cx="2338388" cy="195263"/>
          </a:xfrm>
          <a:custGeom xmlns:a="http://schemas.openxmlformats.org/drawingml/2006/main">
            <a:rect l="l" t="t" r="r" b="b"/>
            <a:pathLst>
              <a:path w="2338388" h="195263">
                <a:moveTo>
                  <a:pt x="0" y="0"/>
                </a:moveTo>
                <a:lnTo>
                  <a:pt x="2338388" y="0"/>
                </a:lnTo>
                <a:lnTo>
                  <a:pt x="2338388" y="195263"/>
                </a:lnTo>
                <a:lnTo>
                  <a:pt x="0" y="1952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73D3BC26-99C8-48A2-A631-2B3BFF91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751" y="2258765"/>
            <a:ext cx="2338388" cy="1952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sz="1299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State &amp; boundary controls</a:t>
            </a:r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3315E1EB-535D-43F0-A915-73EF6BA6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751" y="2489251"/>
            <a:ext cx="2338388" cy="152400"/>
          </a:xfrm>
          <a:custGeom xmlns:a="http://schemas.openxmlformats.org/drawingml/2006/main">
            <a:rect l="l" t="t" r="r" b="b"/>
            <a:pathLst>
              <a:path w="2338388" h="152400">
                <a:moveTo>
                  <a:pt x="0" y="0"/>
                </a:moveTo>
                <a:lnTo>
                  <a:pt x="2338388" y="0"/>
                </a:lnTo>
                <a:lnTo>
                  <a:pt x="2338388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94C6464B-DDF5-4E07-9B4F-201D485A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751" y="2489251"/>
            <a:ext cx="233838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900">
                <a:solidFill>
                  <a:srgbClr val="6E7B8F"/>
                </a:solidFill>
                <a:latin typeface="Montserrat"/>
                <a:ea typeface="Montserrat"/>
                <a:cs typeface="Montserrat"/>
              </a:rPr>
              <a:t>Safe transitions, isolated execution.</a:t>
            </a:r>
          </a:p>
        </p:txBody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1F9C21C6-B915-44B4-B6C0-2FA05732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04517"/>
            <a:ext cx="3543300" cy="4763"/>
          </a:xfrm>
          <a:custGeom xmlns:a="http://schemas.openxmlformats.org/drawingml/2006/main">
            <a:rect l="l" t="t" r="r" b="b"/>
            <a:pathLst>
              <a:path w="3543300" h="4763">
                <a:moveTo>
                  <a:pt x="0" y="0"/>
                </a:moveTo>
                <a:lnTo>
                  <a:pt x="3543300" y="0"/>
                </a:lnTo>
                <a:lnTo>
                  <a:pt x="3543300" y="4763"/>
                </a:lnTo>
                <a:lnTo>
                  <a:pt x="0" y="4763"/>
                </a:lnTo>
                <a:close/>
              </a:path>
            </a:pathLst>
          </a:custGeom>
          <a:solidFill xmlns:a="http://schemas.openxmlformats.org/drawingml/2006/main">
            <a:srgbClr val="D9E6F2"/>
          </a:solidFill>
        </p:spPr>
      </p:sp>
      <p:pic>
        <p:nvPicPr>
          <p:cNvPr id="9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52d32299146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2985492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FF2EF4FB-D6FE-4BC5-A6EB-CB451B78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401" y="2971800"/>
            <a:ext cx="2586038" cy="171450"/>
          </a:xfrm>
          <a:custGeom xmlns:a="http://schemas.openxmlformats.org/drawingml/2006/main">
            <a:rect l="l" t="t" r="r" b="b"/>
            <a:pathLst>
              <a:path w="2586038" h="171450">
                <a:moveTo>
                  <a:pt x="0" y="0"/>
                </a:moveTo>
                <a:lnTo>
                  <a:pt x="2586038" y="0"/>
                </a:lnTo>
                <a:lnTo>
                  <a:pt x="2586038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5E3EE212-2CEF-4C28-87CA-5A6F6B5F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401" y="2971800"/>
            <a:ext cx="2586038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sz="1001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Lifecycle validation</a:t>
            </a:r>
          </a:p>
        </p:txBody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BFB3FD2B-9C5C-49C1-8A13-FF674AC0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401" y="3177183"/>
            <a:ext cx="2586038" cy="166688"/>
          </a:xfrm>
          <a:custGeom xmlns:a="http://schemas.openxmlformats.org/drawingml/2006/main">
            <a:rect l="l" t="t" r="r" b="b"/>
            <a:pathLst>
              <a:path w="2586038" h="166688">
                <a:moveTo>
                  <a:pt x="0" y="0"/>
                </a:moveTo>
                <a:lnTo>
                  <a:pt x="2586038" y="0"/>
                </a:lnTo>
                <a:lnTo>
                  <a:pt x="2586038" y="166688"/>
                </a:lnTo>
                <a:lnTo>
                  <a:pt x="0" y="16668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8CD1CB73-096D-45A3-A254-BC991CA3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401" y="3177183"/>
            <a:ext cx="2586038" cy="166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sz="900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Allow only valid, controlled state transitions.</a:t>
            </a:r>
          </a:p>
        </p:txBody>
      </p:sp>
      <p:pic>
        <p:nvPicPr>
          <p:cNvPr id="9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debdab29a45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3477221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DC94643C-0CFF-4329-9C2F-CB4C0AEF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7816"/>
            <a:ext cx="3314700" cy="171450"/>
          </a:xfrm>
          <a:custGeom xmlns:a="http://schemas.openxmlformats.org/drawingml/2006/main">
            <a:rect l="l" t="t" r="r" b="b"/>
            <a:pathLst>
              <a:path w="3314700" h="171450">
                <a:moveTo>
                  <a:pt x="0" y="0"/>
                </a:moveTo>
                <a:lnTo>
                  <a:pt x="3314700" y="0"/>
                </a:lnTo>
                <a:lnTo>
                  <a:pt x="331470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4010FC49-AF0B-45E0-85B3-8E8E8E28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7816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sz="1001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Idempotency + isolation</a:t>
            </a:r>
          </a:p>
        </p:txBody>
      </p:sp>
      <p:sp>
        <p:nvSpPr>
          <p:cNvPr id="44" name="Shape 36">
            <a:extLst xmlns:a="http://schemas.openxmlformats.org/drawingml/2006/main">
              <a:ext uri="{FF2B5EF4-FFF2-40B4-BE49-F238E27FC236}">
                <a16:creationId xmlns:a16="http://schemas.microsoft.com/office/drawing/2014/main" id="{B5C3CF12-FC99-4645-B4DF-130F6072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83198"/>
            <a:ext cx="3314700" cy="333375"/>
          </a:xfrm>
          <a:custGeom xmlns:a="http://schemas.openxmlformats.org/drawingml/2006/main">
            <a:rect l="l" t="t" r="r" b="b"/>
            <a:pathLst>
              <a:path w="3314700" h="333375">
                <a:moveTo>
                  <a:pt x="0" y="0"/>
                </a:moveTo>
                <a:lnTo>
                  <a:pt x="3314700" y="0"/>
                </a:lnTo>
                <a:lnTo>
                  <a:pt x="3314700" y="333375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33198E4A-12A0-475D-A269-65415BD3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83198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sz="900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Protect documents and isolate mock-provider behavior.</a:t>
            </a:r>
          </a:p>
        </p:txBody>
      </p:sp>
      <p:sp>
        <p:nvSpPr>
          <p:cNvPr id="46" name="Shape 38">
            <a:extLst xmlns:a="http://schemas.openxmlformats.org/drawingml/2006/main">
              <a:ext uri="{FF2B5EF4-FFF2-40B4-BE49-F238E27FC236}">
                <a16:creationId xmlns:a16="http://schemas.microsoft.com/office/drawing/2014/main" id="{428B89A9-BC07-48DB-BE39-BD659312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4614"/>
            <a:ext cx="8229600" cy="404813"/>
          </a:xfrm>
          <a:custGeom xmlns:a="http://schemas.openxmlformats.org/drawingml/2006/main">
            <a:rect l="l" t="t" r="r" b="b"/>
            <a:pathLst>
              <a:path w="8229600" h="404813">
                <a:moveTo>
                  <a:pt x="53787" y="0"/>
                </a:moveTo>
                <a:lnTo>
                  <a:pt x="8175813" y="0"/>
                </a:lnTo>
                <a:quadBezTo>
                  <a:pt x="8229600" y="0"/>
                  <a:pt x="8229600" y="53787"/>
                </a:quadBezTo>
                <a:lnTo>
                  <a:pt x="8229600" y="351025"/>
                </a:lnTo>
                <a:quadBezTo>
                  <a:pt x="8229600" y="404813"/>
                  <a:pt x="8175813" y="404813"/>
                </a:quadBezTo>
                <a:lnTo>
                  <a:pt x="53787" y="404813"/>
                </a:lnTo>
                <a:quadBezTo>
                  <a:pt x="0" y="404813"/>
                  <a:pt x="0" y="351025"/>
                </a:quadBezTo>
                <a:lnTo>
                  <a:pt x="0" y="53787"/>
                </a:lnTo>
                <a:quadBezTo>
                  <a:pt x="0" y="0"/>
                  <a:pt x="53787" y="0"/>
                </a:quadBezTo>
                <a:close/>
              </a:path>
            </a:pathLst>
          </a:custGeom>
          <a:solidFill xmlns:a="http://schemas.openxmlformats.org/drawingml/2006/main">
            <a:srgbClr val="142033"/>
          </a:solidFill>
        </p:spPr>
      </p:sp>
      <p:pic>
        <p:nvPicPr>
          <p:cNvPr id="10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c9b2cb9a14c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" y="4550322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48" name="Shape 39">
            <a:extLst xmlns:a="http://schemas.openxmlformats.org/drawingml/2006/main">
              <a:ext uri="{FF2B5EF4-FFF2-40B4-BE49-F238E27FC236}">
                <a16:creationId xmlns:a16="http://schemas.microsoft.com/office/drawing/2014/main" id="{D340EF44-4A5E-40AE-9EC4-A334F7F4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76" y="4533676"/>
            <a:ext cx="3347342" cy="166687"/>
          </a:xfrm>
          <a:custGeom xmlns:a="http://schemas.openxmlformats.org/drawingml/2006/main">
            <a:rect l="l" t="t" r="r" b="b"/>
            <a:pathLst>
              <a:path w="3347342" h="166687">
                <a:moveTo>
                  <a:pt x="0" y="0"/>
                </a:moveTo>
                <a:lnTo>
                  <a:pt x="3347342" y="0"/>
                </a:lnTo>
                <a:lnTo>
                  <a:pt x="3347342" y="166687"/>
                </a:lnTo>
                <a:lnTo>
                  <a:pt x="0" y="16668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9" name="Text 40">
            <a:extLst xmlns:a="http://schemas.openxmlformats.org/drawingml/2006/main">
              <a:ext uri="{FF2B5EF4-FFF2-40B4-BE49-F238E27FC236}">
                <a16:creationId xmlns:a16="http://schemas.microsoft.com/office/drawing/2014/main" id="{2FAAD1A6-C8BC-4DC2-A9D0-148E2F11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76" y="4533676"/>
            <a:ext cx="3347342" cy="1666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4783"/>
              </a:lnSpc>
              <a:spcBef>
                <a:spcPts val="281"/>
              </a:spcBef>
              <a:buNone/>
            </a:pPr>
            <a:r>
              <a:rPr sz="1001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Control is explicit at every trust boundary.</a:t>
            </a:r>
          </a:p>
        </p:txBody>
      </p:sp>
      <p:sp>
        <p:nvSpPr>
          <p:cNvPr id="50" name="Shape 41">
            <a:extLst xmlns:a="http://schemas.openxmlformats.org/drawingml/2006/main">
              <a:ext uri="{FF2B5EF4-FFF2-40B4-BE49-F238E27FC236}">
                <a16:creationId xmlns:a16="http://schemas.microsoft.com/office/drawing/2014/main" id="{183D6D8F-4161-40D5-BF8E-2E40D683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944" y="4547964"/>
            <a:ext cx="1952625" cy="138113"/>
          </a:xfrm>
          <a:custGeom xmlns:a="http://schemas.openxmlformats.org/drawingml/2006/main">
            <a:rect l="l" t="t" r="r" b="b"/>
            <a:pathLst>
              <a:path w="1952625" h="138113">
                <a:moveTo>
                  <a:pt x="0" y="0"/>
                </a:moveTo>
                <a:lnTo>
                  <a:pt x="1952625" y="0"/>
                </a:lnTo>
                <a:lnTo>
                  <a:pt x="1952625" y="138113"/>
                </a:lnTo>
                <a:lnTo>
                  <a:pt x="0" y="1381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51" name="Text 42">
            <a:extLst xmlns:a="http://schemas.openxmlformats.org/drawingml/2006/main">
              <a:ext uri="{FF2B5EF4-FFF2-40B4-BE49-F238E27FC236}">
                <a16:creationId xmlns:a16="http://schemas.microsoft.com/office/drawing/2014/main" id="{2675F0FC-E9F4-45B8-9D25-7B6A6B85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944" y="4547964"/>
            <a:ext cx="1952625" cy="1381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sz="799">
                <a:solidFill>
                  <a:srgbClr val="B8C7D9"/>
                </a:solidFill>
                <a:latin typeface="Montserrat"/>
                <a:ea typeface="Montserrat"/>
                <a:cs typeface="Montserrat"/>
              </a:rPr>
              <a:t>Consent → verify → own → transition</a:t>
            </a:r>
          </a:p>
        </p:txBody>
      </p:sp>
    </p:spTree>
    <p:extLst>
      <p:ext uri="{BB962C8B-B14F-4D97-AF65-F5344CB8AC3E}">
        <p14:creationId xmlns:p14="http://schemas.microsoft.com/office/powerpoint/2010/main" val="1861361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277EC79-F905-4BDF-8C42-6BC39BDC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F79A921-746A-4FAE-BC80-0F6F96B6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7F9FC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79E9FFC-76B4-40E0-8580-6CC5A513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0978"/>
            <a:ext cx="8267700" cy="138113"/>
          </a:xfrm>
          <a:custGeom xmlns:a="http://schemas.openxmlformats.org/drawingml/2006/main"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98E4176-CF04-42B8-BE26-C7386356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0978"/>
            <a:ext cx="8267700" cy="1381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IMPACT &amp; SCALE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D0A856E-E324-4E6D-B8BC-B139BF8E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5343"/>
            <a:ext cx="6762750" cy="657225"/>
          </a:xfrm>
          <a:custGeom xmlns:a="http://schemas.openxmlformats.org/drawingml/2006/main">
            <a:rect l="l" t="t" r="r" b="b"/>
            <a:pathLst>
              <a:path w="6762750" h="657225">
                <a:moveTo>
                  <a:pt x="0" y="0"/>
                </a:moveTo>
                <a:lnTo>
                  <a:pt x="6762750" y="0"/>
                </a:lnTo>
                <a:lnTo>
                  <a:pt x="6762750" y="65722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2B13B2F-CE3E-4506-B6BF-444C3D59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5343"/>
            <a:ext cx="676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sz="2402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A reusable layer for clearer, more guided service journeys.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84F0061-B937-40D2-90D1-3203447B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19312"/>
            <a:ext cx="5334000" cy="400050"/>
          </a:xfrm>
          <a:custGeom xmlns:a="http://schemas.openxmlformats.org/drawingml/2006/main">
            <a:rect l="l" t="t" r="r" b="b"/>
            <a:pathLst>
              <a:path w="5334000" h="400050">
                <a:moveTo>
                  <a:pt x="0" y="0"/>
                </a:moveTo>
                <a:lnTo>
                  <a:pt x="5334000" y="0"/>
                </a:lnTo>
                <a:lnTo>
                  <a:pt x="5334000" y="400050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3DAD277-7C6B-49AA-933A-61393596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19312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4348"/>
              </a:lnSpc>
              <a:spcBef>
                <a:spcPts val="281"/>
              </a:spcBef>
              <a:buNone/>
            </a:pPr>
            <a:r>
              <a:rPr sz="1103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One service foundation that guides citizens today and expands across government workflows tomorrow.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8CA2450-97B0-425B-A2C0-B49A00CA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90837"/>
            <a:ext cx="2628900" cy="1766887"/>
          </a:xfrm>
          <a:custGeom xmlns:a="http://schemas.openxmlformats.org/drawingml/2006/main">
            <a:rect l="l" t="t" r="r" b="b"/>
            <a:pathLst>
              <a:path w="2628900" h="1766887">
                <a:moveTo>
                  <a:pt x="59155" y="0"/>
                </a:moveTo>
                <a:lnTo>
                  <a:pt x="2569745" y="0"/>
                </a:lnTo>
                <a:quadBezTo>
                  <a:pt x="2628900" y="0"/>
                  <a:pt x="2628900" y="59155"/>
                </a:quadBezTo>
                <a:lnTo>
                  <a:pt x="2628900" y="1707732"/>
                </a:lnTo>
                <a:quadBezTo>
                  <a:pt x="2628900" y="1766887"/>
                  <a:pt x="2569745" y="1766887"/>
                </a:quadBezTo>
                <a:lnTo>
                  <a:pt x="59155" y="1766887"/>
                </a:lnTo>
                <a:quadBezTo>
                  <a:pt x="0" y="1766887"/>
                  <a:pt x="0" y="1707732"/>
                </a:quadBezTo>
                <a:lnTo>
                  <a:pt x="0" y="59155"/>
                </a:lnTo>
                <a:quadBezTo>
                  <a:pt x="0" y="0"/>
                  <a:pt x="59155" y="0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61925" dist="66675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E9614B9-4B57-4D73-BCE6-4014ED91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9462"/>
            <a:ext cx="295275" cy="295275"/>
          </a:xfrm>
          <a:custGeom xmlns:a="http://schemas.openxmlformats.org/drawingml/2006/main">
            <a:rect l="l" t="t" r="r" b="b"/>
            <a:pathLst>
              <a:path w="295275" h="295275">
                <a:moveTo>
                  <a:pt x="66369" y="0"/>
                </a:moveTo>
                <a:lnTo>
                  <a:pt x="228906" y="0"/>
                </a:lnTo>
                <a:quadBezTo>
                  <a:pt x="295275" y="0"/>
                  <a:pt x="295275" y="66369"/>
                </a:quadBezTo>
                <a:lnTo>
                  <a:pt x="295275" y="228906"/>
                </a:lnTo>
                <a:quadBezTo>
                  <a:pt x="295275" y="295275"/>
                  <a:pt x="228906" y="295275"/>
                </a:quadBezTo>
                <a:lnTo>
                  <a:pt x="66369" y="295275"/>
                </a:lnTo>
                <a:quadBezTo>
                  <a:pt x="0" y="295275"/>
                  <a:pt x="0" y="228906"/>
                </a:quadBezTo>
                <a:lnTo>
                  <a:pt x="0" y="66369"/>
                </a:lnTo>
                <a:quadBezTo>
                  <a:pt x="0" y="0"/>
                  <a:pt x="66369" y="0"/>
                </a:quadBezTo>
                <a:close/>
              </a:path>
            </a:pathLst>
          </a:custGeom>
          <a:solidFill xmlns:a="http://schemas.openxmlformats.org/drawingml/2006/main">
            <a:srgbClr val="EEF3F8"/>
          </a:solidFill>
        </p:spPr>
      </p:sp>
      <p:pic>
        <p:nvPicPr>
          <p:cNvPr id="6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0a1e1783947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9137" y="25909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FB3D03B-8E88-4271-88BD-7FF46EFD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820" y="2588519"/>
            <a:ext cx="109537" cy="157163"/>
          </a:xfrm>
          <a:custGeom xmlns:a="http://schemas.openxmlformats.org/drawingml/2006/main">
            <a:rect l="l" t="t" r="r" b="b"/>
            <a:pathLst>
              <a:path w="109537" h="157163">
                <a:moveTo>
                  <a:pt x="0" y="0"/>
                </a:moveTo>
                <a:lnTo>
                  <a:pt x="109537" y="0"/>
                </a:lnTo>
                <a:lnTo>
                  <a:pt x="109537" y="157163"/>
                </a:lnTo>
                <a:lnTo>
                  <a:pt x="0" y="1571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462EB58-C43A-4BFE-A0EF-E622C0A1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820" y="2588519"/>
            <a:ext cx="109537" cy="1571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6E7B8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5C5D80-6536-4054-B9E9-122F500D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3795"/>
            <a:ext cx="2209800" cy="161925"/>
          </a:xfrm>
          <a:custGeom xmlns:a="http://schemas.openxmlformats.org/drawingml/2006/main">
            <a:rect l="l" t="t" r="r" b="b"/>
            <a:pathLst>
              <a:path w="2209800" h="161925">
                <a:moveTo>
                  <a:pt x="0" y="0"/>
                </a:moveTo>
                <a:lnTo>
                  <a:pt x="2209800" y="0"/>
                </a:lnTo>
                <a:lnTo>
                  <a:pt x="2209800" y="161925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93C21AE-AFAF-474B-BB72-F3DAA824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3795"/>
            <a:ext cx="220980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sz="1001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For citizens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2C56CB8-58FF-431C-AF5C-06A17165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42370"/>
            <a:ext cx="2209800" cy="228600"/>
          </a:xfrm>
          <a:custGeom xmlns:a="http://schemas.openxmlformats.org/drawingml/2006/main">
            <a:rect l="l" t="t" r="r" b="b"/>
            <a:pathLst>
              <a:path w="2209800" h="228600">
                <a:moveTo>
                  <a:pt x="0" y="0"/>
                </a:moveTo>
                <a:lnTo>
                  <a:pt x="2209800" y="0"/>
                </a:lnTo>
                <a:lnTo>
                  <a:pt x="2209800" y="2286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5DF1342-5014-4971-B3AC-2BC622BC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4237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8261"/>
              </a:lnSpc>
              <a:spcBef>
                <a:spcPts val="281"/>
              </a:spcBef>
              <a:buNone/>
            </a:pPr>
            <a:r>
              <a:rPr sz="1598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Less friction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76AED17-2DBE-48CA-89F0-79EACBB5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8590"/>
            <a:ext cx="1857375" cy="338137"/>
          </a:xfrm>
          <a:custGeom xmlns:a="http://schemas.openxmlformats.org/drawingml/2006/main">
            <a:rect l="l" t="t" r="r" b="b"/>
            <a:pathLst>
              <a:path w="1857375" h="338137">
                <a:moveTo>
                  <a:pt x="0" y="0"/>
                </a:moveTo>
                <a:lnTo>
                  <a:pt x="1857375" y="0"/>
                </a:lnTo>
                <a:lnTo>
                  <a:pt x="1857375" y="338137"/>
                </a:lnTo>
                <a:lnTo>
                  <a:pt x="0" y="33813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C0995C8-F596-4431-BA37-B29E53D8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8590"/>
            <a:ext cx="1857375" cy="3381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8696"/>
              </a:lnSpc>
              <a:spcBef>
                <a:spcPts val="281"/>
              </a:spcBef>
              <a:buNone/>
            </a:pPr>
            <a:r>
              <a:rPr sz="900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Clearer status from intent through completion.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AF33FEF-DE63-4B4F-B406-171FC239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90837"/>
            <a:ext cx="2628900" cy="1766887"/>
          </a:xfrm>
          <a:custGeom xmlns:a="http://schemas.openxmlformats.org/drawingml/2006/main">
            <a:rect l="l" t="t" r="r" b="b"/>
            <a:pathLst>
              <a:path w="2628900" h="1766887">
                <a:moveTo>
                  <a:pt x="59155" y="0"/>
                </a:moveTo>
                <a:lnTo>
                  <a:pt x="2569745" y="0"/>
                </a:lnTo>
                <a:quadBezTo>
                  <a:pt x="2628900" y="0"/>
                  <a:pt x="2628900" y="59155"/>
                </a:quadBezTo>
                <a:lnTo>
                  <a:pt x="2628900" y="1707732"/>
                </a:lnTo>
                <a:quadBezTo>
                  <a:pt x="2628900" y="1766887"/>
                  <a:pt x="2569745" y="1766887"/>
                </a:quadBezTo>
                <a:lnTo>
                  <a:pt x="59155" y="1766887"/>
                </a:lnTo>
                <a:quadBezTo>
                  <a:pt x="0" y="1766887"/>
                  <a:pt x="0" y="1707732"/>
                </a:quadBezTo>
                <a:lnTo>
                  <a:pt x="0" y="59155"/>
                </a:lnTo>
                <a:quadBezTo>
                  <a:pt x="0" y="0"/>
                  <a:pt x="59155" y="0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61925" dist="66675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30491BC1-E1FE-4DAE-8B7B-C0113B96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19462"/>
            <a:ext cx="295275" cy="295275"/>
          </a:xfrm>
          <a:custGeom xmlns:a="http://schemas.openxmlformats.org/drawingml/2006/main">
            <a:rect l="l" t="t" r="r" b="b"/>
            <a:pathLst>
              <a:path w="295275" h="295275">
                <a:moveTo>
                  <a:pt x="66369" y="0"/>
                </a:moveTo>
                <a:lnTo>
                  <a:pt x="228906" y="0"/>
                </a:lnTo>
                <a:quadBezTo>
                  <a:pt x="295275" y="0"/>
                  <a:pt x="295275" y="66369"/>
                </a:quadBezTo>
                <a:lnTo>
                  <a:pt x="295275" y="228906"/>
                </a:lnTo>
                <a:quadBezTo>
                  <a:pt x="295275" y="295275"/>
                  <a:pt x="228906" y="295275"/>
                </a:quadBezTo>
                <a:lnTo>
                  <a:pt x="66369" y="295275"/>
                </a:lnTo>
                <a:quadBezTo>
                  <a:pt x="0" y="295275"/>
                  <a:pt x="0" y="228906"/>
                </a:quadBezTo>
                <a:lnTo>
                  <a:pt x="0" y="66369"/>
                </a:lnTo>
                <a:quadBezTo>
                  <a:pt x="0" y="0"/>
                  <a:pt x="66369" y="0"/>
                </a:quadBezTo>
                <a:close/>
              </a:path>
            </a:pathLst>
          </a:custGeom>
          <a:solidFill xmlns:a="http://schemas.openxmlformats.org/drawingml/2006/main">
            <a:srgbClr val="EAF6F3"/>
          </a:solidFill>
        </p:spPr>
      </p:sp>
      <p:pic>
        <p:nvPicPr>
          <p:cNvPr id="7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dbefb0b8f4a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38538" y="25909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919D04D8-3D38-491E-998B-67641870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944" y="2588519"/>
            <a:ext cx="133350" cy="157163"/>
          </a:xfrm>
          <a:custGeom xmlns:a="http://schemas.openxmlformats.org/drawingml/2006/main">
            <a:rect l="l" t="t" r="r" b="b"/>
            <a:pathLst>
              <a:path w="133350" h="157163">
                <a:moveTo>
                  <a:pt x="0" y="0"/>
                </a:moveTo>
                <a:lnTo>
                  <a:pt x="133350" y="0"/>
                </a:lnTo>
                <a:lnTo>
                  <a:pt x="133350" y="157163"/>
                </a:lnTo>
                <a:lnTo>
                  <a:pt x="0" y="1571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62F20CF-1044-435C-8E21-EC94676A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944" y="2588519"/>
            <a:ext cx="133350" cy="1571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6E7B8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F8E84F0D-72DA-4773-9B26-70487074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13795"/>
            <a:ext cx="2209800" cy="161925"/>
          </a:xfrm>
          <a:custGeom xmlns:a="http://schemas.openxmlformats.org/drawingml/2006/main">
            <a:rect l="l" t="t" r="r" b="b"/>
            <a:pathLst>
              <a:path w="2209800" h="161925">
                <a:moveTo>
                  <a:pt x="0" y="0"/>
                </a:moveTo>
                <a:lnTo>
                  <a:pt x="2209800" y="0"/>
                </a:lnTo>
                <a:lnTo>
                  <a:pt x="2209800" y="161925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629F7543-1BAC-4204-A8D5-128F83E7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13795"/>
            <a:ext cx="220980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sz="1001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For government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70F24166-6E7B-45DA-BA17-47A942F7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42370"/>
            <a:ext cx="2209800" cy="228600"/>
          </a:xfrm>
          <a:custGeom xmlns:a="http://schemas.openxmlformats.org/drawingml/2006/main">
            <a:rect l="l" t="t" r="r" b="b"/>
            <a:pathLst>
              <a:path w="2209800" h="228600">
                <a:moveTo>
                  <a:pt x="0" y="0"/>
                </a:moveTo>
                <a:lnTo>
                  <a:pt x="2209800" y="0"/>
                </a:lnTo>
                <a:lnTo>
                  <a:pt x="2209800" y="2286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6A04512F-35F3-4862-80F5-59B5BEEA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4237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8261"/>
              </a:lnSpc>
              <a:spcBef>
                <a:spcPts val="281"/>
              </a:spcBef>
              <a:buNone/>
            </a:pPr>
            <a:r>
              <a:rPr sz="1598" b="1">
                <a:solidFill>
                  <a:srgbClr val="1E8E7E"/>
                </a:solidFill>
                <a:latin typeface="Montserrat"/>
                <a:ea typeface="Montserrat"/>
                <a:cs typeface="Montserrat"/>
              </a:rPr>
              <a:t>Structured review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A7D56BA-AF4B-4643-98CB-214A0FD7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38590"/>
            <a:ext cx="1952625" cy="338137"/>
          </a:xfrm>
          <a:custGeom xmlns:a="http://schemas.openxmlformats.org/drawingml/2006/main">
            <a:rect l="l" t="t" r="r" b="b"/>
            <a:pathLst>
              <a:path w="1952625" h="338137">
                <a:moveTo>
                  <a:pt x="0" y="0"/>
                </a:moveTo>
                <a:lnTo>
                  <a:pt x="1952625" y="0"/>
                </a:lnTo>
                <a:lnTo>
                  <a:pt x="1952625" y="338137"/>
                </a:lnTo>
                <a:lnTo>
                  <a:pt x="0" y="33813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5B409457-FA02-431C-BC05-13AF2969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38590"/>
            <a:ext cx="1952625" cy="3381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8696"/>
              </a:lnSpc>
              <a:spcBef>
                <a:spcPts val="281"/>
              </a:spcBef>
              <a:buNone/>
            </a:pPr>
            <a:r>
              <a:rPr sz="900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Advisory AI supports review while officers retain ownership.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18EB3ED8-B02F-4607-9898-CB44C33D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90837"/>
            <a:ext cx="2628900" cy="1766887"/>
          </a:xfrm>
          <a:custGeom xmlns:a="http://schemas.openxmlformats.org/drawingml/2006/main">
            <a:rect l="l" t="t" r="r" b="b"/>
            <a:pathLst>
              <a:path w="2628900" h="1766887">
                <a:moveTo>
                  <a:pt x="59155" y="0"/>
                </a:moveTo>
                <a:lnTo>
                  <a:pt x="2569745" y="0"/>
                </a:lnTo>
                <a:quadBezTo>
                  <a:pt x="2628900" y="0"/>
                  <a:pt x="2628900" y="59155"/>
                </a:quadBezTo>
                <a:lnTo>
                  <a:pt x="2628900" y="1707732"/>
                </a:lnTo>
                <a:quadBezTo>
                  <a:pt x="2628900" y="1766887"/>
                  <a:pt x="2569745" y="1766887"/>
                </a:quadBezTo>
                <a:lnTo>
                  <a:pt x="59155" y="1766887"/>
                </a:lnTo>
                <a:quadBezTo>
                  <a:pt x="0" y="1766887"/>
                  <a:pt x="0" y="1707732"/>
                </a:quadBezTo>
                <a:lnTo>
                  <a:pt x="0" y="59155"/>
                </a:lnTo>
                <a:quadBezTo>
                  <a:pt x="0" y="0"/>
                  <a:pt x="59155" y="0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61925" dist="66675" dir="2700000" algn="bl" rotWithShape="0">
              <a:srgbClr val="142033">
                <a:alpha val="7059"/>
              </a:srgbClr>
            </a:outerShdw>
          </a:effectLst>
        </p:spPr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381336FD-7D2D-4861-8969-F4DA6A99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9462"/>
            <a:ext cx="295275" cy="295275"/>
          </a:xfrm>
          <a:custGeom xmlns:a="http://schemas.openxmlformats.org/drawingml/2006/main">
            <a:rect l="l" t="t" r="r" b="b"/>
            <a:pathLst>
              <a:path w="295275" h="295275">
                <a:moveTo>
                  <a:pt x="66369" y="0"/>
                </a:moveTo>
                <a:lnTo>
                  <a:pt x="228906" y="0"/>
                </a:lnTo>
                <a:quadBezTo>
                  <a:pt x="295275" y="0"/>
                  <a:pt x="295275" y="66369"/>
                </a:quadBezTo>
                <a:lnTo>
                  <a:pt x="295275" y="228906"/>
                </a:lnTo>
                <a:quadBezTo>
                  <a:pt x="295275" y="295275"/>
                  <a:pt x="228906" y="295275"/>
                </a:quadBezTo>
                <a:lnTo>
                  <a:pt x="66369" y="295275"/>
                </a:lnTo>
                <a:quadBezTo>
                  <a:pt x="0" y="295275"/>
                  <a:pt x="0" y="228906"/>
                </a:quadBezTo>
                <a:lnTo>
                  <a:pt x="0" y="66369"/>
                </a:lnTo>
                <a:quadBezTo>
                  <a:pt x="0" y="0"/>
                  <a:pt x="66369" y="0"/>
                </a:quadBezTo>
                <a:close/>
              </a:path>
            </a:pathLst>
          </a:custGeom>
          <a:solidFill xmlns:a="http://schemas.openxmlformats.org/drawingml/2006/main">
            <a:srgbClr val="EEF3F8"/>
          </a:solidFill>
        </p:spPr>
      </p:sp>
      <p:pic>
        <p:nvPicPr>
          <p:cNvPr id="8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d8d4aac6c4e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7938" y="25909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4DDA3BEA-B71F-4F35-817D-09716389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546" y="2588519"/>
            <a:ext cx="133350" cy="157163"/>
          </a:xfrm>
          <a:custGeom xmlns:a="http://schemas.openxmlformats.org/drawingml/2006/main">
            <a:rect l="l" t="t" r="r" b="b"/>
            <a:pathLst>
              <a:path w="133350" h="157163">
                <a:moveTo>
                  <a:pt x="0" y="0"/>
                </a:moveTo>
                <a:lnTo>
                  <a:pt x="133350" y="0"/>
                </a:lnTo>
                <a:lnTo>
                  <a:pt x="133350" y="157163"/>
                </a:lnTo>
                <a:lnTo>
                  <a:pt x="0" y="15716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807F7ABE-9958-4671-B79F-F6B26F7D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546" y="2588519"/>
            <a:ext cx="133350" cy="1571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sz="799" b="1">
                <a:solidFill>
                  <a:srgbClr val="6E7B8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37" name="Shape 32">
            <a:extLst xmlns:a="http://schemas.openxmlformats.org/drawingml/2006/main">
              <a:ext uri="{FF2B5EF4-FFF2-40B4-BE49-F238E27FC236}">
                <a16:creationId xmlns:a16="http://schemas.microsoft.com/office/drawing/2014/main" id="{FAA9F3F6-4D25-4F6B-AE2D-ACDC88DF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3795"/>
            <a:ext cx="2209800" cy="161925"/>
          </a:xfrm>
          <a:custGeom xmlns:a="http://schemas.openxmlformats.org/drawingml/2006/main">
            <a:rect l="l" t="t" r="r" b="b"/>
            <a:pathLst>
              <a:path w="2209800" h="161925">
                <a:moveTo>
                  <a:pt x="0" y="0"/>
                </a:moveTo>
                <a:lnTo>
                  <a:pt x="2209800" y="0"/>
                </a:lnTo>
                <a:lnTo>
                  <a:pt x="2209800" y="161925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8" name="Text 33">
            <a:extLst xmlns:a="http://schemas.openxmlformats.org/drawingml/2006/main">
              <a:ext uri="{FF2B5EF4-FFF2-40B4-BE49-F238E27FC236}">
                <a16:creationId xmlns:a16="http://schemas.microsoft.com/office/drawing/2014/main" id="{3442AB54-E6B9-4E04-95DA-7D612DA9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3795"/>
            <a:ext cx="220980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sz="1001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Future roadmap</a:t>
            </a:r>
          </a:p>
        </p:txBody>
      </p:sp>
      <p:sp>
        <p:nvSpPr>
          <p:cNvPr id="39" name="Shape 34">
            <a:extLst xmlns:a="http://schemas.openxmlformats.org/drawingml/2006/main">
              <a:ext uri="{FF2B5EF4-FFF2-40B4-BE49-F238E27FC236}">
                <a16:creationId xmlns:a16="http://schemas.microsoft.com/office/drawing/2014/main" id="{98369C60-01A9-47D4-BBC8-CC6BA6D6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42370"/>
            <a:ext cx="2209800" cy="228600"/>
          </a:xfrm>
          <a:custGeom xmlns:a="http://schemas.openxmlformats.org/drawingml/2006/main">
            <a:rect l="l" t="t" r="r" b="b"/>
            <a:pathLst>
              <a:path w="2209800" h="228600">
                <a:moveTo>
                  <a:pt x="0" y="0"/>
                </a:moveTo>
                <a:lnTo>
                  <a:pt x="2209800" y="0"/>
                </a:lnTo>
                <a:lnTo>
                  <a:pt x="2209800" y="2286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0" name="Text 35">
            <a:extLst xmlns:a="http://schemas.openxmlformats.org/drawingml/2006/main">
              <a:ext uri="{FF2B5EF4-FFF2-40B4-BE49-F238E27FC236}">
                <a16:creationId xmlns:a16="http://schemas.microsoft.com/office/drawing/2014/main" id="{828F328C-88F4-4DB6-9652-EB9583B5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4237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8261"/>
              </a:lnSpc>
              <a:spcBef>
                <a:spcPts val="281"/>
              </a:spcBef>
              <a:buNone/>
            </a:pPr>
            <a:r>
              <a:rPr sz="1598" b="1">
                <a:solidFill>
                  <a:srgbClr val="2F6FED"/>
                </a:solidFill>
                <a:latin typeface="Montserrat"/>
                <a:ea typeface="Montserrat"/>
                <a:cs typeface="Montserrat"/>
              </a:rPr>
              <a:t>More services</a:t>
            </a:r>
          </a:p>
        </p:txBody>
      </p:sp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1D471173-94AE-4B8F-BF9B-E8F88774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38590"/>
            <a:ext cx="1905000" cy="338137"/>
          </a:xfrm>
          <a:custGeom xmlns:a="http://schemas.openxmlformats.org/drawingml/2006/main">
            <a:rect l="l" t="t" r="r" b="b"/>
            <a:pathLst>
              <a:path w="1905000" h="338137">
                <a:moveTo>
                  <a:pt x="0" y="0"/>
                </a:moveTo>
                <a:lnTo>
                  <a:pt x="1905000" y="0"/>
                </a:lnTo>
                <a:lnTo>
                  <a:pt x="1905000" y="338137"/>
                </a:lnTo>
                <a:lnTo>
                  <a:pt x="0" y="33813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2" name="Text 37">
            <a:extLst xmlns:a="http://schemas.openxmlformats.org/drawingml/2006/main">
              <a:ext uri="{FF2B5EF4-FFF2-40B4-BE49-F238E27FC236}">
                <a16:creationId xmlns:a16="http://schemas.microsoft.com/office/drawing/2014/main" id="{FC90FA54-B610-460C-AE7B-42C6060A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38590"/>
            <a:ext cx="1905000" cy="3381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8696"/>
              </a:lnSpc>
              <a:spcBef>
                <a:spcPts val="281"/>
              </a:spcBef>
              <a:buNone/>
            </a:pPr>
            <a:r>
              <a:rPr sz="900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A reusable layer designed to extend beyond one journey.</a:t>
            </a:r>
          </a:p>
        </p:txBody>
      </p:sp>
      <p:sp>
        <p:nvSpPr>
          <p:cNvPr id="43" name="Shape 38">
            <a:extLst xmlns:a="http://schemas.openxmlformats.org/drawingml/2006/main">
              <a:ext uri="{FF2B5EF4-FFF2-40B4-BE49-F238E27FC236}">
                <a16:creationId xmlns:a16="http://schemas.microsoft.com/office/drawing/2014/main" id="{6F69842E-5E4C-4358-B3E5-A52FEE7F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257726"/>
            <a:ext cx="8267700" cy="438150"/>
          </a:xfrm>
          <a:custGeom xmlns:a="http://schemas.openxmlformats.org/drawingml/2006/main">
            <a:rect l="l" t="t" r="r" b="b"/>
            <a:pathLst>
              <a:path w="8267700" h="438150">
                <a:moveTo>
                  <a:pt x="44726" y="0"/>
                </a:moveTo>
                <a:lnTo>
                  <a:pt x="8222974" y="0"/>
                </a:lnTo>
                <a:quadBezTo>
                  <a:pt x="8267700" y="0"/>
                  <a:pt x="8267700" y="44726"/>
                </a:quadBezTo>
                <a:lnTo>
                  <a:pt x="8267700" y="393424"/>
                </a:lnTo>
                <a:quadBezTo>
                  <a:pt x="8267700" y="438150"/>
                  <a:pt x="8222974" y="438150"/>
                </a:quadBezTo>
                <a:lnTo>
                  <a:pt x="44726" y="438150"/>
                </a:lnTo>
                <a:quadBezTo>
                  <a:pt x="0" y="438150"/>
                  <a:pt x="0" y="393424"/>
                </a:quadBezTo>
                <a:lnTo>
                  <a:pt x="0" y="44726"/>
                </a:lnTo>
                <a:quadBezTo>
                  <a:pt x="0" y="0"/>
                  <a:pt x="44726" y="0"/>
                </a:quadBezTo>
                <a:close/>
              </a:path>
            </a:pathLst>
          </a:custGeom>
          <a:solidFill xmlns:a="http://schemas.openxmlformats.org/drawingml/2006/main">
            <a:srgbClr val="EEF3F8"/>
          </a:solidFill>
        </p:spPr>
      </p:sp>
      <p:pic>
        <p:nvPicPr>
          <p:cNvPr id="9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b1f21df8441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441007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45" name="Shape 39">
            <a:extLst xmlns:a="http://schemas.openxmlformats.org/drawingml/2006/main">
              <a:ext uri="{FF2B5EF4-FFF2-40B4-BE49-F238E27FC236}">
                <a16:creationId xmlns:a16="http://schemas.microsoft.com/office/drawing/2014/main" id="{A2F10424-D2D4-4907-AF65-A5B4AE32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28" y="4402955"/>
            <a:ext cx="2293810" cy="147637"/>
          </a:xfrm>
          <a:custGeom xmlns:a="http://schemas.openxmlformats.org/drawingml/2006/main">
            <a:rect l="l" t="t" r="r" b="b"/>
            <a:pathLst>
              <a:path w="2293810" h="147637">
                <a:moveTo>
                  <a:pt x="0" y="0"/>
                </a:moveTo>
                <a:lnTo>
                  <a:pt x="2293810" y="0"/>
                </a:lnTo>
                <a:lnTo>
                  <a:pt x="2293810" y="147637"/>
                </a:lnTo>
                <a:lnTo>
                  <a:pt x="0" y="14763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6" name="Text 40">
            <a:extLst xmlns:a="http://schemas.openxmlformats.org/drawingml/2006/main">
              <a:ext uri="{FF2B5EF4-FFF2-40B4-BE49-F238E27FC236}">
                <a16:creationId xmlns:a16="http://schemas.microsoft.com/office/drawing/2014/main" id="{6D5F6831-3AF2-4312-A622-773F907F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28" y="4402955"/>
            <a:ext cx="2293810" cy="147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142033"/>
                </a:solidFill>
                <a:latin typeface="Montserrat"/>
                <a:ea typeface="Montserrat"/>
                <a:cs typeface="Montserrat"/>
              </a:rPr>
              <a:t>Current prototype</a:t>
            </a:r>
          </a:p>
        </p:txBody>
      </p:sp>
      <p:sp>
        <p:nvSpPr>
          <p:cNvPr id="47" name="Shape 41">
            <a:extLst xmlns:a="http://schemas.openxmlformats.org/drawingml/2006/main">
              <a:ext uri="{FF2B5EF4-FFF2-40B4-BE49-F238E27FC236}">
                <a16:creationId xmlns:a16="http://schemas.microsoft.com/office/drawing/2014/main" id="{BD3D5E2F-EED9-4FAE-A515-B8304BEB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317" y="4395787"/>
            <a:ext cx="5158664" cy="147637"/>
          </a:xfrm>
          <a:custGeom xmlns:a="http://schemas.openxmlformats.org/drawingml/2006/main">
            <a:rect l="l" t="t" r="r" b="b"/>
            <a:pathLst>
              <a:path w="5158664" h="147637">
                <a:moveTo>
                  <a:pt x="0" y="0"/>
                </a:moveTo>
                <a:lnTo>
                  <a:pt x="5158664" y="0"/>
                </a:lnTo>
                <a:lnTo>
                  <a:pt x="5158664" y="147637"/>
                </a:lnTo>
                <a:lnTo>
                  <a:pt x="0" y="14763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48" name="Text 42">
            <a:extLst xmlns:a="http://schemas.openxmlformats.org/drawingml/2006/main">
              <a:ext uri="{FF2B5EF4-FFF2-40B4-BE49-F238E27FC236}">
                <a16:creationId xmlns:a16="http://schemas.microsoft.com/office/drawing/2014/main" id="{0BFE3A81-167D-49C1-AFF8-44CE6C12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317" y="4395787"/>
            <a:ext cx="5158664" cy="147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sz="900">
                <a:solidFill>
                  <a:srgbClr val="4F5D73"/>
                </a:solidFill>
                <a:latin typeface="Montserrat"/>
                <a:ea typeface="Montserrat"/>
                <a:cs typeface="Montserrat"/>
              </a:rPr>
              <a:t>Synthetic and mocked — a foundation for validation, not a deployment claim.</a:t>
            </a:r>
          </a:p>
        </p:txBody>
      </p:sp>
      <p:pic>
        <p:nvPicPr>
          <p:cNvPr id="10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fdfb5df074e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" y="2290837"/>
            <a:ext cx="2628900" cy="1766887"/>
          </a:xfrm>
          <a:prstGeom xmlns:a="http://schemas.openxmlformats.org/drawingml/2006/main" prst="rect">
            <a:avLst/>
          </a:prstGeom>
        </p:spPr>
      </p:pic>
      <p:pic>
        <p:nvPicPr>
          <p:cNvPr id="10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81c1467e44d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7550" y="2290837"/>
            <a:ext cx="2628900" cy="1766887"/>
          </a:xfrm>
          <a:prstGeom xmlns:a="http://schemas.openxmlformats.org/drawingml/2006/main" prst="rect">
            <a:avLst/>
          </a:prstGeom>
        </p:spPr>
      </p:pic>
      <p:pic>
        <p:nvPicPr>
          <p:cNvPr id="10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c125276ee47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2290837"/>
            <a:ext cx="2628900" cy="17668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1769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EFA10078-3EBC-42DB-A87B-FCF5868D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0d886084940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5" name="Shape 1">
            <a:extLst xmlns:a="http://schemas.openxmlformats.org/drawingml/2006/main">
              <a:ext uri="{FF2B5EF4-FFF2-40B4-BE49-F238E27FC236}">
                <a16:creationId xmlns:a16="http://schemas.microsoft.com/office/drawing/2014/main" id="{39814B90-E1DE-4D55-865F-2E0DC0AC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rgbClr val="0C182B">
              <a:alpha val="67843"/>
            </a:srgbClr>
          </a:solidFill>
        </p:spPr>
      </p:sp>
      <p:sp>
        <p:nvSpPr>
          <p:cNvPr id="6" name="Shape 2">
            <a:extLst xmlns:a="http://schemas.openxmlformats.org/drawingml/2006/main">
              <a:ext uri="{FF2B5EF4-FFF2-40B4-BE49-F238E27FC236}">
                <a16:creationId xmlns:a16="http://schemas.microsoft.com/office/drawing/2014/main" id="{19549ECB-06F6-4213-835A-6D3B1C21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110" y="1527176"/>
            <a:ext cx="847725" cy="138113"/>
          </a:xfrm>
          <a:custGeom xmlns:a="http://schemas.openxmlformats.org/drawingml/2006/main">
            <a:rect l="l" t="t" r="r" b="b"/>
            <a:pathLst>
              <a:path w="847725" h="138113">
                <a:moveTo>
                  <a:pt x="0" y="0"/>
                </a:moveTo>
                <a:lnTo>
                  <a:pt x="847725" y="0"/>
                </a:lnTo>
                <a:lnTo>
                  <a:pt x="847725" y="138113"/>
                </a:lnTo>
                <a:lnTo>
                  <a:pt x="0" y="1381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97ADD0F8-7A99-4C3D-BCA8-37B595C9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110" y="1527176"/>
            <a:ext cx="847725" cy="1381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348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8BB9FF"/>
                </a:solidFill>
                <a:latin typeface="Montserrat"/>
                <a:ea typeface="Montserrat"/>
                <a:cs typeface="Montserrat"/>
              </a:rPr>
              <a:t>JANSEVA-X</a:t>
            </a: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8BCB4832-04D6-422C-978D-2A7E0963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69269"/>
            <a:ext cx="6000750" cy="700088"/>
          </a:xfrm>
          <a:custGeom xmlns:a="http://schemas.openxmlformats.org/drawingml/2006/main">
            <a:rect l="l" t="t" r="r" b="b"/>
            <a:pathLst>
              <a:path w="6000750" h="700088">
                <a:moveTo>
                  <a:pt x="0" y="0"/>
                </a:moveTo>
                <a:lnTo>
                  <a:pt x="6000750" y="0"/>
                </a:lnTo>
                <a:lnTo>
                  <a:pt x="6000750" y="700088"/>
                </a:lnTo>
                <a:lnTo>
                  <a:pt x="0" y="70008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3E3D7F4-ADF8-43A7-9FF5-B6203782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69269"/>
            <a:ext cx="6000750" cy="700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95652"/>
              </a:lnSpc>
              <a:spcBef>
                <a:spcPts val="281"/>
              </a:spcBef>
              <a:buNone/>
            </a:pPr>
            <a:r>
              <a:rPr sz="2498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Government services should understand citizens.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93B005B-1AB4-41AE-AF94-77438A58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630984"/>
            <a:ext cx="361950" cy="23812"/>
          </a:xfrm>
          <a:custGeom xmlns:a="http://schemas.openxmlformats.org/drawingml/2006/main">
            <a:rect l="l" t="t" r="r" b="b"/>
            <a:pathLst>
              <a:path w="361950" h="23812">
                <a:moveTo>
                  <a:pt x="21167" y="0"/>
                </a:moveTo>
                <a:lnTo>
                  <a:pt x="622300" y="0"/>
                </a:lnTo>
                <a:quadBezTo>
                  <a:pt x="643467" y="0"/>
                  <a:pt x="643467" y="21167"/>
                </a:quadBezTo>
                <a:lnTo>
                  <a:pt x="643467" y="21167"/>
                </a:lnTo>
                <a:quadBezTo>
                  <a:pt x="643467" y="42333"/>
                  <a:pt x="622300" y="42333"/>
                </a:quadBezTo>
                <a:lnTo>
                  <a:pt x="21167" y="42333"/>
                </a:lnTo>
                <a:quadBezTo>
                  <a:pt x="0" y="42333"/>
                  <a:pt x="0" y="21167"/>
                </a:quadBezTo>
                <a:lnTo>
                  <a:pt x="0" y="21167"/>
                </a:lnTo>
                <a:quadBezTo>
                  <a:pt x="0" y="0"/>
                  <a:pt x="21167" y="0"/>
                </a:quadBezTo>
                <a:close/>
              </a:path>
            </a:pathLst>
          </a:custGeom>
          <a:solidFill xmlns:a="http://schemas.openxmlformats.org/drawingml/2006/main">
            <a:srgbClr val="1E8E7E"/>
          </a:solidFill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FC6D952-BC16-4F24-A703-C010B2EF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97175"/>
            <a:ext cx="4476750" cy="438150"/>
          </a:xfrm>
          <a:custGeom xmlns:a="http://schemas.openxmlformats.org/drawingml/2006/main">
            <a:rect l="l" t="t" r="r" b="b"/>
            <a:pathLst>
              <a:path w="4476750" h="438150">
                <a:moveTo>
                  <a:pt x="0" y="0"/>
                </a:moveTo>
                <a:lnTo>
                  <a:pt x="4476750" y="0"/>
                </a:lnTo>
                <a:lnTo>
                  <a:pt x="4476750" y="438150"/>
                </a:lnTo>
                <a:lnTo>
                  <a:pt x="0" y="43815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2C6C3ED-AB1D-4B3B-97F5-ED981FC1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971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4348"/>
              </a:lnSpc>
              <a:spcBef>
                <a:spcPts val="281"/>
              </a:spcBef>
              <a:buNone/>
            </a:pPr>
            <a:r>
              <a:rPr sz="1198">
                <a:solidFill>
                  <a:srgbClr val="EEF3F8"/>
                </a:solidFill>
                <a:latin typeface="Montserrat"/>
                <a:ea typeface="Montserrat"/>
                <a:cs typeface="Montserrat"/>
              </a:rPr>
              <a:t>Tell JANSEVA-X what you need. We will help you get it done.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8FB5FBE-C244-48B2-ABD3-941E7A17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56" y="4772025"/>
            <a:ext cx="1919287" cy="114300"/>
          </a:xfrm>
          <a:custGeom xmlns:a="http://schemas.openxmlformats.org/drawingml/2006/main">
            <a:rect l="l" t="t" r="r" b="b"/>
            <a:pathLst>
              <a:path w="1919287" h="114300">
                <a:moveTo>
                  <a:pt x="0" y="0"/>
                </a:moveTo>
                <a:lnTo>
                  <a:pt x="1919287" y="0"/>
                </a:lnTo>
                <a:lnTo>
                  <a:pt x="1919287" y="11430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A5F33AC-C612-4AD0-9C05-5050C7BB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56" y="4772025"/>
            <a:ext cx="1919287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sz="698" b="1">
                <a:solidFill>
                  <a:srgbClr val="D9E6F2"/>
                </a:solidFill>
                <a:latin typeface="Montserrat"/>
                <a:ea typeface="Montserrat"/>
                <a:cs typeface="Montserrat"/>
              </a:rPr>
              <a:t>A GUIDED APPLICATION JOURNEY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BD2B9DB-32C5-4BB4-A428-CA51D393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583" y="4772025"/>
            <a:ext cx="2319337" cy="114300"/>
          </a:xfrm>
          <a:custGeom xmlns:a="http://schemas.openxmlformats.org/drawingml/2006/main">
            <a:rect l="l" t="t" r="r" b="b"/>
            <a:pathLst>
              <a:path w="2319337" h="114300">
                <a:moveTo>
                  <a:pt x="0" y="0"/>
                </a:moveTo>
                <a:lnTo>
                  <a:pt x="2319337" y="0"/>
                </a:lnTo>
                <a:lnTo>
                  <a:pt x="2319337" y="11430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4618CF-5BA8-4151-8C78-D27916AD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583" y="4772025"/>
            <a:ext cx="2319337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sz="698">
                <a:solidFill>
                  <a:srgbClr val="D9E6F2"/>
                </a:solidFill>
                <a:latin typeface="Montserrat"/>
                <a:ea typeface="Montserrat"/>
                <a:cs typeface="Montserrat"/>
              </a:rPr>
              <a:t>Hackathon prototype · Public service innovation</a:t>
            </a:r>
          </a:p>
        </p:txBody>
      </p:sp>
    </p:spTree>
    <p:extLst>
      <p:ext uri="{BB962C8B-B14F-4D97-AF65-F5344CB8AC3E}">
        <p14:creationId xmlns:p14="http://schemas.microsoft.com/office/powerpoint/2010/main" val="13292534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2026-09-22T15:45:17.1040000Z</dcterms:created>
  <dcterms:modified xsi:type="dcterms:W3CDTF">2026-09-22T15:45:17.1040000Z</dcterms:modified>
</coreProperties>
</file>