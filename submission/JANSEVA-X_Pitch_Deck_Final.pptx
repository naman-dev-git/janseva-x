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37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C192B">
              <a:alpha val="61961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90690" y="170804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7FD3C6"/>
          </a:solidFill>
          <a:ln/>
        </p:spPr>
      </p:sp>
      <p:sp>
        <p:nvSpPr>
          <p:cNvPr id="6" name="Shape 3"/>
          <p:cNvSpPr/>
          <p:nvPr/>
        </p:nvSpPr>
        <p:spPr>
          <a:xfrm>
            <a:off x="4214813" y="1667570"/>
            <a:ext cx="838200" cy="138113"/>
          </a:xfrm>
          <a:custGeom>
            <a:avLst/>
            <a:gdLst/>
            <a:ahLst/>
            <a:cxnLst/>
            <a:rect l="l" t="t" r="r" b="b"/>
            <a:pathLst>
              <a:path w="838200" h="138113">
                <a:moveTo>
                  <a:pt x="0" y="0"/>
                </a:moveTo>
                <a:lnTo>
                  <a:pt x="838200" y="0"/>
                </a:lnTo>
                <a:lnTo>
                  <a:pt x="8382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14813" y="1667570"/>
            <a:ext cx="8382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JANSEVA-X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2125" y="1937342"/>
            <a:ext cx="5619750" cy="742950"/>
          </a:xfrm>
          <a:custGeom>
            <a:avLst/>
            <a:gdLst/>
            <a:ahLst/>
            <a:cxnLst/>
            <a:rect l="l" t="t" r="r" b="b"/>
            <a:pathLst>
              <a:path w="5619750" h="742950">
                <a:moveTo>
                  <a:pt x="0" y="0"/>
                </a:moveTo>
                <a:lnTo>
                  <a:pt x="5619750" y="0"/>
                </a:lnTo>
                <a:lnTo>
                  <a:pt x="561975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762125" y="1937342"/>
            <a:ext cx="5619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citizen intent to completed government application.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18927" y="4423752"/>
            <a:ext cx="3490912" cy="204787"/>
          </a:xfrm>
          <a:custGeom>
            <a:avLst/>
            <a:gdLst/>
            <a:ahLst/>
            <a:cxnLst/>
            <a:rect l="l" t="t" r="r" b="b"/>
            <a:pathLst>
              <a:path w="3490912" h="204787">
                <a:moveTo>
                  <a:pt x="0" y="0"/>
                </a:moveTo>
                <a:lnTo>
                  <a:pt x="3490912" y="0"/>
                </a:lnTo>
                <a:lnTo>
                  <a:pt x="3490912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918927" y="4423752"/>
            <a:ext cx="3490912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Intent-first. Consent-based. Officer-controlled.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627" y="3327745"/>
            <a:ext cx="123825" cy="1238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75544" y="3303933"/>
            <a:ext cx="511159" cy="171450"/>
          </a:xfrm>
          <a:custGeom>
            <a:avLst/>
            <a:gdLst/>
            <a:ahLst/>
            <a:cxnLst/>
            <a:rect l="l" t="t" r="r" b="b"/>
            <a:pathLst>
              <a:path w="511159" h="171450">
                <a:moveTo>
                  <a:pt x="0" y="0"/>
                </a:moveTo>
                <a:lnTo>
                  <a:pt x="511159" y="0"/>
                </a:lnTo>
                <a:lnTo>
                  <a:pt x="511159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175544" y="3303933"/>
            <a:ext cx="5111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00373" y="3322983"/>
            <a:ext cx="4763" cy="133350"/>
          </a:xfrm>
          <a:custGeom>
            <a:avLst/>
            <a:gdLst/>
            <a:ahLst/>
            <a:cxnLst/>
            <a:rect l="l" t="t" r="r" b="b"/>
            <a:pathLst>
              <a:path w="4763" h="133350">
                <a:moveTo>
                  <a:pt x="0" y="0"/>
                </a:moveTo>
                <a:lnTo>
                  <a:pt x="4763" y="0"/>
                </a:lnTo>
                <a:lnTo>
                  <a:pt x="4763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45098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835" y="3327745"/>
            <a:ext cx="123825" cy="12382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251794" y="3303933"/>
            <a:ext cx="706098" cy="171450"/>
          </a:xfrm>
          <a:custGeom>
            <a:avLst/>
            <a:gdLst/>
            <a:ahLst/>
            <a:cxnLst/>
            <a:rect l="l" t="t" r="r" b="b"/>
            <a:pathLst>
              <a:path w="706098" h="171450">
                <a:moveTo>
                  <a:pt x="0" y="0"/>
                </a:moveTo>
                <a:lnTo>
                  <a:pt x="706098" y="0"/>
                </a:lnTo>
                <a:lnTo>
                  <a:pt x="70609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4251794" y="3303933"/>
            <a:ext cx="7060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08015" y="3322983"/>
            <a:ext cx="4763" cy="133350"/>
          </a:xfrm>
          <a:custGeom>
            <a:avLst/>
            <a:gdLst/>
            <a:ahLst/>
            <a:cxnLst/>
            <a:rect l="l" t="t" r="r" b="b"/>
            <a:pathLst>
              <a:path w="4763" h="133350">
                <a:moveTo>
                  <a:pt x="0" y="0"/>
                </a:moveTo>
                <a:lnTo>
                  <a:pt x="4763" y="0"/>
                </a:lnTo>
                <a:lnTo>
                  <a:pt x="4763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45098"/>
            </a:srgbClr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9478" y="3327745"/>
            <a:ext cx="123825" cy="1238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60130" y="3303933"/>
            <a:ext cx="906123" cy="171450"/>
          </a:xfrm>
          <a:custGeom>
            <a:avLst/>
            <a:gdLst/>
            <a:ahLst/>
            <a:cxnLst/>
            <a:rect l="l" t="t" r="r" b="b"/>
            <a:pathLst>
              <a:path w="906123" h="171450">
                <a:moveTo>
                  <a:pt x="0" y="0"/>
                </a:moveTo>
                <a:lnTo>
                  <a:pt x="906123" y="0"/>
                </a:lnTo>
                <a:lnTo>
                  <a:pt x="90612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5460130" y="3303933"/>
            <a:ext cx="906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3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361453"/>
            <a:ext cx="5334000" cy="138113"/>
          </a:xfrm>
          <a:custGeom>
            <a:avLst/>
            <a:gdLst/>
            <a:ahLst/>
            <a:cxnLst/>
            <a:rect l="l" t="t" r="r" b="b"/>
            <a:pathLst>
              <a:path w="5334000" h="138113">
                <a:moveTo>
                  <a:pt x="0" y="0"/>
                </a:moveTo>
                <a:lnTo>
                  <a:pt x="5334000" y="0"/>
                </a:lnTo>
                <a:lnTo>
                  <a:pt x="53340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150" y="361453"/>
            <a:ext cx="5334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HUMAN PROBLEM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150" y="584495"/>
            <a:ext cx="5334000" cy="700088"/>
          </a:xfrm>
          <a:custGeom>
            <a:avLst/>
            <a:gdLst/>
            <a:ahLst/>
            <a:cxnLst/>
            <a:rect l="l" t="t" r="r" b="b"/>
            <a:pathLst>
              <a:path w="5334000" h="700088">
                <a:moveTo>
                  <a:pt x="0" y="0"/>
                </a:moveTo>
                <a:lnTo>
                  <a:pt x="5334000" y="0"/>
                </a:lnTo>
                <a:lnTo>
                  <a:pt x="53340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150" y="584495"/>
            <a:ext cx="53340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citizen should not have to</a:t>
            </a:r>
            <a:endParaRPr lang="en-US" sz="900" dirty="0"/>
          </a:p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the system before using it.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150" y="1959322"/>
            <a:ext cx="3333750" cy="590550"/>
          </a:xfrm>
          <a:custGeom>
            <a:avLst/>
            <a:gdLst/>
            <a:ahLst/>
            <a:cxnLst/>
            <a:rect l="l" t="t" r="r" b="b"/>
            <a:pathLst>
              <a:path w="3333750" h="590550">
                <a:moveTo>
                  <a:pt x="0" y="0"/>
                </a:moveTo>
                <a:lnTo>
                  <a:pt x="3333750" y="0"/>
                </a:lnTo>
                <a:lnTo>
                  <a:pt x="3333750" y="590550"/>
                </a:lnTo>
                <a:lnTo>
                  <a:pt x="0" y="590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150" y="1959322"/>
            <a:ext cx="3333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extra step turns a simple public service into a test of patience, memory, and persistence.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150" y="27789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38150" y="277891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1327" y="2779861"/>
            <a:ext cx="2609850" cy="180975"/>
          </a:xfrm>
          <a:custGeom>
            <a:avLst/>
            <a:gdLst/>
            <a:ahLst/>
            <a:cxnLst/>
            <a:rect l="l" t="t" r="r" b="b"/>
            <a:pathLst>
              <a:path w="2609850" h="180975">
                <a:moveTo>
                  <a:pt x="0" y="0"/>
                </a:moveTo>
                <a:lnTo>
                  <a:pt x="2609850" y="0"/>
                </a:lnTo>
                <a:lnTo>
                  <a:pt x="26098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1327" y="2779861"/>
            <a:ext cx="2609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Deadlines become pressure.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1327" y="2999282"/>
            <a:ext cx="2609850" cy="161925"/>
          </a:xfrm>
          <a:custGeom>
            <a:avLst/>
            <a:gdLst/>
            <a:ahLst/>
            <a:cxnLst/>
            <a:rect l="l" t="t" r="r" b="b"/>
            <a:pathLst>
              <a:path w="2609850" h="161925">
                <a:moveTo>
                  <a:pt x="0" y="0"/>
                </a:moveTo>
                <a:lnTo>
                  <a:pt x="2609850" y="0"/>
                </a:lnTo>
                <a:lnTo>
                  <a:pt x="260985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1327" y="2999282"/>
            <a:ext cx="2609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Urgency rises when the next step is unclear.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150" y="3303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38150" y="330348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1599" y="3304430"/>
            <a:ext cx="2719387" cy="180975"/>
          </a:xfrm>
          <a:custGeom>
            <a:avLst/>
            <a:gdLst/>
            <a:ahLst/>
            <a:cxnLst/>
            <a:rect l="l" t="t" r="r" b="b"/>
            <a:pathLst>
              <a:path w="2719387" h="180975">
                <a:moveTo>
                  <a:pt x="0" y="0"/>
                </a:moveTo>
                <a:lnTo>
                  <a:pt x="2719387" y="0"/>
                </a:lnTo>
                <a:lnTo>
                  <a:pt x="271938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1599" y="3304430"/>
            <a:ext cx="2719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fields create frustration.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1599" y="3523852"/>
            <a:ext cx="2719387" cy="161925"/>
          </a:xfrm>
          <a:custGeom>
            <a:avLst/>
            <a:gdLst/>
            <a:ahLst/>
            <a:cxnLst/>
            <a:rect l="l" t="t" r="r" b="b"/>
            <a:pathLst>
              <a:path w="2719387" h="161925">
                <a:moveTo>
                  <a:pt x="0" y="0"/>
                </a:moveTo>
                <a:lnTo>
                  <a:pt x="2719387" y="0"/>
                </a:lnTo>
                <a:lnTo>
                  <a:pt x="271938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1599" y="3523852"/>
            <a:ext cx="27193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hunting slows everything down.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150" y="382805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>
            <a:srgbClr val="E6F3F0"/>
          </a:solidFill>
          <a:ln/>
        </p:spPr>
      </p:sp>
      <p:sp>
        <p:nvSpPr>
          <p:cNvPr id="23" name="Text 21"/>
          <p:cNvSpPr/>
          <p:nvPr/>
        </p:nvSpPr>
        <p:spPr>
          <a:xfrm>
            <a:off x="438150" y="382805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1525" y="3829000"/>
            <a:ext cx="3095625" cy="180975"/>
          </a:xfrm>
          <a:custGeom>
            <a:avLst/>
            <a:gdLst/>
            <a:ahLst/>
            <a:cxnLst/>
            <a:rect l="l" t="t" r="r" b="b"/>
            <a:pathLst>
              <a:path w="3095625" h="180975">
                <a:moveTo>
                  <a:pt x="0" y="0"/>
                </a:moveTo>
                <a:lnTo>
                  <a:pt x="3095625" y="0"/>
                </a:lnTo>
                <a:lnTo>
                  <a:pt x="309562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1525" y="3829000"/>
            <a:ext cx="3095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Queues add uncertainty.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1525" y="4047827"/>
            <a:ext cx="3095625" cy="323850"/>
          </a:xfrm>
          <a:custGeom>
            <a:avLst/>
            <a:gdLst/>
            <a:ahLst/>
            <a:cxnLst/>
            <a:rect l="l" t="t" r="r" b="b"/>
            <a:pathLst>
              <a:path w="3095625" h="323850">
                <a:moveTo>
                  <a:pt x="0" y="0"/>
                </a:moveTo>
                <a:lnTo>
                  <a:pt x="3095625" y="0"/>
                </a:lnTo>
                <a:lnTo>
                  <a:pt x="309562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1525" y="4047827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clear status, citizens are left waiting and wondering.</a:t>
            </a:r>
            <a:endParaRPr lang="en-US" sz="9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0" y="1893091"/>
            <a:ext cx="3429000" cy="2735461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29250" y="3758256"/>
            <a:ext cx="3124200" cy="504825"/>
          </a:xfrm>
          <a:custGeom>
            <a:avLst/>
            <a:gdLst/>
            <a:ahLst/>
            <a:cxnLst/>
            <a:rect l="l" t="t" r="r" b="b"/>
            <a:pathLst>
              <a:path w="3124200" h="504825">
                <a:moveTo>
                  <a:pt x="138024" y="0"/>
                </a:moveTo>
                <a:lnTo>
                  <a:pt x="2986176" y="0"/>
                </a:lnTo>
                <a:quadBezTo>
                  <a:pt x="3124200" y="0"/>
                  <a:pt x="3124200" y="138024"/>
                </a:quadBezTo>
                <a:lnTo>
                  <a:pt x="3124200" y="366801"/>
                </a:lnTo>
                <a:quadBezTo>
                  <a:pt x="3124200" y="504825"/>
                  <a:pt x="2986176" y="504825"/>
                </a:quadBezTo>
                <a:lnTo>
                  <a:pt x="138024" y="504825"/>
                </a:lnTo>
                <a:quadBezTo>
                  <a:pt x="0" y="504825"/>
                  <a:pt x="0" y="366801"/>
                </a:quadBezTo>
                <a:lnTo>
                  <a:pt x="0" y="138024"/>
                </a:lnTo>
                <a:quadBezTo>
                  <a:pt x="0" y="0"/>
                  <a:pt x="138024" y="0"/>
                </a:quadBezTo>
                <a:close/>
              </a:path>
            </a:pathLst>
          </a:custGeom>
          <a:solidFill>
            <a:srgbClr val="142033">
              <a:alpha val="87843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429250" y="3758256"/>
            <a:ext cx="31242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            The burden is not just paperwork.</a:t>
            </a:r>
            <a:endParaRPr lang="en-US" sz="900" dirty="0"/>
          </a:p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B9E5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            It is uncertainty at every step.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38150" y="4587080"/>
            <a:ext cx="8267700" cy="214313"/>
          </a:xfrm>
          <a:custGeom>
            <a:avLst/>
            <a:gdLst/>
            <a:ahLst/>
            <a:cxnLst/>
            <a:rect l="l" t="t" r="r" b="b"/>
            <a:pathLst>
              <a:path w="8267700" h="214313">
                <a:moveTo>
                  <a:pt x="0" y="0"/>
                </a:moveTo>
                <a:lnTo>
                  <a:pt x="8267700" y="0"/>
                </a:lnTo>
                <a:lnTo>
                  <a:pt x="8267700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38150" y="4587080"/>
            <a:ext cx="8267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better public service starts with less cognitive load. </a:t>
            </a:r>
            <a:r>
              <a:rPr lang="en-US" sz="698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THE CASE FOR GUIDANCE</a:t>
            </a:r>
            <a:endParaRPr lang="en-US" sz="9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587080"/>
            <a:ext cx="8267700" cy="214313"/>
          </a:xfrm>
          <a:prstGeom prst="rect">
            <a:avLst/>
          </a:prstGeom>
        </p:spPr>
      </p:pic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47" y="401836"/>
            <a:ext cx="5469055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78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78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CITIZEN JOURNEY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8583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8583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need is simple. </a:t>
            </a:r>
            <a:r>
              <a:rPr lang="en-US" sz="2498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journey is fragmented.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11683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11683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straightforward request becomes a sequence of portals, requirements, documents, and repeated data entry.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313682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68580" y="0"/>
                </a:moveTo>
                <a:lnTo>
                  <a:pt x="2560320" y="0"/>
                </a:lnTo>
                <a:quadBezTo>
                  <a:pt x="2628900" y="0"/>
                  <a:pt x="2628900" y="68580"/>
                </a:quadBezTo>
                <a:lnTo>
                  <a:pt x="2628900" y="1455420"/>
                </a:lnTo>
                <a:quadBezTo>
                  <a:pt x="2628900" y="1524000"/>
                  <a:pt x="2560320" y="1524000"/>
                </a:quadBezTo>
                <a:lnTo>
                  <a:pt x="68580" y="1524000"/>
                </a:lnTo>
                <a:quadBezTo>
                  <a:pt x="0" y="1524000"/>
                  <a:pt x="0" y="1455420"/>
                </a:quadBezTo>
                <a:lnTo>
                  <a:pt x="0" y="68580"/>
                </a:lnTo>
                <a:quadBezTo>
                  <a:pt x="0" y="0"/>
                  <a:pt x="685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52400" dist="57150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225" y="25041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236568"/>
                  <a:pt x="68232" y="304800"/>
                  <a:pt x="152400" y="304800"/>
                </a:cubicBezTo>
                <a:cubicBezTo>
                  <a:pt x="236568" y="304800"/>
                  <a:pt x="304800" y="236568"/>
                  <a:pt x="304800" y="152400"/>
                </a:cubicBezTo>
                <a:cubicBezTo>
                  <a:pt x="304800" y="68232"/>
                  <a:pt x="236568" y="0"/>
                  <a:pt x="152400" y="0"/>
                </a:cubicBezTo>
                <a:cubicBezTo>
                  <a:pt x="68232" y="0"/>
                  <a:pt x="0" y="68232"/>
                  <a:pt x="0" y="152400"/>
                </a:cubic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657225" y="250418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675" y="2580382"/>
            <a:ext cx="152400" cy="152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7225" y="3069083"/>
            <a:ext cx="2228850" cy="195263"/>
          </a:xfrm>
          <a:custGeom>
            <a:avLst/>
            <a:gdLst/>
            <a:ahLst/>
            <a:cxnLst/>
            <a:rect l="l" t="t" r="r" b="b"/>
            <a:pathLst>
              <a:path w="2228850" h="195263">
                <a:moveTo>
                  <a:pt x="0" y="0"/>
                </a:moveTo>
                <a:lnTo>
                  <a:pt x="2228850" y="0"/>
                </a:lnTo>
                <a:lnTo>
                  <a:pt x="22288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57225" y="3069083"/>
            <a:ext cx="22288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right portal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57225" y="3322886"/>
            <a:ext cx="2228850" cy="333375"/>
          </a:xfrm>
          <a:custGeom>
            <a:avLst/>
            <a:gdLst/>
            <a:ahLst/>
            <a:cxnLst/>
            <a:rect l="l" t="t" r="r" b="b"/>
            <a:pathLst>
              <a:path w="2228850" h="333375">
                <a:moveTo>
                  <a:pt x="0" y="0"/>
                </a:moveTo>
                <a:lnTo>
                  <a:pt x="2228850" y="0"/>
                </a:lnTo>
                <a:lnTo>
                  <a:pt x="22288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57225" y="3322886"/>
            <a:ext cx="22288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challenge is knowing where to begin.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57550" y="2313682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68580" y="0"/>
                </a:moveTo>
                <a:lnTo>
                  <a:pt x="2560320" y="0"/>
                </a:lnTo>
                <a:quadBezTo>
                  <a:pt x="2628900" y="0"/>
                  <a:pt x="2628900" y="68580"/>
                </a:quadBezTo>
                <a:lnTo>
                  <a:pt x="2628900" y="1455420"/>
                </a:lnTo>
                <a:quadBezTo>
                  <a:pt x="2628900" y="1524000"/>
                  <a:pt x="2560320" y="1524000"/>
                </a:quadBezTo>
                <a:lnTo>
                  <a:pt x="68580" y="1524000"/>
                </a:lnTo>
                <a:quadBezTo>
                  <a:pt x="0" y="1524000"/>
                  <a:pt x="0" y="1455420"/>
                </a:quadBezTo>
                <a:lnTo>
                  <a:pt x="0" y="68580"/>
                </a:lnTo>
                <a:quadBezTo>
                  <a:pt x="0" y="0"/>
                  <a:pt x="685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52400" dist="57150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57575" y="25041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236568"/>
                  <a:pt x="68232" y="304800"/>
                  <a:pt x="152400" y="304800"/>
                </a:cubicBezTo>
                <a:cubicBezTo>
                  <a:pt x="236568" y="304800"/>
                  <a:pt x="304800" y="236568"/>
                  <a:pt x="304800" y="152400"/>
                </a:cubicBezTo>
                <a:cubicBezTo>
                  <a:pt x="304800" y="68232"/>
                  <a:pt x="236568" y="0"/>
                  <a:pt x="152400" y="0"/>
                </a:cubicBezTo>
                <a:cubicBezTo>
                  <a:pt x="68232" y="0"/>
                  <a:pt x="0" y="68232"/>
                  <a:pt x="0" y="152400"/>
                </a:cubic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21" name="Text 17"/>
          <p:cNvSpPr/>
          <p:nvPr/>
        </p:nvSpPr>
        <p:spPr>
          <a:xfrm>
            <a:off x="3457575" y="250418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025" y="2580382"/>
            <a:ext cx="152400" cy="1524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57575" y="2870496"/>
            <a:ext cx="2228850" cy="395287"/>
          </a:xfrm>
          <a:custGeom>
            <a:avLst/>
            <a:gdLst/>
            <a:ahLst/>
            <a:cxnLst/>
            <a:rect l="l" t="t" r="r" b="b"/>
            <a:pathLst>
              <a:path w="2228850" h="395287">
                <a:moveTo>
                  <a:pt x="0" y="0"/>
                </a:moveTo>
                <a:lnTo>
                  <a:pt x="2228850" y="0"/>
                </a:lnTo>
                <a:lnTo>
                  <a:pt x="2228850" y="395287"/>
                </a:lnTo>
                <a:lnTo>
                  <a:pt x="0" y="3952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3457575" y="2870496"/>
            <a:ext cx="222885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requirements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457575" y="3322886"/>
            <a:ext cx="2228850" cy="333375"/>
          </a:xfrm>
          <a:custGeom>
            <a:avLst/>
            <a:gdLst/>
            <a:ahLst/>
            <a:cxnLst/>
            <a:rect l="l" t="t" r="r" b="b"/>
            <a:pathLst>
              <a:path w="2228850" h="333375">
                <a:moveTo>
                  <a:pt x="0" y="0"/>
                </a:moveTo>
                <a:lnTo>
                  <a:pt x="2228850" y="0"/>
                </a:lnTo>
                <a:lnTo>
                  <a:pt x="22288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457575" y="3322886"/>
            <a:ext cx="22288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Guidance is scattered before the application even starts.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057900" y="2313682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68580" y="0"/>
                </a:moveTo>
                <a:lnTo>
                  <a:pt x="2560320" y="0"/>
                </a:lnTo>
                <a:quadBezTo>
                  <a:pt x="2628900" y="0"/>
                  <a:pt x="2628900" y="68580"/>
                </a:quadBezTo>
                <a:lnTo>
                  <a:pt x="2628900" y="1455420"/>
                </a:lnTo>
                <a:quadBezTo>
                  <a:pt x="2628900" y="1524000"/>
                  <a:pt x="2560320" y="1524000"/>
                </a:quadBezTo>
                <a:lnTo>
                  <a:pt x="68580" y="1524000"/>
                </a:lnTo>
                <a:quadBezTo>
                  <a:pt x="0" y="1524000"/>
                  <a:pt x="0" y="1455420"/>
                </a:quadBezTo>
                <a:lnTo>
                  <a:pt x="0" y="68580"/>
                </a:lnTo>
                <a:quadBezTo>
                  <a:pt x="0" y="0"/>
                  <a:pt x="685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52400" dist="57150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257925" y="25041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236568"/>
                  <a:pt x="68232" y="304800"/>
                  <a:pt x="152400" y="304800"/>
                </a:cubicBezTo>
                <a:cubicBezTo>
                  <a:pt x="236568" y="304800"/>
                  <a:pt x="304800" y="236568"/>
                  <a:pt x="304800" y="152400"/>
                </a:cubicBezTo>
                <a:cubicBezTo>
                  <a:pt x="304800" y="68232"/>
                  <a:pt x="236568" y="0"/>
                  <a:pt x="152400" y="0"/>
                </a:cubicBezTo>
                <a:cubicBezTo>
                  <a:pt x="68232" y="0"/>
                  <a:pt x="0" y="68232"/>
                  <a:pt x="0" y="152400"/>
                </a:cubic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29" name="Text 24"/>
          <p:cNvSpPr/>
          <p:nvPr/>
        </p:nvSpPr>
        <p:spPr>
          <a:xfrm>
            <a:off x="6257925" y="250418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2580382"/>
            <a:ext cx="152400" cy="1524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257925" y="3069083"/>
            <a:ext cx="2228850" cy="195263"/>
          </a:xfrm>
          <a:custGeom>
            <a:avLst/>
            <a:gdLst/>
            <a:ahLst/>
            <a:cxnLst/>
            <a:rect l="l" t="t" r="r" b="b"/>
            <a:pathLst>
              <a:path w="2228850" h="195263">
                <a:moveTo>
                  <a:pt x="0" y="0"/>
                </a:moveTo>
                <a:lnTo>
                  <a:pt x="2228850" y="0"/>
                </a:lnTo>
                <a:lnTo>
                  <a:pt x="22288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6257925" y="3069083"/>
            <a:ext cx="22288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Gather documents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257925" y="3322886"/>
            <a:ext cx="2228850" cy="333375"/>
          </a:xfrm>
          <a:custGeom>
            <a:avLst/>
            <a:gdLst/>
            <a:ahLst/>
            <a:cxnLst/>
            <a:rect l="l" t="t" r="r" b="b"/>
            <a:pathLst>
              <a:path w="2228850" h="333375">
                <a:moveTo>
                  <a:pt x="0" y="0"/>
                </a:moveTo>
                <a:lnTo>
                  <a:pt x="2228850" y="0"/>
                </a:lnTo>
                <a:lnTo>
                  <a:pt x="22288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6257925" y="3322886"/>
            <a:ext cx="22288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Proof, forms, and records must be assembled manually.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4047232"/>
            <a:ext cx="8229600" cy="414338"/>
          </a:xfrm>
          <a:custGeom>
            <a:avLst/>
            <a:gdLst/>
            <a:ahLst/>
            <a:cxnLst/>
            <a:rect l="l" t="t" r="r" b="b"/>
            <a:pathLst>
              <a:path w="8229600" h="414338">
                <a:moveTo>
                  <a:pt x="47297" y="0"/>
                </a:moveTo>
                <a:lnTo>
                  <a:pt x="8182303" y="0"/>
                </a:lnTo>
                <a:quadBezTo>
                  <a:pt x="8229600" y="0"/>
                  <a:pt x="8229600" y="47297"/>
                </a:quadBezTo>
                <a:lnTo>
                  <a:pt x="8229600" y="367041"/>
                </a:lnTo>
                <a:quadBezTo>
                  <a:pt x="8229600" y="414338"/>
                  <a:pt x="8182303" y="414338"/>
                </a:quadBezTo>
                <a:lnTo>
                  <a:pt x="47297" y="414338"/>
                </a:lnTo>
                <a:quadBezTo>
                  <a:pt x="0" y="414338"/>
                  <a:pt x="0" y="367041"/>
                </a:quadBezTo>
                <a:lnTo>
                  <a:pt x="0" y="47297"/>
                </a:lnTo>
                <a:quadBezTo>
                  <a:pt x="0" y="0"/>
                  <a:pt x="47297" y="0"/>
                </a:quadBezTo>
                <a:close/>
              </a:path>
            </a:pathLst>
          </a:custGeom>
          <a:solidFill>
            <a:srgbClr val="E7F5F2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500" y="4182963"/>
            <a:ext cx="142875" cy="14287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1783530" y="4161532"/>
            <a:ext cx="5805488" cy="185738"/>
          </a:xfrm>
          <a:custGeom>
            <a:avLst/>
            <a:gdLst/>
            <a:ahLst/>
            <a:cxnLst/>
            <a:rect l="l" t="t" r="r" b="b"/>
            <a:pathLst>
              <a:path w="5805488" h="185738">
                <a:moveTo>
                  <a:pt x="0" y="0"/>
                </a:moveTo>
                <a:lnTo>
                  <a:pt x="5805488" y="0"/>
                </a:lnTo>
                <a:lnTo>
                  <a:pt x="58054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1783530" y="4161532"/>
            <a:ext cx="58054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the same information is entered repeatedly — across disconnected steps.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361453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150" y="361453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JANSEVA-X · THE POSITIONING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150" y="56678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150" y="56678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 JANSEVA-X what you need.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150" y="982637"/>
            <a:ext cx="8267700" cy="204787"/>
          </a:xfrm>
          <a:custGeom>
            <a:avLst/>
            <a:gdLst/>
            <a:ahLst/>
            <a:cxnLst/>
            <a:rect l="l" t="t" r="r" b="b"/>
            <a:pathLst>
              <a:path w="8267700" h="204787">
                <a:moveTo>
                  <a:pt x="0" y="0"/>
                </a:moveTo>
                <a:lnTo>
                  <a:pt x="8267700" y="0"/>
                </a:lnTo>
                <a:lnTo>
                  <a:pt x="82677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150" y="982637"/>
            <a:ext cx="82677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navigating portals to completing an intent-led public-service journey.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509295"/>
            <a:ext cx="3619500" cy="319873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0075" y="4138612"/>
            <a:ext cx="3295650" cy="519112"/>
          </a:xfrm>
          <a:custGeom>
            <a:avLst/>
            <a:gdLst/>
            <a:ahLst/>
            <a:cxnLst/>
            <a:rect l="l" t="t" r="r" b="b"/>
            <a:pathLst>
              <a:path w="3295650" h="519112">
                <a:moveTo>
                  <a:pt x="150999" y="0"/>
                </a:moveTo>
                <a:lnTo>
                  <a:pt x="3144651" y="0"/>
                </a:lnTo>
                <a:quadBezTo>
                  <a:pt x="3295650" y="0"/>
                  <a:pt x="3295650" y="150999"/>
                </a:quadBezTo>
                <a:lnTo>
                  <a:pt x="3295650" y="368113"/>
                </a:lnTo>
                <a:quadBezTo>
                  <a:pt x="3295650" y="519112"/>
                  <a:pt x="3144651" y="519112"/>
                </a:quadBezTo>
                <a:lnTo>
                  <a:pt x="150999" y="519112"/>
                </a:lnTo>
                <a:quadBezTo>
                  <a:pt x="0" y="519112"/>
                  <a:pt x="0" y="368113"/>
                </a:quadBezTo>
                <a:lnTo>
                  <a:pt x="0" y="150999"/>
                </a:lnTo>
                <a:quadBezTo>
                  <a:pt x="0" y="0"/>
                  <a:pt x="150999" y="0"/>
                </a:quadBezTo>
                <a:close/>
              </a:path>
            </a:pathLst>
          </a:custGeom>
          <a:solidFill>
            <a:srgbClr val="142033">
              <a:alpha val="87843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326731"/>
            <a:ext cx="142875" cy="1428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42975" y="4243388"/>
            <a:ext cx="2828925" cy="309562"/>
          </a:xfrm>
          <a:custGeom>
            <a:avLst/>
            <a:gdLst/>
            <a:ahLst/>
            <a:cxnLst/>
            <a:rect l="l" t="t" r="r" b="b"/>
            <a:pathLst>
              <a:path w="2828925" h="309562">
                <a:moveTo>
                  <a:pt x="0" y="0"/>
                </a:moveTo>
                <a:lnTo>
                  <a:pt x="2828925" y="0"/>
                </a:lnTo>
                <a:lnTo>
                  <a:pt x="28289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42975" y="4243388"/>
            <a:ext cx="28289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citizen starts with a need — not a department.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00550" y="2025896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128588"/>
                </a:moveTo>
                <a:cubicBezTo>
                  <a:pt x="0" y="199604"/>
                  <a:pt x="57571" y="257175"/>
                  <a:pt x="128588" y="257175"/>
                </a:cubicBezTo>
                <a:cubicBezTo>
                  <a:pt x="199604" y="257175"/>
                  <a:pt x="257175" y="199604"/>
                  <a:pt x="257175" y="128588"/>
                </a:cubicBezTo>
                <a:cubicBezTo>
                  <a:pt x="257175" y="57571"/>
                  <a:pt x="199604" y="0"/>
                  <a:pt x="128588" y="0"/>
                </a:cubicBezTo>
                <a:cubicBezTo>
                  <a:pt x="57571" y="0"/>
                  <a:pt x="0" y="57571"/>
                  <a:pt x="0" y="128587"/>
                </a:cubicBezTo>
                <a:close/>
              </a:path>
            </a:pathLst>
          </a:custGeom>
          <a:solidFill>
            <a:srgbClr val="2F6FED"/>
          </a:solidFill>
          <a:ln/>
        </p:spPr>
      </p:sp>
      <p:sp>
        <p:nvSpPr>
          <p:cNvPr id="16" name="Text 12"/>
          <p:cNvSpPr/>
          <p:nvPr/>
        </p:nvSpPr>
        <p:spPr>
          <a:xfrm>
            <a:off x="4400550" y="202589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62500" y="2026121"/>
            <a:ext cx="3848100" cy="185738"/>
          </a:xfrm>
          <a:custGeom>
            <a:avLst/>
            <a:gdLst/>
            <a:ahLst/>
            <a:cxnLst/>
            <a:rect l="l" t="t" r="r" b="b"/>
            <a:pathLst>
              <a:path w="3848100" h="185738">
                <a:moveTo>
                  <a:pt x="0" y="0"/>
                </a:moveTo>
                <a:lnTo>
                  <a:pt x="3848100" y="0"/>
                </a:lnTo>
                <a:lnTo>
                  <a:pt x="384810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762500" y="2026121"/>
            <a:ext cx="38481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replaces portal hunting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762500" y="2249933"/>
            <a:ext cx="3848100" cy="347663"/>
          </a:xfrm>
          <a:custGeom>
            <a:avLst/>
            <a:gdLst/>
            <a:ahLst/>
            <a:cxnLst/>
            <a:rect l="l" t="t" r="r" b="b"/>
            <a:pathLst>
              <a:path w="3848100" h="347663">
                <a:moveTo>
                  <a:pt x="0" y="0"/>
                </a:moveTo>
                <a:lnTo>
                  <a:pt x="3848100" y="0"/>
                </a:lnTo>
                <a:lnTo>
                  <a:pt x="38481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4762500" y="2249933"/>
            <a:ext cx="38481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Citizens describe the outcome they need; JANSEVA-X routes the application.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62500" y="2740223"/>
            <a:ext cx="3848100" cy="4763"/>
          </a:xfrm>
          <a:custGeom>
            <a:avLst/>
            <a:gdLst/>
            <a:ahLst/>
            <a:cxnLst/>
            <a:rect l="l" t="t" r="r" b="b"/>
            <a:pathLst>
              <a:path w="3848100" h="4763">
                <a:moveTo>
                  <a:pt x="0" y="0"/>
                </a:moveTo>
                <a:lnTo>
                  <a:pt x="3848100" y="0"/>
                </a:lnTo>
                <a:lnTo>
                  <a:pt x="38481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6F2"/>
          </a:solidFill>
          <a:ln/>
        </p:spPr>
      </p:sp>
      <p:sp>
        <p:nvSpPr>
          <p:cNvPr id="22" name="Shape 18"/>
          <p:cNvSpPr/>
          <p:nvPr/>
        </p:nvSpPr>
        <p:spPr>
          <a:xfrm>
            <a:off x="4400550" y="288786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128588"/>
                </a:moveTo>
                <a:cubicBezTo>
                  <a:pt x="0" y="199604"/>
                  <a:pt x="57571" y="257175"/>
                  <a:pt x="128588" y="257175"/>
                </a:cubicBezTo>
                <a:cubicBezTo>
                  <a:pt x="199604" y="257175"/>
                  <a:pt x="257175" y="199604"/>
                  <a:pt x="257175" y="128588"/>
                </a:cubicBezTo>
                <a:cubicBezTo>
                  <a:pt x="257175" y="57571"/>
                  <a:pt x="199604" y="0"/>
                  <a:pt x="128588" y="0"/>
                </a:cubicBezTo>
                <a:cubicBezTo>
                  <a:pt x="57571" y="0"/>
                  <a:pt x="0" y="57571"/>
                  <a:pt x="0" y="128587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23" name="Text 19"/>
          <p:cNvSpPr/>
          <p:nvPr/>
        </p:nvSpPr>
        <p:spPr>
          <a:xfrm>
            <a:off x="4400550" y="2887861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762500" y="2888084"/>
            <a:ext cx="3848100" cy="185738"/>
          </a:xfrm>
          <a:custGeom>
            <a:avLst/>
            <a:gdLst/>
            <a:ahLst/>
            <a:cxnLst/>
            <a:rect l="l" t="t" r="r" b="b"/>
            <a:pathLst>
              <a:path w="3848100" h="185738">
                <a:moveTo>
                  <a:pt x="0" y="0"/>
                </a:moveTo>
                <a:lnTo>
                  <a:pt x="3848100" y="0"/>
                </a:lnTo>
                <a:lnTo>
                  <a:pt x="384810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4762500" y="2888084"/>
            <a:ext cx="38481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keeps control visible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762500" y="3111898"/>
            <a:ext cx="3848100" cy="347663"/>
          </a:xfrm>
          <a:custGeom>
            <a:avLst/>
            <a:gdLst/>
            <a:ahLst/>
            <a:cxnLst/>
            <a:rect l="l" t="t" r="r" b="b"/>
            <a:pathLst>
              <a:path w="3848100" h="347663">
                <a:moveTo>
                  <a:pt x="0" y="0"/>
                </a:moveTo>
                <a:lnTo>
                  <a:pt x="3848100" y="0"/>
                </a:lnTo>
                <a:lnTo>
                  <a:pt x="38481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4762500" y="3111898"/>
            <a:ext cx="38481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next step is clear, deliberate, and owned by the citizen.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62500" y="3687116"/>
            <a:ext cx="3848100" cy="571500"/>
          </a:xfrm>
          <a:custGeom>
            <a:avLst/>
            <a:gdLst/>
            <a:ahLst/>
            <a:cxnLst/>
            <a:rect l="l" t="t" r="r" b="b"/>
            <a:pathLst>
              <a:path w="3848100" h="571500">
                <a:moveTo>
                  <a:pt x="137160" y="0"/>
                </a:moveTo>
                <a:lnTo>
                  <a:pt x="3710940" y="0"/>
                </a:lnTo>
                <a:quadBezTo>
                  <a:pt x="3848100" y="0"/>
                  <a:pt x="3848100" y="137160"/>
                </a:quadBezTo>
                <a:lnTo>
                  <a:pt x="3848100" y="434340"/>
                </a:lnTo>
                <a:quadBezTo>
                  <a:pt x="3848100" y="571500"/>
                  <a:pt x="3710940" y="571500"/>
                </a:quadBezTo>
                <a:lnTo>
                  <a:pt x="137160" y="571500"/>
                </a:lnTo>
                <a:quadBezTo>
                  <a:pt x="0" y="571500"/>
                  <a:pt x="0" y="434340"/>
                </a:quadBezTo>
                <a:lnTo>
                  <a:pt x="0" y="137160"/>
                </a:lnTo>
                <a:quadBezTo>
                  <a:pt x="0" y="0"/>
                  <a:pt x="137160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3901429"/>
            <a:ext cx="142875" cy="14287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143500" y="3801416"/>
            <a:ext cx="3333750" cy="342900"/>
          </a:xfrm>
          <a:custGeom>
            <a:avLst/>
            <a:gdLst/>
            <a:ahLst/>
            <a:cxnLst/>
            <a:rect l="l" t="t" r="r" b="b"/>
            <a:pathLst>
              <a:path w="3333750" h="342900">
                <a:moveTo>
                  <a:pt x="0" y="0"/>
                </a:moveTo>
                <a:lnTo>
                  <a:pt x="3333750" y="0"/>
                </a:lnTo>
                <a:lnTo>
                  <a:pt x="333375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5143500" y="3801416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guided journey. The right service, at the right moment.</a:t>
            </a:r>
            <a:endParaRPr lang="en-US" sz="9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687116"/>
            <a:ext cx="38481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051" y="361453"/>
            <a:ext cx="2438400" cy="138113"/>
          </a:xfrm>
          <a:custGeom>
            <a:avLst/>
            <a:gdLst/>
            <a:ahLst/>
            <a:cxnLst/>
            <a:rect l="l" t="t" r="r" b="b"/>
            <a:pathLst>
              <a:path w="2438400" h="138113">
                <a:moveTo>
                  <a:pt x="0" y="0"/>
                </a:moveTo>
                <a:lnTo>
                  <a:pt x="2438400" y="0"/>
                </a:lnTo>
                <a:lnTo>
                  <a:pt x="24384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051" y="361453"/>
            <a:ext cx="24384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JANSEVA-X · PRODUCT WORKFLOW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523" y="566786"/>
            <a:ext cx="5053012" cy="347663"/>
          </a:xfrm>
          <a:custGeom>
            <a:avLst/>
            <a:gdLst/>
            <a:ahLst/>
            <a:cxnLst/>
            <a:rect l="l" t="t" r="r" b="b"/>
            <a:pathLst>
              <a:path w="5053012" h="347663">
                <a:moveTo>
                  <a:pt x="0" y="0"/>
                </a:moveTo>
                <a:lnTo>
                  <a:pt x="5053012" y="0"/>
                </a:lnTo>
                <a:lnTo>
                  <a:pt x="5053012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523" y="566786"/>
            <a:ext cx="505301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JANSEVA-X actually does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83108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83108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public-service journey from citizen intent to officer-owned completion.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937445"/>
            <a:ext cx="2609850" cy="2881313"/>
          </a:xfrm>
          <a:custGeom>
            <a:avLst/>
            <a:gdLst/>
            <a:ahLst/>
            <a:cxnLst/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225" y="214610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2236589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7225" y="2650430"/>
            <a:ext cx="2209800" cy="138113"/>
          </a:xfrm>
          <a:custGeom>
            <a:avLst/>
            <a:gdLst/>
            <a:ahLst/>
            <a:cxnLst/>
            <a:rect l="l" t="t" r="r" b="b"/>
            <a:pathLst>
              <a:path w="2209800" h="138113">
                <a:moveTo>
                  <a:pt x="0" y="0"/>
                </a:moveTo>
                <a:lnTo>
                  <a:pt x="2209800" y="0"/>
                </a:lnTo>
                <a:lnTo>
                  <a:pt x="22098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57225" y="2650430"/>
            <a:ext cx="22098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UNDERSTAND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7225" y="2854002"/>
            <a:ext cx="2209800" cy="209550"/>
          </a:xfrm>
          <a:custGeom>
            <a:avLst/>
            <a:gdLst/>
            <a:ahLst/>
            <a:cxnLst/>
            <a:rect l="l" t="t" r="r" b="b"/>
            <a:pathLst>
              <a:path w="2209800" h="209550">
                <a:moveTo>
                  <a:pt x="0" y="0"/>
                </a:moveTo>
                <a:lnTo>
                  <a:pt x="2209800" y="0"/>
                </a:lnTo>
                <a:lnTo>
                  <a:pt x="22098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57225" y="2854002"/>
            <a:ext cx="220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intent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7225" y="3149152"/>
            <a:ext cx="2209800" cy="566738"/>
          </a:xfrm>
          <a:custGeom>
            <a:avLst/>
            <a:gdLst/>
            <a:ahLst/>
            <a:cxnLst/>
            <a:rect l="l" t="t" r="r" b="b"/>
            <a:pathLst>
              <a:path w="2209800" h="566738">
                <a:moveTo>
                  <a:pt x="0" y="0"/>
                </a:moveTo>
                <a:lnTo>
                  <a:pt x="2209800" y="0"/>
                </a:lnTo>
                <a:lnTo>
                  <a:pt x="2209800" y="566738"/>
                </a:lnTo>
                <a:lnTo>
                  <a:pt x="0" y="566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7225" y="3149152"/>
            <a:ext cx="220980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Citizens explain what they need in their own words, by voice or text.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57225" y="4235795"/>
            <a:ext cx="2209800" cy="152400"/>
          </a:xfrm>
          <a:custGeom>
            <a:avLst/>
            <a:gdLst/>
            <a:ahLst/>
            <a:cxnLst/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57225" y="4235795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discovery made simple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7225" y="4475806"/>
            <a:ext cx="2209800" cy="152400"/>
          </a:xfrm>
          <a:custGeom>
            <a:avLst/>
            <a:gdLst/>
            <a:ahLst/>
            <a:cxnLst/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57225" y="4475806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Guided routing to the right service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67075" y="1937445"/>
            <a:ext cx="2609850" cy="2881313"/>
          </a:xfrm>
          <a:custGeom>
            <a:avLst/>
            <a:gdLst/>
            <a:ahLst/>
            <a:cxnLst/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>
            <a:srgbClr val="FFFFFF"/>
          </a:solidFill>
          <a:ln w="9501">
            <a:solidFill>
              <a:srgbClr val="2F6FED"/>
            </a:solidFill>
            <a:prstDash val="solid"/>
          </a:ln>
          <a:effectLst>
            <a:outerShdw blurRad="161925" dist="76200" dir="2700000" algn="bl" rotWithShape="0">
              <a:srgbClr val="2F6FED">
                <a:alpha val="12941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476625" y="215562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7F5F2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113" y="2246114"/>
            <a:ext cx="161925" cy="16192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476625" y="2659955"/>
            <a:ext cx="2190750" cy="138113"/>
          </a:xfrm>
          <a:custGeom>
            <a:avLst/>
            <a:gdLst/>
            <a:ahLst/>
            <a:cxnLst/>
            <a:rect l="l" t="t" r="r" b="b"/>
            <a:pathLst>
              <a:path w="2190750" h="138113">
                <a:moveTo>
                  <a:pt x="0" y="0"/>
                </a:moveTo>
                <a:lnTo>
                  <a:pt x="2190750" y="0"/>
                </a:lnTo>
                <a:lnTo>
                  <a:pt x="219075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3476625" y="2659955"/>
            <a:ext cx="2190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PREPARE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76625" y="2863527"/>
            <a:ext cx="2190750" cy="209550"/>
          </a:xfrm>
          <a:custGeom>
            <a:avLst/>
            <a:gdLst/>
            <a:ahLst/>
            <a:cxnLst/>
            <a:rect l="l" t="t" r="r" b="b"/>
            <a:pathLst>
              <a:path w="2190750" h="209550">
                <a:moveTo>
                  <a:pt x="0" y="0"/>
                </a:moveTo>
                <a:lnTo>
                  <a:pt x="2190750" y="0"/>
                </a:lnTo>
                <a:lnTo>
                  <a:pt x="219075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476625" y="2863527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with consent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476625" y="3158082"/>
            <a:ext cx="2190750" cy="757238"/>
          </a:xfrm>
          <a:custGeom>
            <a:avLst/>
            <a:gdLst/>
            <a:ahLst/>
            <a:cxnLst/>
            <a:rect l="l" t="t" r="r" b="b"/>
            <a:pathLst>
              <a:path w="2190750" h="757238">
                <a:moveTo>
                  <a:pt x="0" y="0"/>
                </a:moveTo>
                <a:lnTo>
                  <a:pt x="2190750" y="0"/>
                </a:lnTo>
                <a:lnTo>
                  <a:pt x="2190750" y="757238"/>
                </a:lnTo>
                <a:lnTo>
                  <a:pt x="0" y="7572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476625" y="3158082"/>
            <a:ext cx="2190750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JANSEVA-X prepares the application and smartly assembles the right attachments.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476625" y="4226270"/>
            <a:ext cx="2190750" cy="152400"/>
          </a:xfrm>
          <a:custGeom>
            <a:avLst/>
            <a:gdLst/>
            <a:ahLst/>
            <a:cxnLst/>
            <a:rect l="l" t="t" r="r" b="b"/>
            <a:pathLst>
              <a:path w="2190750" h="152400">
                <a:moveTo>
                  <a:pt x="0" y="0"/>
                </a:moveTo>
                <a:lnTo>
                  <a:pt x="2190750" y="0"/>
                </a:lnTo>
                <a:lnTo>
                  <a:pt x="21907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3476625" y="4226270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stays visible and explicit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476625" y="4466281"/>
            <a:ext cx="2190750" cy="152400"/>
          </a:xfrm>
          <a:custGeom>
            <a:avLst/>
            <a:gdLst/>
            <a:ahLst/>
            <a:cxnLst/>
            <a:rect l="l" t="t" r="r" b="b"/>
            <a:pathLst>
              <a:path w="2190750" h="152400">
                <a:moveTo>
                  <a:pt x="0" y="0"/>
                </a:moveTo>
                <a:lnTo>
                  <a:pt x="2190750" y="0"/>
                </a:lnTo>
                <a:lnTo>
                  <a:pt x="21907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3476625" y="4466281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gaps before submission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076950" y="1937445"/>
            <a:ext cx="2609850" cy="2881313"/>
          </a:xfrm>
          <a:custGeom>
            <a:avLst/>
            <a:gdLst/>
            <a:ahLst/>
            <a:cxnLst/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276975" y="214610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2236589"/>
            <a:ext cx="161925" cy="16192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6276975" y="2650430"/>
            <a:ext cx="2209800" cy="138113"/>
          </a:xfrm>
          <a:custGeom>
            <a:avLst/>
            <a:gdLst/>
            <a:ahLst/>
            <a:cxnLst/>
            <a:rect l="l" t="t" r="r" b="b"/>
            <a:pathLst>
              <a:path w="2209800" h="138113">
                <a:moveTo>
                  <a:pt x="0" y="0"/>
                </a:moveTo>
                <a:lnTo>
                  <a:pt x="2209800" y="0"/>
                </a:lnTo>
                <a:lnTo>
                  <a:pt x="22098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276975" y="2650430"/>
            <a:ext cx="22098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COMPLETE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76975" y="2854002"/>
            <a:ext cx="2209800" cy="209550"/>
          </a:xfrm>
          <a:custGeom>
            <a:avLst/>
            <a:gdLst/>
            <a:ahLst/>
            <a:cxnLst/>
            <a:rect l="l" t="t" r="r" b="b"/>
            <a:pathLst>
              <a:path w="2209800" h="209550">
                <a:moveTo>
                  <a:pt x="0" y="0"/>
                </a:moveTo>
                <a:lnTo>
                  <a:pt x="2209800" y="0"/>
                </a:lnTo>
                <a:lnTo>
                  <a:pt x="22098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276975" y="2854002"/>
            <a:ext cx="220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to resolution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76975" y="3149152"/>
            <a:ext cx="2209800" cy="566738"/>
          </a:xfrm>
          <a:custGeom>
            <a:avLst/>
            <a:gdLst/>
            <a:ahLst/>
            <a:cxnLst/>
            <a:rect l="l" t="t" r="r" b="b"/>
            <a:pathLst>
              <a:path w="2209800" h="566738">
                <a:moveTo>
                  <a:pt x="0" y="0"/>
                </a:moveTo>
                <a:lnTo>
                  <a:pt x="2209800" y="0"/>
                </a:lnTo>
                <a:lnTo>
                  <a:pt x="2209800" y="566738"/>
                </a:lnTo>
                <a:lnTo>
                  <a:pt x="0" y="566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276975" y="3149152"/>
            <a:ext cx="220980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Citizens draft, track, and complete requests with clear officer ownership.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276975" y="4235795"/>
            <a:ext cx="2209800" cy="152400"/>
          </a:xfrm>
          <a:custGeom>
            <a:avLst/>
            <a:gdLst/>
            <a:ahLst/>
            <a:cxnLst/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6276975" y="4235795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stays easy to follow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6276975" y="4475806"/>
            <a:ext cx="2209800" cy="152400"/>
          </a:xfrm>
          <a:custGeom>
            <a:avLst/>
            <a:gdLst/>
            <a:ahLst/>
            <a:cxnLst/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6276975" y="4475806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900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request has an owner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18480" y="342900"/>
            <a:ext cx="3009900" cy="171450"/>
          </a:xfrm>
          <a:custGeom>
            <a:avLst/>
            <a:gdLst/>
            <a:ahLst/>
            <a:cxnLst/>
            <a:rect l="l" t="t" r="r" b="b"/>
            <a:pathLst>
              <a:path w="3009900" h="171450">
                <a:moveTo>
                  <a:pt x="0" y="0"/>
                </a:moveTo>
                <a:lnTo>
                  <a:pt x="3009900" y="0"/>
                </a:lnTo>
                <a:lnTo>
                  <a:pt x="30099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18480" y="3429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PROTOTYPE · TRADE LICENCE RENEWAL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94433" y="40481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8" name="Shape 5"/>
          <p:cNvSpPr/>
          <p:nvPr/>
        </p:nvSpPr>
        <p:spPr>
          <a:xfrm>
            <a:off x="419100" y="591096"/>
            <a:ext cx="6762750" cy="657225"/>
          </a:xfrm>
          <a:custGeom>
            <a:avLst/>
            <a:gdLst/>
            <a:ahLst/>
            <a:cxnLst/>
            <a:rect l="l" t="t" r="r" b="b"/>
            <a:pathLst>
              <a:path w="6762750" h="657225">
                <a:moveTo>
                  <a:pt x="0" y="0"/>
                </a:moveTo>
                <a:lnTo>
                  <a:pt x="6762750" y="0"/>
                </a:lnTo>
                <a:lnTo>
                  <a:pt x="676275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91096"/>
            <a:ext cx="67627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“I need a service” to a complete application journey.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326008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326008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flow that keeps the citizen informed, in control, and moving forward.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2308920"/>
            <a:ext cx="5991225" cy="2528888"/>
          </a:xfrm>
          <a:custGeom>
            <a:avLst/>
            <a:gdLst/>
            <a:ahLst/>
            <a:cxnLst/>
            <a:rect l="l" t="t" r="r" b="b"/>
            <a:pathLst>
              <a:path w="5991225" h="2528888">
                <a:moveTo>
                  <a:pt x="41322" y="0"/>
                </a:moveTo>
                <a:lnTo>
                  <a:pt x="5949903" y="0"/>
                </a:lnTo>
                <a:quadBezTo>
                  <a:pt x="5991225" y="0"/>
                  <a:pt x="5991225" y="41322"/>
                </a:quadBezTo>
                <a:lnTo>
                  <a:pt x="5991225" y="2487565"/>
                </a:lnTo>
                <a:quadBezTo>
                  <a:pt x="5991225" y="2528888"/>
                  <a:pt x="5949903" y="2528888"/>
                </a:quadBezTo>
                <a:lnTo>
                  <a:pt x="41322" y="2528888"/>
                </a:lnTo>
                <a:quadBezTo>
                  <a:pt x="0" y="2528888"/>
                  <a:pt x="0" y="2487565"/>
                </a:quadBezTo>
                <a:lnTo>
                  <a:pt x="0" y="41322"/>
                </a:lnTo>
                <a:quadBezTo>
                  <a:pt x="0" y="0"/>
                  <a:pt x="4132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42033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1777" y="2477096"/>
            <a:ext cx="2724150" cy="200025"/>
          </a:xfrm>
          <a:custGeom>
            <a:avLst/>
            <a:gdLst/>
            <a:ahLst/>
            <a:cxnLst/>
            <a:rect l="l" t="t" r="r" b="b"/>
            <a:pathLst>
              <a:path w="2724150" h="200025">
                <a:moveTo>
                  <a:pt x="0" y="0"/>
                </a:moveTo>
                <a:lnTo>
                  <a:pt x="2724150" y="0"/>
                </a:lnTo>
                <a:lnTo>
                  <a:pt x="272415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61777" y="2477096"/>
            <a:ext cx="2724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application, unfolding step by step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76549" y="2450902"/>
            <a:ext cx="1190625" cy="252412"/>
          </a:xfrm>
          <a:custGeom>
            <a:avLst/>
            <a:gdLst/>
            <a:ahLst/>
            <a:cxnLst/>
            <a:rect l="l" t="t" r="r" b="b"/>
            <a:pathLst>
              <a:path w="1190625" h="252412">
                <a:moveTo>
                  <a:pt x="86264" y="0"/>
                </a:moveTo>
                <a:lnTo>
                  <a:pt x="1104361" y="0"/>
                </a:lnTo>
                <a:quadBezTo>
                  <a:pt x="1190625" y="0"/>
                  <a:pt x="1190625" y="86264"/>
                </a:quadBezTo>
                <a:lnTo>
                  <a:pt x="1190625" y="166148"/>
                </a:lnTo>
                <a:quadBezTo>
                  <a:pt x="1190625" y="252412"/>
                  <a:pt x="1104361" y="252412"/>
                </a:quadBezTo>
                <a:lnTo>
                  <a:pt x="86264" y="252412"/>
                </a:lnTo>
                <a:quadBezTo>
                  <a:pt x="0" y="252412"/>
                  <a:pt x="0" y="166148"/>
                </a:quadBezTo>
                <a:lnTo>
                  <a:pt x="0" y="86264"/>
                </a:lnTo>
                <a:quadBezTo>
                  <a:pt x="0" y="0"/>
                  <a:pt x="86264" y="0"/>
                </a:quadBezTo>
                <a:close/>
              </a:path>
            </a:pathLst>
          </a:custGeom>
          <a:solidFill>
            <a:srgbClr val="E8F5F2"/>
          </a:solidFill>
          <a:ln/>
        </p:spPr>
      </p:sp>
      <p:sp>
        <p:nvSpPr>
          <p:cNvPr id="16" name="Text 13"/>
          <p:cNvSpPr/>
          <p:nvPr/>
        </p:nvSpPr>
        <p:spPr>
          <a:xfrm>
            <a:off x="5076549" y="2450902"/>
            <a:ext cx="1190625" cy="252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Citizen-led journey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808536"/>
            <a:ext cx="1838325" cy="13335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2808536"/>
            <a:ext cx="1838325" cy="13335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2808536"/>
            <a:ext cx="1838325" cy="13335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1071" y="4247257"/>
            <a:ext cx="1752600" cy="157163"/>
          </a:xfrm>
          <a:custGeom>
            <a:avLst/>
            <a:gdLst/>
            <a:ahLst/>
            <a:cxnLst/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591071" y="4247257"/>
            <a:ext cx="1752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Intent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91071" y="4433440"/>
            <a:ext cx="1752600" cy="271463"/>
          </a:xfrm>
          <a:custGeom>
            <a:avLst/>
            <a:gdLst/>
            <a:ahLst/>
            <a:cxnLst/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591071" y="4433440"/>
            <a:ext cx="17526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the service the citizen came for.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438400" y="4247704"/>
            <a:ext cx="1952625" cy="457200"/>
          </a:xfrm>
          <a:custGeom>
            <a:avLst/>
            <a:gdLst/>
            <a:ahLst/>
            <a:cxnLst/>
            <a:rect l="l" t="t" r="r" b="b"/>
            <a:pathLst>
              <a:path w="1952625" h="457200">
                <a:moveTo>
                  <a:pt x="0" y="0"/>
                </a:moveTo>
                <a:lnTo>
                  <a:pt x="1952625" y="0"/>
                </a:lnTo>
                <a:lnTo>
                  <a:pt x="1952625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2538409" y="4247257"/>
            <a:ext cx="1752600" cy="157163"/>
          </a:xfrm>
          <a:custGeom>
            <a:avLst/>
            <a:gdLst/>
            <a:ahLst/>
            <a:cxnLst/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2538409" y="4247257"/>
            <a:ext cx="1752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Assist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538409" y="4433440"/>
            <a:ext cx="1752600" cy="271463"/>
          </a:xfrm>
          <a:custGeom>
            <a:avLst/>
            <a:gdLst/>
            <a:ahLst/>
            <a:cxnLst/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2538409" y="4433440"/>
            <a:ext cx="17526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Consent, Smart Fill and Smart Attach reduce effort.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485754" y="4247257"/>
            <a:ext cx="1752600" cy="157163"/>
          </a:xfrm>
          <a:custGeom>
            <a:avLst/>
            <a:gdLst/>
            <a:ahLst/>
            <a:cxnLst/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485754" y="4247257"/>
            <a:ext cx="1752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Complete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485754" y="4433440"/>
            <a:ext cx="1752600" cy="271463"/>
          </a:xfrm>
          <a:custGeom>
            <a:avLst/>
            <a:gdLst/>
            <a:ahLst/>
            <a:cxnLst/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4485754" y="4433440"/>
            <a:ext cx="17526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identity, create a ticket, then choose.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677025" y="2308920"/>
            <a:ext cx="2047875" cy="2528888"/>
          </a:xfrm>
          <a:custGeom>
            <a:avLst/>
            <a:gdLst/>
            <a:ahLst/>
            <a:cxnLst/>
            <a:rect l="l" t="t" r="r" b="b"/>
            <a:pathLst>
              <a:path w="2047875" h="2528888">
                <a:moveTo>
                  <a:pt x="51033" y="0"/>
                </a:moveTo>
                <a:lnTo>
                  <a:pt x="1996842" y="0"/>
                </a:lnTo>
                <a:quadBezTo>
                  <a:pt x="2047875" y="0"/>
                  <a:pt x="2047875" y="51033"/>
                </a:quadBezTo>
                <a:lnTo>
                  <a:pt x="2047875" y="2477854"/>
                </a:lnTo>
                <a:quadBezTo>
                  <a:pt x="2047875" y="2528888"/>
                  <a:pt x="1996842" y="2528888"/>
                </a:quadBezTo>
                <a:lnTo>
                  <a:pt x="51033" y="2528888"/>
                </a:lnTo>
                <a:quadBezTo>
                  <a:pt x="0" y="2528888"/>
                  <a:pt x="0" y="2477854"/>
                </a:quadBezTo>
                <a:lnTo>
                  <a:pt x="0" y="51033"/>
                </a:lnTo>
                <a:quadBezTo>
                  <a:pt x="0" y="0"/>
                  <a:pt x="51033" y="0"/>
                </a:quadBezTo>
                <a:close/>
              </a:path>
            </a:pathLst>
          </a:custGeom>
          <a:solidFill>
            <a:srgbClr val="142033"/>
          </a:solidFill>
          <a:ln/>
        </p:spPr>
      </p:sp>
      <p:sp>
        <p:nvSpPr>
          <p:cNvPr id="34" name="Shape 28"/>
          <p:cNvSpPr/>
          <p:nvPr/>
        </p:nvSpPr>
        <p:spPr>
          <a:xfrm>
            <a:off x="6838950" y="2489796"/>
            <a:ext cx="1724025" cy="300038"/>
          </a:xfrm>
          <a:custGeom>
            <a:avLst/>
            <a:gdLst/>
            <a:ahLst/>
            <a:cxnLst/>
            <a:rect l="l" t="t" r="r" b="b"/>
            <a:pathLst>
              <a:path w="1724025" h="300038">
                <a:moveTo>
                  <a:pt x="0" y="0"/>
                </a:moveTo>
                <a:lnTo>
                  <a:pt x="1724025" y="0"/>
                </a:lnTo>
                <a:lnTo>
                  <a:pt x="1724025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838950" y="2489796"/>
            <a:ext cx="17240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service does the heavy lifting.</a:t>
            </a:r>
            <a:endParaRPr lang="en-US" sz="9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950" y="2933501"/>
            <a:ext cx="133350" cy="13335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048500" y="2934567"/>
            <a:ext cx="1514475" cy="128588"/>
          </a:xfrm>
          <a:custGeom>
            <a:avLst/>
            <a:gdLst/>
            <a:ahLst/>
            <a:cxnLst/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7048500" y="2934567"/>
            <a:ext cx="15144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first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7048500" y="3098204"/>
            <a:ext cx="1514475" cy="247650"/>
          </a:xfrm>
          <a:custGeom>
            <a:avLst/>
            <a:gdLst/>
            <a:ahLst/>
            <a:cxnLst/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7048500" y="3098204"/>
            <a:ext cx="151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citizen understands and authorises assistance.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8950" y="3470325"/>
            <a:ext cx="133350" cy="13335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048500" y="3471391"/>
            <a:ext cx="1514475" cy="128588"/>
          </a:xfrm>
          <a:custGeom>
            <a:avLst/>
            <a:gdLst/>
            <a:ahLst/>
            <a:cxnLst/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7048500" y="3471391"/>
            <a:ext cx="15144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assistance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048500" y="3635028"/>
            <a:ext cx="1514475" cy="247650"/>
          </a:xfrm>
          <a:custGeom>
            <a:avLst/>
            <a:gdLst/>
            <a:ahLst/>
            <a:cxnLst/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7048500" y="3635028"/>
            <a:ext cx="151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and documents move with less friction.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8950" y="4007147"/>
            <a:ext cx="133350" cy="13335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048500" y="4008214"/>
            <a:ext cx="1514475" cy="128588"/>
          </a:xfrm>
          <a:custGeom>
            <a:avLst/>
            <a:gdLst/>
            <a:ahLst/>
            <a:cxnLst/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39"/>
          <p:cNvSpPr/>
          <p:nvPr/>
        </p:nvSpPr>
        <p:spPr>
          <a:xfrm>
            <a:off x="7048500" y="4008214"/>
            <a:ext cx="15144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stays human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048500" y="4171851"/>
            <a:ext cx="1514475" cy="247650"/>
          </a:xfrm>
          <a:custGeom>
            <a:avLst/>
            <a:gdLst/>
            <a:ahLst/>
            <a:cxnLst/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1"/>
          <p:cNvSpPr/>
          <p:nvPr/>
        </p:nvSpPr>
        <p:spPr>
          <a:xfrm>
            <a:off x="7048500" y="4171851"/>
            <a:ext cx="151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 now—or keep the application as a draft.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838950" y="4419996"/>
            <a:ext cx="1724025" cy="366712"/>
          </a:xfrm>
          <a:custGeom>
            <a:avLst/>
            <a:gdLst/>
            <a:ahLst/>
            <a:cxnLst/>
            <a:rect l="l" t="t" r="r" b="b"/>
            <a:pathLst>
              <a:path w="1724025" h="366712">
                <a:moveTo>
                  <a:pt x="0" y="0"/>
                </a:moveTo>
                <a:lnTo>
                  <a:pt x="1724025" y="0"/>
                </a:lnTo>
                <a:lnTo>
                  <a:pt x="1724025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3"/>
          <p:cNvSpPr/>
          <p:nvPr/>
        </p:nvSpPr>
        <p:spPr>
          <a:xfrm>
            <a:off x="6838950" y="4419996"/>
            <a:ext cx="1724025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8BB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complete journey, not just a digital form.</a:t>
            </a:r>
            <a:endParaRPr lang="en-US" sz="9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4247704"/>
            <a:ext cx="1952625" cy="457200"/>
          </a:xfrm>
          <a:prstGeom prst="rect">
            <a:avLst/>
          </a:prstGeom>
        </p:spPr>
      </p:pic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8950" y="4419996"/>
            <a:ext cx="1724025" cy="366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1475"/>
            <a:ext cx="8229600" cy="171450"/>
          </a:xfrm>
          <a:custGeom>
            <a:avLst/>
            <a:gdLst/>
            <a:ahLst/>
            <a:cxnLst/>
            <a:rect l="l" t="t" r="r" b="b"/>
            <a:pathLst>
              <a:path w="8229600" h="171450">
                <a:moveTo>
                  <a:pt x="0" y="0"/>
                </a:moveTo>
                <a:lnTo>
                  <a:pt x="8229600" y="0"/>
                </a:lnTo>
                <a:lnTo>
                  <a:pt x="82296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1475"/>
            <a:ext cx="822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BOUNDARY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619770"/>
            <a:ext cx="8229600" cy="338137"/>
          </a:xfrm>
          <a:custGeom>
            <a:avLst/>
            <a:gdLst/>
            <a:ahLst/>
            <a:cxnLst/>
            <a:rect l="l" t="t" r="r" b="b"/>
            <a:pathLst>
              <a:path w="8229600" h="338137">
                <a:moveTo>
                  <a:pt x="0" y="0"/>
                </a:moveTo>
                <a:lnTo>
                  <a:pt x="8229600" y="0"/>
                </a:lnTo>
                <a:lnTo>
                  <a:pt x="8229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19770"/>
            <a:ext cx="8229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522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Preparation starts only when the citizen says yes.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35695"/>
            <a:ext cx="6000750" cy="409575"/>
          </a:xfrm>
          <a:custGeom>
            <a:avLst/>
            <a:gdLst/>
            <a:ahLst/>
            <a:cxnLst/>
            <a:rect l="l" t="t" r="r" b="b"/>
            <a:pathLst>
              <a:path w="6000750" h="409575">
                <a:moveTo>
                  <a:pt x="0" y="0"/>
                </a:moveTo>
                <a:lnTo>
                  <a:pt x="6000750" y="0"/>
                </a:lnTo>
                <a:lnTo>
                  <a:pt x="6000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35695"/>
            <a:ext cx="6000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is the gate. Intelligence prepares the application — it never takes control away.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018505"/>
            <a:ext cx="4000500" cy="2171700"/>
          </a:xfrm>
          <a:custGeom>
            <a:avLst/>
            <a:gdLst/>
            <a:ahLst/>
            <a:cxnLst/>
            <a:rect l="l" t="t" r="r" b="b"/>
            <a:pathLst>
              <a:path w="4000500" h="2171700">
                <a:moveTo>
                  <a:pt x="48125" y="0"/>
                </a:moveTo>
                <a:lnTo>
                  <a:pt x="3952375" y="0"/>
                </a:lnTo>
                <a:quadBezTo>
                  <a:pt x="4000500" y="0"/>
                  <a:pt x="4000500" y="48125"/>
                </a:quadBezTo>
                <a:lnTo>
                  <a:pt x="4000500" y="2123575"/>
                </a:lnTo>
                <a:quadBezTo>
                  <a:pt x="4000500" y="2171700"/>
                  <a:pt x="3952375" y="2171700"/>
                </a:quadBezTo>
                <a:lnTo>
                  <a:pt x="48125" y="2171700"/>
                </a:lnTo>
                <a:quadBezTo>
                  <a:pt x="0" y="2171700"/>
                  <a:pt x="0" y="2123575"/>
                </a:quadBezTo>
                <a:lnTo>
                  <a:pt x="0" y="48125"/>
                </a:lnTo>
                <a:quadBezTo>
                  <a:pt x="0" y="0"/>
                  <a:pt x="4812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52400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2950" y="224631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E2F4F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06" y="2315367"/>
            <a:ext cx="138113" cy="13811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03908" y="2279625"/>
            <a:ext cx="1471613" cy="209550"/>
          </a:xfrm>
          <a:custGeom>
            <a:avLst/>
            <a:gdLst/>
            <a:ahLst/>
            <a:cxnLst/>
            <a:rect l="l" t="t" r="r" b="b"/>
            <a:pathLst>
              <a:path w="1471613" h="209550">
                <a:moveTo>
                  <a:pt x="0" y="0"/>
                </a:moveTo>
                <a:lnTo>
                  <a:pt x="1471613" y="0"/>
                </a:lnTo>
                <a:lnTo>
                  <a:pt x="1471613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103908" y="2279625"/>
            <a:ext cx="1471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 consent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698749"/>
            <a:ext cx="133350" cy="1333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62892" y="2685106"/>
            <a:ext cx="1743075" cy="180975"/>
          </a:xfrm>
          <a:custGeom>
            <a:avLst/>
            <a:gdLst/>
            <a:ahLst/>
            <a:cxnLst/>
            <a:rect l="l" t="t" r="r" b="b"/>
            <a:pathLst>
              <a:path w="1743075" h="180975">
                <a:moveTo>
                  <a:pt x="0" y="0"/>
                </a:moveTo>
                <a:lnTo>
                  <a:pt x="1743075" y="0"/>
                </a:lnTo>
                <a:lnTo>
                  <a:pt x="17430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962892" y="2685106"/>
            <a:ext cx="1743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gates Smart Fill.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014365"/>
            <a:ext cx="133350" cy="1333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2645" y="3000722"/>
            <a:ext cx="2005012" cy="180975"/>
          </a:xfrm>
          <a:custGeom>
            <a:avLst/>
            <a:gdLst/>
            <a:ahLst/>
            <a:cxnLst/>
            <a:rect l="l" t="t" r="r" b="b"/>
            <a:pathLst>
              <a:path w="2005012" h="180975">
                <a:moveTo>
                  <a:pt x="0" y="0"/>
                </a:moveTo>
                <a:lnTo>
                  <a:pt x="2005012" y="0"/>
                </a:lnTo>
                <a:lnTo>
                  <a:pt x="2005012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962645" y="3000722"/>
            <a:ext cx="20050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gates Smart Attach.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42950" y="3637606"/>
            <a:ext cx="3467100" cy="323850"/>
          </a:xfrm>
          <a:custGeom>
            <a:avLst/>
            <a:gdLst/>
            <a:ahLst/>
            <a:cxnLst/>
            <a:rect l="l" t="t" r="r" b="b"/>
            <a:pathLst>
              <a:path w="3467100" h="323850">
                <a:moveTo>
                  <a:pt x="0" y="0"/>
                </a:moveTo>
                <a:lnTo>
                  <a:pt x="3467100" y="0"/>
                </a:lnTo>
                <a:lnTo>
                  <a:pt x="346710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742950" y="3637606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citizen decides when preparation begins.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686300" y="2018505"/>
            <a:ext cx="4000500" cy="2171700"/>
          </a:xfrm>
          <a:custGeom>
            <a:avLst/>
            <a:gdLst/>
            <a:ahLst/>
            <a:cxnLst/>
            <a:rect l="l" t="t" r="r" b="b"/>
            <a:pathLst>
              <a:path w="4000500" h="2171700">
                <a:moveTo>
                  <a:pt x="48125" y="0"/>
                </a:moveTo>
                <a:lnTo>
                  <a:pt x="3952375" y="0"/>
                </a:lnTo>
                <a:quadBezTo>
                  <a:pt x="4000500" y="0"/>
                  <a:pt x="4000500" y="48125"/>
                </a:quadBezTo>
                <a:lnTo>
                  <a:pt x="4000500" y="2123575"/>
                </a:lnTo>
                <a:quadBezTo>
                  <a:pt x="4000500" y="2171700"/>
                  <a:pt x="3952375" y="2171700"/>
                </a:quadBezTo>
                <a:lnTo>
                  <a:pt x="48125" y="2171700"/>
                </a:lnTo>
                <a:quadBezTo>
                  <a:pt x="0" y="2171700"/>
                  <a:pt x="0" y="2123575"/>
                </a:quadBezTo>
                <a:lnTo>
                  <a:pt x="0" y="48125"/>
                </a:lnTo>
                <a:quadBezTo>
                  <a:pt x="0" y="0"/>
                  <a:pt x="48125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933950" y="224631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D9E6F2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006" y="2315367"/>
            <a:ext cx="138113" cy="138113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295033" y="2279625"/>
            <a:ext cx="1990725" cy="209550"/>
          </a:xfrm>
          <a:custGeom>
            <a:avLst/>
            <a:gdLst/>
            <a:ahLst/>
            <a:cxnLst/>
            <a:rect l="l" t="t" r="r" b="b"/>
            <a:pathLst>
              <a:path w="1990725" h="209550">
                <a:moveTo>
                  <a:pt x="0" y="0"/>
                </a:moveTo>
                <a:lnTo>
                  <a:pt x="1990725" y="0"/>
                </a:lnTo>
                <a:lnTo>
                  <a:pt x="1990725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295033" y="2279625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application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2698749"/>
            <a:ext cx="133350" cy="13335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152752" y="2685106"/>
            <a:ext cx="1604963" cy="180975"/>
          </a:xfrm>
          <a:custGeom>
            <a:avLst/>
            <a:gdLst/>
            <a:ahLst/>
            <a:cxnLst/>
            <a:rect l="l" t="t" r="r" b="b"/>
            <a:pathLst>
              <a:path w="1604963" h="180975">
                <a:moveTo>
                  <a:pt x="0" y="0"/>
                </a:moveTo>
                <a:lnTo>
                  <a:pt x="1604963" y="0"/>
                </a:lnTo>
                <a:lnTo>
                  <a:pt x="160496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5152752" y="2685106"/>
            <a:ext cx="1604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 stays in control.</a:t>
            </a:r>
            <a:endParaRPr lang="en-US" sz="9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3014365"/>
            <a:ext cx="133350" cy="13335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53025" y="2998986"/>
            <a:ext cx="3286125" cy="366712"/>
          </a:xfrm>
          <a:custGeom>
            <a:avLst/>
            <a:gdLst/>
            <a:ahLst/>
            <a:cxnLst/>
            <a:rect l="l" t="t" r="r" b="b"/>
            <a:pathLst>
              <a:path w="3286125" h="366712">
                <a:moveTo>
                  <a:pt x="0" y="0"/>
                </a:moveTo>
                <a:lnTo>
                  <a:pt x="3286125" y="0"/>
                </a:lnTo>
                <a:lnTo>
                  <a:pt x="3286125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5"/>
          <p:cNvSpPr/>
          <p:nvPr/>
        </p:nvSpPr>
        <p:spPr>
          <a:xfrm>
            <a:off x="5153025" y="2998986"/>
            <a:ext cx="3286125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intelligence, not document storage.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933950" y="3637606"/>
            <a:ext cx="3505200" cy="323850"/>
          </a:xfrm>
          <a:custGeom>
            <a:avLst/>
            <a:gdLst/>
            <a:ahLst/>
            <a:cxnLst/>
            <a:rect l="l" t="t" r="r" b="b"/>
            <a:pathLst>
              <a:path w="3505200" h="323850">
                <a:moveTo>
                  <a:pt x="0" y="0"/>
                </a:moveTo>
                <a:lnTo>
                  <a:pt x="3505200" y="0"/>
                </a:lnTo>
                <a:lnTo>
                  <a:pt x="350520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7"/>
          <p:cNvSpPr/>
          <p:nvPr/>
        </p:nvSpPr>
        <p:spPr>
          <a:xfrm>
            <a:off x="4933950" y="3637606"/>
            <a:ext cx="350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repetition. Clearer ownership.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57200" y="4381500"/>
            <a:ext cx="8229600" cy="419100"/>
          </a:xfrm>
          <a:custGeom>
            <a:avLst/>
            <a:gdLst/>
            <a:ahLst/>
            <a:cxnLst/>
            <a:rect l="l" t="t" r="r" b="b"/>
            <a:pathLst>
              <a:path w="8229600" h="419100">
                <a:moveTo>
                  <a:pt x="51956" y="0"/>
                </a:moveTo>
                <a:lnTo>
                  <a:pt x="8177644" y="0"/>
                </a:lnTo>
                <a:quadBezTo>
                  <a:pt x="8229600" y="0"/>
                  <a:pt x="8229600" y="51956"/>
                </a:quadBezTo>
                <a:lnTo>
                  <a:pt x="8229600" y="367144"/>
                </a:lnTo>
                <a:quadBezTo>
                  <a:pt x="8229600" y="419100"/>
                  <a:pt x="8177644" y="419100"/>
                </a:quadBezTo>
                <a:lnTo>
                  <a:pt x="51956" y="419100"/>
                </a:lnTo>
                <a:quadBezTo>
                  <a:pt x="0" y="419100"/>
                  <a:pt x="0" y="367144"/>
                </a:quadBezTo>
                <a:lnTo>
                  <a:pt x="0" y="51956"/>
                </a:lnTo>
                <a:quadBezTo>
                  <a:pt x="0" y="0"/>
                  <a:pt x="51956" y="0"/>
                </a:quadBezTo>
                <a:close/>
              </a:path>
            </a:pathLst>
          </a:custGeom>
          <a:solidFill>
            <a:srgbClr val="142033"/>
          </a:solidFill>
          <a:ln/>
        </p:spPr>
      </p:sp>
      <p:sp>
        <p:nvSpPr>
          <p:cNvPr id="38" name="Shape 29"/>
          <p:cNvSpPr/>
          <p:nvPr/>
        </p:nvSpPr>
        <p:spPr>
          <a:xfrm>
            <a:off x="637431" y="4512469"/>
            <a:ext cx="5391150" cy="157163"/>
          </a:xfrm>
          <a:custGeom>
            <a:avLst/>
            <a:gdLst/>
            <a:ahLst/>
            <a:cxnLst/>
            <a:rect l="l" t="t" r="r" b="b"/>
            <a:pathLst>
              <a:path w="5391150" h="157163">
                <a:moveTo>
                  <a:pt x="0" y="0"/>
                </a:moveTo>
                <a:lnTo>
                  <a:pt x="5391150" y="0"/>
                </a:lnTo>
                <a:lnTo>
                  <a:pt x="53911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0"/>
          <p:cNvSpPr/>
          <p:nvPr/>
        </p:nvSpPr>
        <p:spPr>
          <a:xfrm>
            <a:off x="637431" y="4512469"/>
            <a:ext cx="5391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prepares only after permission — and the citizen remains the final authority.</a:t>
            </a:r>
            <a:endParaRPr lang="en-US" sz="9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50" y="4519613"/>
            <a:ext cx="142875" cy="142875"/>
          </a:xfrm>
          <a:prstGeom prst="rect">
            <a:avLst/>
          </a:prstGeom>
        </p:spPr>
      </p:pic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018505"/>
            <a:ext cx="40005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70978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0978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CAPABILITY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8583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8583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Fill + Smart Attach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11683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11683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guided steps that reduce citizen effort while keeping the officer in control.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94595"/>
            <a:ext cx="4000500" cy="2843213"/>
          </a:xfrm>
          <a:custGeom>
            <a:avLst/>
            <a:gdLst/>
            <a:ahLst/>
            <a:cxnLst/>
            <a:rect l="l" t="t" r="r" b="b"/>
            <a:pathLst>
              <a:path w="4000500" h="2843213">
                <a:moveTo>
                  <a:pt x="42876" y="0"/>
                </a:moveTo>
                <a:lnTo>
                  <a:pt x="3957624" y="0"/>
                </a:lnTo>
                <a:quadBezTo>
                  <a:pt x="4000500" y="0"/>
                  <a:pt x="4000500" y="42876"/>
                </a:quadBezTo>
                <a:lnTo>
                  <a:pt x="4000500" y="2800337"/>
                </a:lnTo>
                <a:quadBezTo>
                  <a:pt x="4000500" y="2843213"/>
                  <a:pt x="3957624" y="2843213"/>
                </a:quadBezTo>
                <a:lnTo>
                  <a:pt x="42876" y="2843213"/>
                </a:lnTo>
                <a:quadBezTo>
                  <a:pt x="0" y="2843213"/>
                  <a:pt x="0" y="2800337"/>
                </a:quadBezTo>
                <a:lnTo>
                  <a:pt x="0" y="42876"/>
                </a:lnTo>
                <a:quadBezTo>
                  <a:pt x="0" y="0"/>
                  <a:pt x="4287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76200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850" y="2222302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0156" y="0"/>
                </a:moveTo>
                <a:lnTo>
                  <a:pt x="301794" y="0"/>
                </a:lnTo>
                <a:quadBezTo>
                  <a:pt x="361950" y="0"/>
                  <a:pt x="361950" y="60156"/>
                </a:quadBezTo>
                <a:lnTo>
                  <a:pt x="361950" y="301794"/>
                </a:lnTo>
                <a:quadBezTo>
                  <a:pt x="361950" y="361950"/>
                  <a:pt x="301794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308027"/>
            <a:ext cx="190500" cy="1905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04850" y="2717602"/>
            <a:ext cx="3505200" cy="219075"/>
          </a:xfrm>
          <a:custGeom>
            <a:avLst/>
            <a:gdLst/>
            <a:ahLst/>
            <a:cxnLst/>
            <a:rect l="l" t="t" r="r" b="b"/>
            <a:pathLst>
              <a:path w="3505200" h="219075">
                <a:moveTo>
                  <a:pt x="0" y="0"/>
                </a:moveTo>
                <a:lnTo>
                  <a:pt x="3505200" y="0"/>
                </a:lnTo>
                <a:lnTo>
                  <a:pt x="35052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04850" y="2717602"/>
            <a:ext cx="3505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Fill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4850" y="3002161"/>
            <a:ext cx="3190875" cy="381000"/>
          </a:xfrm>
          <a:custGeom>
            <a:avLst/>
            <a:gdLst/>
            <a:ahLst/>
            <a:cxnLst/>
            <a:rect l="l" t="t" r="r" b="b"/>
            <a:pathLst>
              <a:path w="3190875" h="381000">
                <a:moveTo>
                  <a:pt x="0" y="0"/>
                </a:moveTo>
                <a:lnTo>
                  <a:pt x="3190875" y="0"/>
                </a:lnTo>
                <a:lnTo>
                  <a:pt x="3190875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04850" y="3002161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Prepares form fields from the citizen’s stated intent, making the next step clearer and faster.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 rot="10560000">
            <a:off x="704850" y="4142878"/>
            <a:ext cx="71438" cy="71438"/>
          </a:xfrm>
          <a:custGeom>
            <a:avLst/>
            <a:gdLst/>
            <a:ahLst/>
            <a:cxnLst/>
            <a:rect l="l" t="t" r="r" b="b"/>
            <a:pathLst>
              <a:path w="71438" h="71438">
                <a:moveTo>
                  <a:pt x="0" y="35719"/>
                </a:moveTo>
                <a:cubicBezTo>
                  <a:pt x="0" y="55446"/>
                  <a:pt x="15992" y="71438"/>
                  <a:pt x="35719" y="71438"/>
                </a:cubicBezTo>
                <a:cubicBezTo>
                  <a:pt x="55446" y="71438"/>
                  <a:pt x="71438" y="55446"/>
                  <a:pt x="71438" y="35719"/>
                </a:cubicBezTo>
                <a:cubicBezTo>
                  <a:pt x="71438" y="15992"/>
                  <a:pt x="55446" y="0"/>
                  <a:pt x="35719" y="0"/>
                </a:cubicBezTo>
                <a:cubicBezTo>
                  <a:pt x="15992" y="0"/>
                  <a:pt x="0" y="15992"/>
                  <a:pt x="0" y="35719"/>
                </a:cubicBezTo>
                <a:close/>
              </a:path>
            </a:pathLst>
          </a:custGeom>
          <a:solidFill>
            <a:srgbClr val="2F6FED"/>
          </a:solidFill>
          <a:ln/>
        </p:spPr>
      </p:sp>
      <p:sp>
        <p:nvSpPr>
          <p:cNvPr id="18" name="Shape 15"/>
          <p:cNvSpPr/>
          <p:nvPr/>
        </p:nvSpPr>
        <p:spPr>
          <a:xfrm>
            <a:off x="838424" y="4092460"/>
            <a:ext cx="2461193" cy="147637"/>
          </a:xfrm>
          <a:custGeom>
            <a:avLst/>
            <a:gdLst/>
            <a:ahLst/>
            <a:cxnLst/>
            <a:rect l="l" t="t" r="r" b="b"/>
            <a:pathLst>
              <a:path w="2461193" h="147637">
                <a:moveTo>
                  <a:pt x="0" y="0"/>
                </a:moveTo>
                <a:lnTo>
                  <a:pt x="2461193" y="0"/>
                </a:lnTo>
                <a:lnTo>
                  <a:pt x="246119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38424" y="4092460"/>
            <a:ext cx="246119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→ ready-to-review fields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86300" y="1994595"/>
            <a:ext cx="4000500" cy="2843213"/>
          </a:xfrm>
          <a:custGeom>
            <a:avLst/>
            <a:gdLst/>
            <a:ahLst/>
            <a:cxnLst/>
            <a:rect l="l" t="t" r="r" b="b"/>
            <a:pathLst>
              <a:path w="4000500" h="2843213">
                <a:moveTo>
                  <a:pt x="42876" y="0"/>
                </a:moveTo>
                <a:lnTo>
                  <a:pt x="3957624" y="0"/>
                </a:lnTo>
                <a:quadBezTo>
                  <a:pt x="4000500" y="0"/>
                  <a:pt x="4000500" y="42876"/>
                </a:quadBezTo>
                <a:lnTo>
                  <a:pt x="4000500" y="2800337"/>
                </a:lnTo>
                <a:quadBezTo>
                  <a:pt x="4000500" y="2843213"/>
                  <a:pt x="3957624" y="2843213"/>
                </a:quadBezTo>
                <a:lnTo>
                  <a:pt x="42876" y="2843213"/>
                </a:lnTo>
                <a:quadBezTo>
                  <a:pt x="0" y="2843213"/>
                  <a:pt x="0" y="2800337"/>
                </a:quadBezTo>
                <a:lnTo>
                  <a:pt x="0" y="42876"/>
                </a:lnTo>
                <a:quadBezTo>
                  <a:pt x="0" y="0"/>
                  <a:pt x="42876" y="0"/>
                </a:quadBezTo>
                <a:close/>
              </a:path>
            </a:pathLst>
          </a:custGeom>
          <a:solidFill>
            <a:srgbClr val="EAF6F3"/>
          </a:solidFill>
          <a:ln/>
          <a:effectLst>
            <a:outerShdw blurRad="161925" dist="76200" dir="2700000" algn="bl" rotWithShape="0">
              <a:srgbClr val="142033">
                <a:alpha val="5098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33950" y="2222302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0156" y="0"/>
                </a:moveTo>
                <a:lnTo>
                  <a:pt x="301794" y="0"/>
                </a:lnTo>
                <a:quadBezTo>
                  <a:pt x="361950" y="0"/>
                  <a:pt x="361950" y="60156"/>
                </a:quadBezTo>
                <a:lnTo>
                  <a:pt x="361950" y="301794"/>
                </a:lnTo>
                <a:quadBezTo>
                  <a:pt x="361950" y="361950"/>
                  <a:pt x="301794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D5EEE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675" y="2308027"/>
            <a:ext cx="190500" cy="1905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933950" y="2717602"/>
            <a:ext cx="3505200" cy="219075"/>
          </a:xfrm>
          <a:custGeom>
            <a:avLst/>
            <a:gdLst/>
            <a:ahLst/>
            <a:cxnLst/>
            <a:rect l="l" t="t" r="r" b="b"/>
            <a:pathLst>
              <a:path w="3505200" h="219075">
                <a:moveTo>
                  <a:pt x="0" y="0"/>
                </a:moveTo>
                <a:lnTo>
                  <a:pt x="3505200" y="0"/>
                </a:lnTo>
                <a:lnTo>
                  <a:pt x="35052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4933950" y="2717602"/>
            <a:ext cx="3505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Attach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933950" y="3003948"/>
            <a:ext cx="3190875" cy="566738"/>
          </a:xfrm>
          <a:custGeom>
            <a:avLst/>
            <a:gdLst/>
            <a:ahLst/>
            <a:cxnLst/>
            <a:rect l="l" t="t" r="r" b="b"/>
            <a:pathLst>
              <a:path w="3190875" h="566738">
                <a:moveTo>
                  <a:pt x="0" y="0"/>
                </a:moveTo>
                <a:lnTo>
                  <a:pt x="3190875" y="0"/>
                </a:lnTo>
                <a:lnTo>
                  <a:pt x="3190875" y="566738"/>
                </a:lnTo>
                <a:lnTo>
                  <a:pt x="0" y="566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4933950" y="3003948"/>
            <a:ext cx="319087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the required documents to the service, so citizens know what to provide before submission.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933950" y="407144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28" name="Shape 24"/>
          <p:cNvSpPr/>
          <p:nvPr/>
        </p:nvSpPr>
        <p:spPr>
          <a:xfrm>
            <a:off x="5083813" y="4030871"/>
            <a:ext cx="2637268" cy="147637"/>
          </a:xfrm>
          <a:custGeom>
            <a:avLst/>
            <a:gdLst/>
            <a:ahLst/>
            <a:cxnLst/>
            <a:rect l="l" t="t" r="r" b="b"/>
            <a:pathLst>
              <a:path w="2637268" h="147637">
                <a:moveTo>
                  <a:pt x="0" y="0"/>
                </a:moveTo>
                <a:lnTo>
                  <a:pt x="2637268" y="0"/>
                </a:lnTo>
                <a:lnTo>
                  <a:pt x="263726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5083813" y="4030871"/>
            <a:ext cx="263726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 → matched documents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57200" y="4606305"/>
            <a:ext cx="8229600" cy="309562"/>
          </a:xfrm>
          <a:custGeom>
            <a:avLst/>
            <a:gdLst/>
            <a:ahLst/>
            <a:cxnLst/>
            <a:rect l="l" t="t" r="r" b="b"/>
            <a:pathLst>
              <a:path w="8229600" h="309562">
                <a:moveTo>
                  <a:pt x="49236" y="0"/>
                </a:moveTo>
                <a:lnTo>
                  <a:pt x="8180364" y="0"/>
                </a:lnTo>
                <a:quadBezTo>
                  <a:pt x="8229600" y="0"/>
                  <a:pt x="8229600" y="49236"/>
                </a:quadBezTo>
                <a:lnTo>
                  <a:pt x="8229600" y="260327"/>
                </a:lnTo>
                <a:quadBezTo>
                  <a:pt x="8229600" y="309562"/>
                  <a:pt x="8180364" y="309562"/>
                </a:quadBezTo>
                <a:lnTo>
                  <a:pt x="49236" y="309562"/>
                </a:lnTo>
                <a:quadBezTo>
                  <a:pt x="0" y="309562"/>
                  <a:pt x="0" y="260327"/>
                </a:quadBezTo>
                <a:lnTo>
                  <a:pt x="0" y="49236"/>
                </a:lnTo>
                <a:quadBezTo>
                  <a:pt x="0" y="0"/>
                  <a:pt x="49236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03911"/>
            <a:ext cx="114300" cy="1143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61926" y="4692030"/>
            <a:ext cx="5386388" cy="138113"/>
          </a:xfrm>
          <a:custGeom>
            <a:avLst/>
            <a:gdLst/>
            <a:ahLst/>
            <a:cxnLst/>
            <a:rect l="l" t="t" r="r" b="b"/>
            <a:pathLst>
              <a:path w="5386388" h="138113">
                <a:moveTo>
                  <a:pt x="0" y="0"/>
                </a:moveTo>
                <a:lnTo>
                  <a:pt x="5386388" y="0"/>
                </a:lnTo>
                <a:lnTo>
                  <a:pt x="538638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761926" y="4692030"/>
            <a:ext cx="538638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boundary: synthetic demo data only — no real registry retrieval or government data access.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42900"/>
            <a:ext cx="8267700" cy="171450"/>
          </a:xfrm>
          <a:custGeom>
            <a:avLst/>
            <a:gdLst/>
            <a:ahLst/>
            <a:cxnLst/>
            <a:rect l="l" t="t" r="r" b="b"/>
            <a:pathLst>
              <a:path w="8267700" h="171450">
                <a:moveTo>
                  <a:pt x="0" y="0"/>
                </a:moveTo>
                <a:lnTo>
                  <a:pt x="8267700" y="0"/>
                </a:lnTo>
                <a:lnTo>
                  <a:pt x="82677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42900"/>
            <a:ext cx="826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VERIFICATION STATE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81571"/>
            <a:ext cx="8267700" cy="657225"/>
          </a:xfrm>
          <a:custGeom>
            <a:avLst/>
            <a:gdLst/>
            <a:ahLst/>
            <a:cxnLst/>
            <a:rect l="l" t="t" r="r" b="b"/>
            <a:pathLst>
              <a:path w="8267700" h="657225">
                <a:moveTo>
                  <a:pt x="0" y="0"/>
                </a:moveTo>
                <a:lnTo>
                  <a:pt x="8267700" y="0"/>
                </a:lnTo>
                <a:lnTo>
                  <a:pt x="826770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81571"/>
            <a:ext cx="82677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is visible, deterministic and clearly marked as a prototype.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304826"/>
            <a:ext cx="8267700" cy="195263"/>
          </a:xfrm>
          <a:custGeom>
            <a:avLst/>
            <a:gdLst/>
            <a:ahLst/>
            <a:cxnLst/>
            <a:rect l="l" t="t" r="r" b="b"/>
            <a:pathLst>
              <a:path w="8267700" h="195263">
                <a:moveTo>
                  <a:pt x="0" y="0"/>
                </a:moveTo>
                <a:lnTo>
                  <a:pt x="8267700" y="0"/>
                </a:lnTo>
                <a:lnTo>
                  <a:pt x="82677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1304826"/>
            <a:ext cx="82677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synthetic journey — from document capture to face and biometric demos.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2023417"/>
            <a:ext cx="5943600" cy="2795588"/>
          </a:xfrm>
          <a:custGeom>
            <a:avLst/>
            <a:gdLst/>
            <a:ahLst/>
            <a:cxnLst/>
            <a:rect l="l" t="t" r="r" b="b"/>
            <a:pathLst>
              <a:path w="5943600" h="2795588">
                <a:moveTo>
                  <a:pt x="43611" y="0"/>
                </a:moveTo>
                <a:lnTo>
                  <a:pt x="5899989" y="0"/>
                </a:lnTo>
                <a:quadBezTo>
                  <a:pt x="5943600" y="0"/>
                  <a:pt x="5943600" y="43611"/>
                </a:quadBezTo>
                <a:lnTo>
                  <a:pt x="5943600" y="2751976"/>
                </a:lnTo>
                <a:quadBezTo>
                  <a:pt x="5943600" y="2795588"/>
                  <a:pt x="5899989" y="2795588"/>
                </a:quadBezTo>
                <a:lnTo>
                  <a:pt x="43611" y="2795588"/>
                </a:lnTo>
                <a:quadBezTo>
                  <a:pt x="0" y="2795588"/>
                  <a:pt x="0" y="2751976"/>
                </a:quadBezTo>
                <a:lnTo>
                  <a:pt x="0" y="43611"/>
                </a:lnTo>
                <a:quadBezTo>
                  <a:pt x="0" y="0"/>
                  <a:pt x="4361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9824" y="2184697"/>
            <a:ext cx="1609725" cy="228600"/>
          </a:xfrm>
          <a:custGeom>
            <a:avLst/>
            <a:gdLst/>
            <a:ahLst/>
            <a:cxnLst/>
            <a:rect l="l" t="t" r="r" b="b"/>
            <a:pathLst>
              <a:path w="1609725" h="228600">
                <a:moveTo>
                  <a:pt x="0" y="0"/>
                </a:moveTo>
                <a:lnTo>
                  <a:pt x="1609725" y="0"/>
                </a:lnTo>
                <a:lnTo>
                  <a:pt x="1609725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09824" y="2184697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sequence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79106" y="227042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15" name="Shape 12"/>
          <p:cNvSpPr/>
          <p:nvPr/>
        </p:nvSpPr>
        <p:spPr>
          <a:xfrm>
            <a:off x="5583881" y="2233116"/>
            <a:ext cx="626419" cy="127000"/>
          </a:xfrm>
          <a:custGeom>
            <a:avLst/>
            <a:gdLst/>
            <a:ahLst/>
            <a:cxnLst/>
            <a:rect l="l" t="t" r="r" b="b"/>
            <a:pathLst>
              <a:path w="626419" h="127000">
                <a:moveTo>
                  <a:pt x="0" y="0"/>
                </a:moveTo>
                <a:lnTo>
                  <a:pt x="626419" y="0"/>
                </a:lnTo>
                <a:lnTo>
                  <a:pt x="626419" y="127000"/>
                </a:lnTo>
                <a:lnTo>
                  <a:pt x="0" y="127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583881" y="2233116"/>
            <a:ext cx="626419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state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7" y="2536354"/>
            <a:ext cx="1743075" cy="162877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8757" y="4239591"/>
            <a:ext cx="1743075" cy="133350"/>
          </a:xfrm>
          <a:custGeom>
            <a:avLst/>
            <a:gdLst/>
            <a:ahLst/>
            <a:cxnLst/>
            <a:rect l="l" t="t" r="r" b="b"/>
            <a:pathLst>
              <a:path w="1743075" h="133350">
                <a:moveTo>
                  <a:pt x="0" y="0"/>
                </a:moveTo>
                <a:lnTo>
                  <a:pt x="1743075" y="0"/>
                </a:lnTo>
                <a:lnTo>
                  <a:pt x="174307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08757" y="4239591"/>
            <a:ext cx="1743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nl-NL" sz="799" b="1" smtClean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 Mock Aadhaar + mock PAN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893" y="2536354"/>
            <a:ext cx="1743075" cy="16287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454893" y="4239591"/>
            <a:ext cx="1743075" cy="133350"/>
          </a:xfrm>
          <a:custGeom>
            <a:avLst/>
            <a:gdLst/>
            <a:ahLst/>
            <a:cxnLst/>
            <a:rect l="l" t="t" r="r" b="b"/>
            <a:pathLst>
              <a:path w="1743075" h="133350">
                <a:moveTo>
                  <a:pt x="0" y="0"/>
                </a:moveTo>
                <a:lnTo>
                  <a:pt x="1743075" y="0"/>
                </a:lnTo>
                <a:lnTo>
                  <a:pt x="174307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2454893" y="4239591"/>
            <a:ext cx="1743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pt-BR" sz="799" b="1" smtClean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 Mock e-KYC + face demo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207" y="2537322"/>
            <a:ext cx="1909762" cy="14954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301207" y="4109590"/>
            <a:ext cx="1909762" cy="261937"/>
          </a:xfrm>
          <a:custGeom>
            <a:avLst/>
            <a:gdLst/>
            <a:ahLst/>
            <a:cxnLst/>
            <a:rect l="l" t="t" r="r" b="b"/>
            <a:pathLst>
              <a:path w="1909762" h="261937">
                <a:moveTo>
                  <a:pt x="0" y="0"/>
                </a:moveTo>
                <a:lnTo>
                  <a:pt x="1909762" y="0"/>
                </a:lnTo>
                <a:lnTo>
                  <a:pt x="1909762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4301207" y="4109590"/>
            <a:ext cx="190976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smtClean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 QR fingerprint + five-finger scan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31519"/>
            <a:ext cx="119062" cy="11906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5635" y="4505325"/>
            <a:ext cx="2800350" cy="171450"/>
          </a:xfrm>
          <a:custGeom>
            <a:avLst/>
            <a:gdLst/>
            <a:ahLst/>
            <a:cxnLst/>
            <a:rect l="l" t="t" r="r" b="b"/>
            <a:pathLst>
              <a:path w="2800350" h="171450">
                <a:moveTo>
                  <a:pt x="0" y="0"/>
                </a:moveTo>
                <a:lnTo>
                  <a:pt x="2800350" y="0"/>
                </a:lnTo>
                <a:lnTo>
                  <a:pt x="28003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795635" y="4505325"/>
            <a:ext cx="2800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state is visible before the next step begins.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610350" y="2023417"/>
            <a:ext cx="2095500" cy="2795588"/>
          </a:xfrm>
          <a:custGeom>
            <a:avLst/>
            <a:gdLst/>
            <a:ahLst/>
            <a:cxnLst/>
            <a:rect l="l" t="t" r="r" b="b"/>
            <a:pathLst>
              <a:path w="2095500" h="2795588">
                <a:moveTo>
                  <a:pt x="58192" y="0"/>
                </a:moveTo>
                <a:lnTo>
                  <a:pt x="2037308" y="0"/>
                </a:lnTo>
                <a:quadBezTo>
                  <a:pt x="2095500" y="0"/>
                  <a:pt x="2095500" y="58192"/>
                </a:quadBezTo>
                <a:lnTo>
                  <a:pt x="2095500" y="2737395"/>
                </a:lnTo>
                <a:quadBezTo>
                  <a:pt x="2095500" y="2795588"/>
                  <a:pt x="2037308" y="2795588"/>
                </a:quadBezTo>
                <a:lnTo>
                  <a:pt x="58192" y="2795588"/>
                </a:lnTo>
                <a:quadBezTo>
                  <a:pt x="0" y="2795588"/>
                  <a:pt x="0" y="2737395"/>
                </a:quadBezTo>
                <a:lnTo>
                  <a:pt x="0" y="58192"/>
                </a:lnTo>
                <a:quadBezTo>
                  <a:pt x="0" y="0"/>
                  <a:pt x="58192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0" name="Shape 23"/>
          <p:cNvSpPr/>
          <p:nvPr/>
        </p:nvSpPr>
        <p:spPr>
          <a:xfrm>
            <a:off x="6781800" y="220374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2F6FED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475" y="2270422"/>
            <a:ext cx="142875" cy="14287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781800" y="2594124"/>
            <a:ext cx="1752600" cy="338137"/>
          </a:xfrm>
          <a:custGeom>
            <a:avLst/>
            <a:gdLst/>
            <a:ahLst/>
            <a:cxnLst/>
            <a:rect l="l" t="t" r="r" b="b"/>
            <a:pathLst>
              <a:path w="1752600" h="338137">
                <a:moveTo>
                  <a:pt x="0" y="0"/>
                </a:moveTo>
                <a:lnTo>
                  <a:pt x="1752600" y="0"/>
                </a:lnTo>
                <a:lnTo>
                  <a:pt x="1752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5"/>
          <p:cNvSpPr/>
          <p:nvPr/>
        </p:nvSpPr>
        <p:spPr>
          <a:xfrm>
            <a:off x="6781800" y="2594124"/>
            <a:ext cx="1752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Synthetic-only by design.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781800" y="3018358"/>
            <a:ext cx="1752600" cy="481012"/>
          </a:xfrm>
          <a:custGeom>
            <a:avLst/>
            <a:gdLst/>
            <a:ahLst/>
            <a:cxnLst/>
            <a:rect l="l" t="t" r="r" b="b"/>
            <a:pathLst>
              <a:path w="1752600" h="481012">
                <a:moveTo>
                  <a:pt x="0" y="0"/>
                </a:moveTo>
                <a:lnTo>
                  <a:pt x="1752600" y="0"/>
                </a:lnTo>
                <a:lnTo>
                  <a:pt x="1752600" y="481012"/>
                </a:lnTo>
                <a:lnTo>
                  <a:pt x="0" y="4810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6781800" y="3018358"/>
            <a:ext cx="17526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7391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prototype makes its verification boundary impossible to miss.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781800" y="3499891"/>
            <a:ext cx="1752600" cy="4763"/>
          </a:xfrm>
          <a:custGeom>
            <a:avLst/>
            <a:gdLst/>
            <a:ahLst/>
            <a:cxnLst/>
            <a:rect l="l" t="t" r="r" b="b"/>
            <a:pathLst>
              <a:path w="1752600" h="4763">
                <a:moveTo>
                  <a:pt x="0" y="0"/>
                </a:moveTo>
                <a:lnTo>
                  <a:pt x="1752600" y="0"/>
                </a:lnTo>
                <a:lnTo>
                  <a:pt x="17526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6F2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0" y="3618954"/>
            <a:ext cx="133350" cy="13335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6986588" y="3610373"/>
            <a:ext cx="1547813" cy="280987"/>
          </a:xfrm>
          <a:custGeom>
            <a:avLst/>
            <a:gdLst/>
            <a:ahLst/>
            <a:cxnLst/>
            <a:rect l="l" t="t" r="r" b="b"/>
            <a:pathLst>
              <a:path w="1547813" h="280987">
                <a:moveTo>
                  <a:pt x="0" y="0"/>
                </a:moveTo>
                <a:lnTo>
                  <a:pt x="1547813" y="0"/>
                </a:lnTo>
                <a:lnTo>
                  <a:pt x="1547813" y="280987"/>
                </a:lnTo>
                <a:lnTo>
                  <a:pt x="0" y="280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0"/>
          <p:cNvSpPr/>
          <p:nvPr/>
        </p:nvSpPr>
        <p:spPr>
          <a:xfrm>
            <a:off x="6986588" y="3610373"/>
            <a:ext cx="1547813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documents and demo biometrics only</a:t>
            </a:r>
            <a:endParaRPr lang="en-US" sz="9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4006602"/>
            <a:ext cx="133350" cy="13335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986588" y="3998020"/>
            <a:ext cx="1547813" cy="280987"/>
          </a:xfrm>
          <a:custGeom>
            <a:avLst/>
            <a:gdLst/>
            <a:ahLst/>
            <a:cxnLst/>
            <a:rect l="l" t="t" r="r" b="b"/>
            <a:pathLst>
              <a:path w="1547813" h="280987">
                <a:moveTo>
                  <a:pt x="0" y="0"/>
                </a:moveTo>
                <a:lnTo>
                  <a:pt x="1547813" y="0"/>
                </a:lnTo>
                <a:lnTo>
                  <a:pt x="1547813" y="280987"/>
                </a:lnTo>
                <a:lnTo>
                  <a:pt x="0" y="280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6986588" y="3998020"/>
            <a:ext cx="1547813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real government provider is contacted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781800" y="4385368"/>
            <a:ext cx="1752600" cy="419100"/>
          </a:xfrm>
          <a:custGeom>
            <a:avLst/>
            <a:gdLst/>
            <a:ahLst/>
            <a:cxnLst/>
            <a:rect l="l" t="t" r="r" b="b"/>
            <a:pathLst>
              <a:path w="1752600" h="419100">
                <a:moveTo>
                  <a:pt x="38968" y="0"/>
                </a:moveTo>
                <a:lnTo>
                  <a:pt x="1713632" y="0"/>
                </a:lnTo>
                <a:quadBezTo>
                  <a:pt x="1752600" y="0"/>
                  <a:pt x="1752600" y="38968"/>
                </a:quadBezTo>
                <a:lnTo>
                  <a:pt x="1752600" y="380132"/>
                </a:lnTo>
                <a:quadBezTo>
                  <a:pt x="1752600" y="419100"/>
                  <a:pt x="1713632" y="419100"/>
                </a:quadBezTo>
                <a:lnTo>
                  <a:pt x="38968" y="419100"/>
                </a:lnTo>
                <a:quadBezTo>
                  <a:pt x="0" y="419100"/>
                  <a:pt x="0" y="380132"/>
                </a:quadBezTo>
                <a:lnTo>
                  <a:pt x="0" y="38968"/>
                </a:lnTo>
                <a:quadBezTo>
                  <a:pt x="0" y="0"/>
                  <a:pt x="38968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34"/>
          <p:cNvSpPr/>
          <p:nvPr/>
        </p:nvSpPr>
        <p:spPr>
          <a:xfrm>
            <a:off x="6781800" y="4385368"/>
            <a:ext cx="175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to present, inspect and repeat.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800" y="4385368"/>
            <a:ext cx="1752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370978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150" y="370978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BETTER STARTING POINT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150" y="575815"/>
            <a:ext cx="8267700" cy="657225"/>
          </a:xfrm>
          <a:custGeom>
            <a:avLst/>
            <a:gdLst/>
            <a:ahLst/>
            <a:cxnLst/>
            <a:rect l="l" t="t" r="r" b="b"/>
            <a:pathLst>
              <a:path w="8267700" h="657225">
                <a:moveTo>
                  <a:pt x="0" y="0"/>
                </a:moveTo>
                <a:lnTo>
                  <a:pt x="8267700" y="0"/>
                </a:lnTo>
                <a:lnTo>
                  <a:pt x="826770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150" y="575815"/>
            <a:ext cx="82677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government application journey — from home.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150" y="1319783"/>
            <a:ext cx="5334000" cy="204787"/>
          </a:xfrm>
          <a:custGeom>
            <a:avLst/>
            <a:gdLst/>
            <a:ahLst/>
            <a:cxnLst/>
            <a:rect l="l" t="t" r="r" b="b"/>
            <a:pathLst>
              <a:path w="5334000" h="204787">
                <a:moveTo>
                  <a:pt x="0" y="0"/>
                </a:moveTo>
                <a:lnTo>
                  <a:pt x="5334000" y="0"/>
                </a:lnTo>
                <a:lnTo>
                  <a:pt x="53340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150" y="1319783"/>
            <a:ext cx="53340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intent into progress, with the right support at every step.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621" y="2067446"/>
            <a:ext cx="4319588" cy="2733675"/>
          </a:xfrm>
          <a:custGeom>
            <a:avLst/>
            <a:gdLst/>
            <a:ahLst/>
            <a:cxnLst/>
            <a:rect l="l" t="t" r="r" b="b"/>
            <a:pathLst>
              <a:path w="4319588" h="2733675">
                <a:moveTo>
                  <a:pt x="44614" y="0"/>
                </a:moveTo>
                <a:lnTo>
                  <a:pt x="4274974" y="0"/>
                </a:lnTo>
                <a:quadBezTo>
                  <a:pt x="4319588" y="0"/>
                  <a:pt x="4319588" y="44614"/>
                </a:quadBezTo>
                <a:lnTo>
                  <a:pt x="4319588" y="2689061"/>
                </a:lnTo>
                <a:quadBezTo>
                  <a:pt x="4319588" y="2733675"/>
                  <a:pt x="4274974" y="2733675"/>
                </a:quadBezTo>
                <a:lnTo>
                  <a:pt x="44614" y="2733675"/>
                </a:lnTo>
                <a:quadBezTo>
                  <a:pt x="0" y="2733675"/>
                  <a:pt x="0" y="2689061"/>
                </a:quadBezTo>
                <a:lnTo>
                  <a:pt x="0" y="44614"/>
                </a:lnTo>
                <a:quadBezTo>
                  <a:pt x="0" y="0"/>
                  <a:pt x="44614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/>
          <a:effectLst>
            <a:outerShdw blurRad="209550" dist="85725" dir="2700000" algn="bl" rotWithShape="0">
              <a:srgbClr val="142033">
                <a:alpha val="10196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21" y="2067446"/>
            <a:ext cx="4319588" cy="27336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0273" y="4358184"/>
            <a:ext cx="1681162" cy="290513"/>
          </a:xfrm>
          <a:custGeom>
            <a:avLst/>
            <a:gdLst/>
            <a:ahLst/>
            <a:cxnLst/>
            <a:rect l="l" t="t" r="r" b="b"/>
            <a:pathLst>
              <a:path w="1681162" h="290513">
                <a:moveTo>
                  <a:pt x="52467" y="0"/>
                </a:moveTo>
                <a:lnTo>
                  <a:pt x="1628696" y="0"/>
                </a:lnTo>
                <a:quadBezTo>
                  <a:pt x="1681162" y="0"/>
                  <a:pt x="1681162" y="52467"/>
                </a:quadBezTo>
                <a:lnTo>
                  <a:pt x="1681162" y="238046"/>
                </a:lnTo>
                <a:quadBezTo>
                  <a:pt x="1681162" y="290513"/>
                  <a:pt x="1628696" y="290513"/>
                </a:quadBezTo>
                <a:lnTo>
                  <a:pt x="52467" y="290513"/>
                </a:lnTo>
                <a:quadBezTo>
                  <a:pt x="0" y="290513"/>
                  <a:pt x="0" y="238046"/>
                </a:quadBezTo>
                <a:lnTo>
                  <a:pt x="0" y="52467"/>
                </a:lnTo>
                <a:quadBezTo>
                  <a:pt x="0" y="0"/>
                  <a:pt x="52467" y="0"/>
                </a:quadBezTo>
                <a:close/>
              </a:path>
            </a:pathLst>
          </a:custGeom>
          <a:solidFill>
            <a:srgbClr val="142033">
              <a:alpha val="87843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00273" y="4358184"/>
            <a:ext cx="168116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 Start where life happens.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4906" y="2067446"/>
            <a:ext cx="3681412" cy="2733675"/>
          </a:xfrm>
          <a:custGeom>
            <a:avLst/>
            <a:gdLst/>
            <a:ahLst/>
            <a:cxnLst/>
            <a:rect l="l" t="t" r="r" b="b"/>
            <a:pathLst>
              <a:path w="3681412" h="2733675">
                <a:moveTo>
                  <a:pt x="44614" y="0"/>
                </a:moveTo>
                <a:lnTo>
                  <a:pt x="3636799" y="0"/>
                </a:lnTo>
                <a:quadBezTo>
                  <a:pt x="3681412" y="0"/>
                  <a:pt x="3681412" y="44614"/>
                </a:quadBezTo>
                <a:lnTo>
                  <a:pt x="3681412" y="2689061"/>
                </a:lnTo>
                <a:quadBezTo>
                  <a:pt x="3681412" y="2733675"/>
                  <a:pt x="3636799" y="2733675"/>
                </a:quadBezTo>
                <a:lnTo>
                  <a:pt x="44614" y="2733675"/>
                </a:lnTo>
                <a:quadBezTo>
                  <a:pt x="0" y="2733675"/>
                  <a:pt x="0" y="2689061"/>
                </a:quadBezTo>
                <a:lnTo>
                  <a:pt x="0" y="44614"/>
                </a:lnTo>
                <a:quadBezTo>
                  <a:pt x="0" y="0"/>
                  <a:pt x="4461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09550" dist="8572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63502" y="2056160"/>
            <a:ext cx="57150" cy="247650"/>
          </a:xfrm>
          <a:custGeom>
            <a:avLst/>
            <a:gdLst/>
            <a:ahLst/>
            <a:cxnLst/>
            <a:rect l="l" t="t" r="r" b="b"/>
            <a:pathLst>
              <a:path w="57150" h="247650">
                <a:moveTo>
                  <a:pt x="50800" y="0"/>
                </a:moveTo>
                <a:lnTo>
                  <a:pt x="50800" y="0"/>
                </a:lnTo>
                <a:quadBezTo>
                  <a:pt x="101600" y="0"/>
                  <a:pt x="101600" y="50800"/>
                </a:quadBezTo>
                <a:lnTo>
                  <a:pt x="101600" y="389467"/>
                </a:lnTo>
                <a:quadBezTo>
                  <a:pt x="101600" y="440267"/>
                  <a:pt x="50800" y="440267"/>
                </a:quadBezTo>
                <a:lnTo>
                  <a:pt x="50800" y="440267"/>
                </a:lnTo>
                <a:quadBezTo>
                  <a:pt x="0" y="440267"/>
                  <a:pt x="0" y="389467"/>
                </a:quadBezTo>
                <a:lnTo>
                  <a:pt x="0" y="50800"/>
                </a:lnTo>
                <a:quadBezTo>
                  <a:pt x="0" y="0"/>
                  <a:pt x="50800" y="0"/>
                </a:quad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16" name="Shape 13"/>
          <p:cNvSpPr/>
          <p:nvPr/>
        </p:nvSpPr>
        <p:spPr>
          <a:xfrm>
            <a:off x="5388418" y="2068041"/>
            <a:ext cx="2881313" cy="223838"/>
          </a:xfrm>
          <a:custGeom>
            <a:avLst/>
            <a:gdLst/>
            <a:ahLst/>
            <a:cxnLst/>
            <a:rect l="l" t="t" r="r" b="b"/>
            <a:pathLst>
              <a:path w="2881313" h="223838">
                <a:moveTo>
                  <a:pt x="0" y="0"/>
                </a:moveTo>
                <a:lnTo>
                  <a:pt x="2881313" y="0"/>
                </a:lnTo>
                <a:lnTo>
                  <a:pt x="2881313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388418" y="2068041"/>
            <a:ext cx="288131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effort. More confidence.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502" y="2499072"/>
            <a:ext cx="142875" cy="1428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01156" y="2484289"/>
            <a:ext cx="2967038" cy="166688"/>
          </a:xfrm>
          <a:custGeom>
            <a:avLst/>
            <a:gdLst/>
            <a:ahLst/>
            <a:cxnLst/>
            <a:rect l="l" t="t" r="r" b="b"/>
            <a:pathLst>
              <a:path w="2967038" h="166688">
                <a:moveTo>
                  <a:pt x="0" y="0"/>
                </a:moveTo>
                <a:lnTo>
                  <a:pt x="2967038" y="0"/>
                </a:lnTo>
                <a:lnTo>
                  <a:pt x="296703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501156" y="2484289"/>
            <a:ext cx="296703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portal hunting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501156" y="2683819"/>
            <a:ext cx="2967038" cy="328613"/>
          </a:xfrm>
          <a:custGeom>
            <a:avLst/>
            <a:gdLst/>
            <a:ahLst/>
            <a:cxnLst/>
            <a:rect l="l" t="t" r="r" b="b"/>
            <a:pathLst>
              <a:path w="2967038" h="328613">
                <a:moveTo>
                  <a:pt x="0" y="0"/>
                </a:moveTo>
                <a:lnTo>
                  <a:pt x="2967038" y="0"/>
                </a:lnTo>
                <a:lnTo>
                  <a:pt x="2967038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501156" y="2683819"/>
            <a:ext cx="29670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right service from one clear starting point.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502" y="3169594"/>
            <a:ext cx="142875" cy="14287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01156" y="3154810"/>
            <a:ext cx="2967038" cy="166688"/>
          </a:xfrm>
          <a:custGeom>
            <a:avLst/>
            <a:gdLst/>
            <a:ahLst/>
            <a:cxnLst/>
            <a:rect l="l" t="t" r="r" b="b"/>
            <a:pathLst>
              <a:path w="2967038" h="166688">
                <a:moveTo>
                  <a:pt x="0" y="0"/>
                </a:moveTo>
                <a:lnTo>
                  <a:pt x="2967038" y="0"/>
                </a:lnTo>
                <a:lnTo>
                  <a:pt x="296703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501156" y="3154810"/>
            <a:ext cx="296703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repetitive entry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501156" y="3354338"/>
            <a:ext cx="2967038" cy="328613"/>
          </a:xfrm>
          <a:custGeom>
            <a:avLst/>
            <a:gdLst/>
            <a:ahLst/>
            <a:cxnLst/>
            <a:rect l="l" t="t" r="r" b="b"/>
            <a:pathLst>
              <a:path w="2967038" h="328613">
                <a:moveTo>
                  <a:pt x="0" y="0"/>
                </a:moveTo>
                <a:lnTo>
                  <a:pt x="2967038" y="0"/>
                </a:lnTo>
                <a:lnTo>
                  <a:pt x="2967038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501156" y="3354338"/>
            <a:ext cx="29670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 information once, then move forward with ease.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502" y="3840113"/>
            <a:ext cx="142875" cy="1428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501156" y="3825329"/>
            <a:ext cx="2967038" cy="166688"/>
          </a:xfrm>
          <a:custGeom>
            <a:avLst/>
            <a:gdLst/>
            <a:ahLst/>
            <a:cxnLst/>
            <a:rect l="l" t="t" r="r" b="b"/>
            <a:pathLst>
              <a:path w="2967038" h="166688">
                <a:moveTo>
                  <a:pt x="0" y="0"/>
                </a:moveTo>
                <a:lnTo>
                  <a:pt x="2967038" y="0"/>
                </a:lnTo>
                <a:lnTo>
                  <a:pt x="296703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5501156" y="3825329"/>
            <a:ext cx="296703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Guided through verification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501156" y="4024859"/>
            <a:ext cx="2967038" cy="328613"/>
          </a:xfrm>
          <a:custGeom>
            <a:avLst/>
            <a:gdLst/>
            <a:ahLst/>
            <a:cxnLst/>
            <a:rect l="l" t="t" r="r" b="b"/>
            <a:pathLst>
              <a:path w="2967038" h="328613">
                <a:moveTo>
                  <a:pt x="0" y="0"/>
                </a:moveTo>
                <a:lnTo>
                  <a:pt x="2967038" y="0"/>
                </a:lnTo>
                <a:lnTo>
                  <a:pt x="2967038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501156" y="4024859"/>
            <a:ext cx="29670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what is needed, where you stand, and what comes next.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263031" y="4554364"/>
            <a:ext cx="3205162" cy="257175"/>
          </a:xfrm>
          <a:custGeom>
            <a:avLst/>
            <a:gdLst/>
            <a:ahLst/>
            <a:cxnLst/>
            <a:rect l="l" t="t" r="r" b="b"/>
            <a:pathLst>
              <a:path w="3205162" h="257175">
                <a:moveTo>
                  <a:pt x="0" y="0"/>
                </a:moveTo>
                <a:lnTo>
                  <a:pt x="3205162" y="0"/>
                </a:lnTo>
                <a:lnTo>
                  <a:pt x="3205162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5263031" y="4554364"/>
            <a:ext cx="32051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calmer path from application to completion.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3031" y="4554364"/>
            <a:ext cx="3205162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78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78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HUMAN-OWNED REVIEW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4973"/>
            <a:ext cx="8267700" cy="700088"/>
          </a:xfrm>
          <a:custGeom>
            <a:avLst/>
            <a:gdLst/>
            <a:ahLst/>
            <a:cxnLst/>
            <a:rect l="l" t="t" r="r" b="b"/>
            <a:pathLst>
              <a:path w="8267700" h="700088">
                <a:moveTo>
                  <a:pt x="0" y="0"/>
                </a:moveTo>
                <a:lnTo>
                  <a:pt x="8267700" y="0"/>
                </a:lnTo>
                <a:lnTo>
                  <a:pt x="82677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74973"/>
            <a:ext cx="82677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assists the officer. The officer owns the final decision.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342380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1342380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workflow keeps advisory intelligence in service of accountable public decisions.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2363539"/>
            <a:ext cx="2628900" cy="1824037"/>
          </a:xfrm>
          <a:custGeom>
            <a:avLst/>
            <a:gdLst/>
            <a:ahLst/>
            <a:cxnLst/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175" y="25625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638723"/>
            <a:ext cx="152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56345" y="2662535"/>
            <a:ext cx="109537" cy="104775"/>
          </a:xfrm>
          <a:custGeom>
            <a:avLst/>
            <a:gdLst/>
            <a:ahLst/>
            <a:cxnLst/>
            <a:rect l="l" t="t" r="r" b="b"/>
            <a:pathLst>
              <a:path w="109537" h="104775">
                <a:moveTo>
                  <a:pt x="0" y="0"/>
                </a:moveTo>
                <a:lnTo>
                  <a:pt x="109537" y="0"/>
                </a:lnTo>
                <a:lnTo>
                  <a:pt x="109537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756345" y="2662535"/>
            <a:ext cx="1095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8175" y="2982069"/>
            <a:ext cx="2228850" cy="371475"/>
          </a:xfrm>
          <a:custGeom>
            <a:avLst/>
            <a:gdLst/>
            <a:ahLst/>
            <a:cxnLst/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38175" y="2982069"/>
            <a:ext cx="2228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Submission enters the queue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8175" y="3410645"/>
            <a:ext cx="2228850" cy="347663"/>
          </a:xfrm>
          <a:custGeom>
            <a:avLst/>
            <a:gdLst/>
            <a:ahLst/>
            <a:cxnLst/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38175" y="3410645"/>
            <a:ext cx="2228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request is ready for accountable review.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8175" y="3983831"/>
            <a:ext cx="2228850" cy="23812"/>
          </a:xfrm>
          <a:custGeom>
            <a:avLst/>
            <a:gdLst/>
            <a:ahLst/>
            <a:cxnLst/>
            <a:rect l="l" t="t" r="r" b="b"/>
            <a:pathLst>
              <a:path w="2228850" h="23812">
                <a:moveTo>
                  <a:pt x="21167" y="0"/>
                </a:moveTo>
                <a:lnTo>
                  <a:pt x="3941233" y="0"/>
                </a:lnTo>
                <a:quadBezTo>
                  <a:pt x="3962400" y="0"/>
                  <a:pt x="3962400" y="21167"/>
                </a:quadBezTo>
                <a:lnTo>
                  <a:pt x="3962400" y="21167"/>
                </a:lnTo>
                <a:quadBezTo>
                  <a:pt x="3962400" y="42333"/>
                  <a:pt x="39412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>
            <a:srgbClr val="D9E6F2"/>
          </a:solidFill>
          <a:ln/>
        </p:spPr>
      </p:sp>
      <p:sp>
        <p:nvSpPr>
          <p:cNvPr id="21" name="Shape 17"/>
          <p:cNvSpPr/>
          <p:nvPr/>
        </p:nvSpPr>
        <p:spPr>
          <a:xfrm>
            <a:off x="3257550" y="2363539"/>
            <a:ext cx="2628900" cy="1824037"/>
          </a:xfrm>
          <a:custGeom>
            <a:avLst/>
            <a:gdLst/>
            <a:ahLst/>
            <a:cxnLst/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57575" y="25625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7F5F2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775" y="2638723"/>
            <a:ext cx="152400" cy="1524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53469" y="2662535"/>
            <a:ext cx="133350" cy="104775"/>
          </a:xfrm>
          <a:custGeom>
            <a:avLst/>
            <a:gdLst/>
            <a:ahLst/>
            <a:cxnLst/>
            <a:rect l="l" t="t" r="r" b="b"/>
            <a:pathLst>
              <a:path w="133350" h="104775">
                <a:moveTo>
                  <a:pt x="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553469" y="2662535"/>
            <a:ext cx="13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457575" y="2982069"/>
            <a:ext cx="2228850" cy="371475"/>
          </a:xfrm>
          <a:custGeom>
            <a:avLst/>
            <a:gdLst/>
            <a:ahLst/>
            <a:cxnLst/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457575" y="2982069"/>
            <a:ext cx="2228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Officer claims and reviews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457575" y="3410645"/>
            <a:ext cx="2228850" cy="347663"/>
          </a:xfrm>
          <a:custGeom>
            <a:avLst/>
            <a:gdLst/>
            <a:ahLst/>
            <a:cxnLst/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3457575" y="3410645"/>
            <a:ext cx="2228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officer examines the submission with context.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457575" y="3983831"/>
            <a:ext cx="2228850" cy="23812"/>
          </a:xfrm>
          <a:custGeom>
            <a:avLst/>
            <a:gdLst/>
            <a:ahLst/>
            <a:cxnLst/>
            <a:rect l="l" t="t" r="r" b="b"/>
            <a:pathLst>
              <a:path w="2228850" h="23812">
                <a:moveTo>
                  <a:pt x="21167" y="0"/>
                </a:moveTo>
                <a:lnTo>
                  <a:pt x="3941233" y="0"/>
                </a:lnTo>
                <a:quadBezTo>
                  <a:pt x="3962400" y="0"/>
                  <a:pt x="3962400" y="21167"/>
                </a:quadBezTo>
                <a:lnTo>
                  <a:pt x="3962400" y="21167"/>
                </a:lnTo>
                <a:quadBezTo>
                  <a:pt x="3962400" y="42333"/>
                  <a:pt x="39412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>
            <a:srgbClr val="7FD3C6"/>
          </a:solidFill>
          <a:ln/>
        </p:spPr>
      </p:sp>
      <p:sp>
        <p:nvSpPr>
          <p:cNvPr id="31" name="Shape 26"/>
          <p:cNvSpPr/>
          <p:nvPr/>
        </p:nvSpPr>
        <p:spPr>
          <a:xfrm>
            <a:off x="6076950" y="2363539"/>
            <a:ext cx="2628900" cy="1824037"/>
          </a:xfrm>
          <a:custGeom>
            <a:avLst/>
            <a:gdLst/>
            <a:ahLst/>
            <a:cxnLst/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>
            <a:srgbClr val="142033"/>
          </a:solidFill>
          <a:ln/>
          <a:effectLst>
            <a:outerShdw blurRad="142875" dist="57150" dir="2700000" algn="bl" rotWithShape="0">
              <a:srgbClr val="142033">
                <a:alpha val="12157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76975" y="25625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2F6FED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2638723"/>
            <a:ext cx="152400" cy="1524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373071" y="2662535"/>
            <a:ext cx="133350" cy="104775"/>
          </a:xfrm>
          <a:custGeom>
            <a:avLst/>
            <a:gdLst/>
            <a:ahLst/>
            <a:cxnLst/>
            <a:rect l="l" t="t" r="r" b="b"/>
            <a:pathLst>
              <a:path w="133350" h="104775">
                <a:moveTo>
                  <a:pt x="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8373071" y="2662535"/>
            <a:ext cx="13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8BB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76975" y="2982069"/>
            <a:ext cx="2228850" cy="371475"/>
          </a:xfrm>
          <a:custGeom>
            <a:avLst/>
            <a:gdLst/>
            <a:ahLst/>
            <a:cxnLst/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276975" y="2982069"/>
            <a:ext cx="2228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advises. Officer decides.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276975" y="3410645"/>
            <a:ext cx="2228850" cy="347663"/>
          </a:xfrm>
          <a:custGeom>
            <a:avLst/>
            <a:gdLst/>
            <a:ahLst/>
            <a:cxnLst/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276975" y="3410645"/>
            <a:ext cx="2228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Approve, correct, or reject remain officer decisions.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276975" y="3769519"/>
            <a:ext cx="2228850" cy="238125"/>
          </a:xfrm>
          <a:custGeom>
            <a:avLst/>
            <a:gdLst/>
            <a:ahLst/>
            <a:cxnLst/>
            <a:rect l="l" t="t" r="r" b="b"/>
            <a:pathLst>
              <a:path w="2228850" h="238125">
                <a:moveTo>
                  <a:pt x="0" y="0"/>
                </a:moveTo>
                <a:lnTo>
                  <a:pt x="2228850" y="0"/>
                </a:lnTo>
                <a:lnTo>
                  <a:pt x="2228850" y="238125"/>
                </a:lnTo>
                <a:lnTo>
                  <a:pt x="0" y="2381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276975" y="3769519"/>
            <a:ext cx="22288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</a:t>
            </a:r>
            <a:r>
              <a:rPr lang="en-US" sz="602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698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</a:t>
            </a:r>
            <a:r>
              <a:rPr lang="en-US" sz="602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698" b="1" dirty="0">
                <a:solidFill>
                  <a:srgbClr val="A94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</a:t>
            </a:r>
            <a:endParaRPr lang="en-US" sz="9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416027"/>
            <a:ext cx="8267700" cy="385763"/>
          </a:xfrm>
          <a:prstGeom prst="rect">
            <a:avLst/>
          </a:prstGeom>
        </p:spPr>
      </p:pic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542234"/>
            <a:ext cx="133350" cy="13335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837679" y="4530327"/>
            <a:ext cx="4148137" cy="157163"/>
          </a:xfrm>
          <a:custGeom>
            <a:avLst/>
            <a:gdLst/>
            <a:ahLst/>
            <a:cxnLst/>
            <a:rect l="l" t="t" r="r" b="b"/>
            <a:pathLst>
              <a:path w="4148137" h="157163">
                <a:moveTo>
                  <a:pt x="0" y="0"/>
                </a:moveTo>
                <a:lnTo>
                  <a:pt x="4148137" y="0"/>
                </a:lnTo>
                <a:lnTo>
                  <a:pt x="41481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837679" y="4530327"/>
            <a:ext cx="41481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provides advisory support — accountability stays with the officer.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" y="4416027"/>
            <a:ext cx="8267700" cy="385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895" y="361453"/>
            <a:ext cx="1866900" cy="138113"/>
          </a:xfrm>
          <a:custGeom>
            <a:avLst/>
            <a:gdLst/>
            <a:ahLst/>
            <a:cxnLst/>
            <a:rect l="l" t="t" r="r" b="b"/>
            <a:pathLst>
              <a:path w="1866900" h="138113">
                <a:moveTo>
                  <a:pt x="0" y="0"/>
                </a:moveTo>
                <a:lnTo>
                  <a:pt x="1866900" y="0"/>
                </a:lnTo>
                <a:lnTo>
                  <a:pt x="18669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895" y="361453"/>
            <a:ext cx="18669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CONNECTED JOURNEY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4775"/>
            <a:ext cx="8229600" cy="681038"/>
          </a:xfrm>
          <a:custGeom>
            <a:avLst/>
            <a:gdLst/>
            <a:ahLst/>
            <a:cxnLst/>
            <a:rect l="l" t="t" r="r" b="b"/>
            <a:pathLst>
              <a:path w="8229600" h="681038">
                <a:moveTo>
                  <a:pt x="0" y="0"/>
                </a:moveTo>
                <a:lnTo>
                  <a:pt x="8229600" y="0"/>
                </a:lnTo>
                <a:lnTo>
                  <a:pt x="8229600" y="681038"/>
                </a:lnTo>
                <a:lnTo>
                  <a:pt x="0" y="681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4775"/>
            <a:ext cx="822960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application. Two experiences. One shared state.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32459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32459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lifecycle keeps citizen progress and officer action aligned from intent to completion.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332385"/>
            <a:ext cx="4000500" cy="1843088"/>
          </a:xfrm>
          <a:custGeom>
            <a:avLst/>
            <a:gdLst/>
            <a:ahLst/>
            <a:cxnLst/>
            <a:rect l="l" t="t" r="r" b="b"/>
            <a:pathLst>
              <a:path w="4000500" h="1843088">
                <a:moveTo>
                  <a:pt x="66167" y="0"/>
                </a:moveTo>
                <a:lnTo>
                  <a:pt x="3934333" y="0"/>
                </a:lnTo>
                <a:quadBezTo>
                  <a:pt x="4000500" y="0"/>
                  <a:pt x="4000500" y="66167"/>
                </a:quadBezTo>
                <a:lnTo>
                  <a:pt x="4000500" y="1776921"/>
                </a:lnTo>
                <a:quadBezTo>
                  <a:pt x="4000500" y="1843088"/>
                  <a:pt x="3934333" y="1843088"/>
                </a:quadBezTo>
                <a:lnTo>
                  <a:pt x="66167" y="1843088"/>
                </a:lnTo>
                <a:quadBezTo>
                  <a:pt x="0" y="1843088"/>
                  <a:pt x="0" y="1776921"/>
                </a:quadBezTo>
                <a:lnTo>
                  <a:pt x="0" y="66167"/>
                </a:lnTo>
                <a:quadBezTo>
                  <a:pt x="0" y="0"/>
                  <a:pt x="6616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54307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70946" y="0"/>
                </a:moveTo>
                <a:lnTo>
                  <a:pt x="205279" y="0"/>
                </a:lnTo>
                <a:quadBezTo>
                  <a:pt x="276225" y="0"/>
                  <a:pt x="276225" y="70946"/>
                </a:quadBezTo>
                <a:lnTo>
                  <a:pt x="276225" y="205279"/>
                </a:lnTo>
                <a:quadBezTo>
                  <a:pt x="276225" y="276225"/>
                  <a:pt x="205279" y="276225"/>
                </a:quadBezTo>
                <a:lnTo>
                  <a:pt x="70946" y="276225"/>
                </a:lnTo>
                <a:quadBezTo>
                  <a:pt x="0" y="276225"/>
                  <a:pt x="0" y="205279"/>
                </a:quadBezTo>
                <a:lnTo>
                  <a:pt x="0" y="70946"/>
                </a:lnTo>
                <a:quadBezTo>
                  <a:pt x="0" y="0"/>
                  <a:pt x="70946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609751"/>
            <a:ext cx="142875" cy="142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8271" y="2602583"/>
            <a:ext cx="495300" cy="157163"/>
          </a:xfrm>
          <a:custGeom>
            <a:avLst/>
            <a:gdLst/>
            <a:ahLst/>
            <a:cxnLst/>
            <a:rect l="l" t="t" r="r" b="b"/>
            <a:pathLst>
              <a:path w="495300" h="157163">
                <a:moveTo>
                  <a:pt x="0" y="0"/>
                </a:moveTo>
                <a:lnTo>
                  <a:pt x="495300" y="0"/>
                </a:lnTo>
                <a:lnTo>
                  <a:pt x="4953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48271" y="2602583"/>
            <a:ext cx="495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5800" y="2885976"/>
            <a:ext cx="3543300" cy="128588"/>
          </a:xfrm>
          <a:custGeom>
            <a:avLst/>
            <a:gdLst/>
            <a:ahLst/>
            <a:cxnLst/>
            <a:rect l="l" t="t" r="r" b="b"/>
            <a:pathLst>
              <a:path w="3543300" h="128588">
                <a:moveTo>
                  <a:pt x="0" y="0"/>
                </a:moveTo>
                <a:lnTo>
                  <a:pt x="3543300" y="0"/>
                </a:lnTo>
                <a:lnTo>
                  <a:pt x="354330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2885976"/>
            <a:ext cx="3543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path from intent to completion.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5800" y="32669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F6FED"/>
          </a:solidFill>
          <a:ln/>
        </p:spPr>
      </p:sp>
      <p:sp>
        <p:nvSpPr>
          <p:cNvPr id="19" name="Shape 15"/>
          <p:cNvSpPr/>
          <p:nvPr/>
        </p:nvSpPr>
        <p:spPr>
          <a:xfrm>
            <a:off x="827535" y="3214961"/>
            <a:ext cx="1719263" cy="142875"/>
          </a:xfrm>
          <a:custGeom>
            <a:avLst/>
            <a:gdLst/>
            <a:ahLst/>
            <a:cxnLst/>
            <a:rect l="l" t="t" r="r" b="b"/>
            <a:pathLst>
              <a:path w="1719263" h="142875">
                <a:moveTo>
                  <a:pt x="0" y="0"/>
                </a:moveTo>
                <a:lnTo>
                  <a:pt x="1719263" y="0"/>
                </a:lnTo>
                <a:lnTo>
                  <a:pt x="17192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27535" y="3214961"/>
            <a:ext cx="17192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becomes an application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85800" y="35439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303" y="3491930"/>
            <a:ext cx="2338388" cy="142875"/>
          </a:xfrm>
          <a:custGeom>
            <a:avLst/>
            <a:gdLst/>
            <a:ahLst/>
            <a:cxnLst/>
            <a:rect l="l" t="t" r="r" b="b"/>
            <a:pathLst>
              <a:path w="2338388" h="142875">
                <a:moveTo>
                  <a:pt x="0" y="0"/>
                </a:moveTo>
                <a:lnTo>
                  <a:pt x="2338388" y="0"/>
                </a:lnTo>
                <a:lnTo>
                  <a:pt x="23383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828303" y="3491930"/>
            <a:ext cx="23383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and verification build confidence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85800" y="38209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25" name="Shape 21"/>
          <p:cNvSpPr/>
          <p:nvPr/>
        </p:nvSpPr>
        <p:spPr>
          <a:xfrm>
            <a:off x="827808" y="3768899"/>
            <a:ext cx="2328863" cy="142875"/>
          </a:xfrm>
          <a:custGeom>
            <a:avLst/>
            <a:gdLst/>
            <a:ahLst/>
            <a:cxnLst/>
            <a:rect l="l" t="t" r="r" b="b"/>
            <a:pathLst>
              <a:path w="2328863" h="142875">
                <a:moveTo>
                  <a:pt x="0" y="0"/>
                </a:moveTo>
                <a:lnTo>
                  <a:pt x="2328863" y="0"/>
                </a:lnTo>
                <a:lnTo>
                  <a:pt x="23288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827808" y="3768899"/>
            <a:ext cx="2328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Completion is visible and understandable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85800" y="3911749"/>
            <a:ext cx="3543300" cy="271463"/>
          </a:xfrm>
          <a:custGeom>
            <a:avLst/>
            <a:gdLst/>
            <a:ahLst/>
            <a:cxnLst/>
            <a:rect l="l" t="t" r="r" b="b"/>
            <a:pathLst>
              <a:path w="3543300" h="271463">
                <a:moveTo>
                  <a:pt x="0" y="0"/>
                </a:moveTo>
                <a:lnTo>
                  <a:pt x="3543300" y="0"/>
                </a:lnTo>
                <a:lnTo>
                  <a:pt x="354330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3911749"/>
            <a:ext cx="3543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Human-facing progress, without the black box.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86300" y="2332385"/>
            <a:ext cx="4000500" cy="1843088"/>
          </a:xfrm>
          <a:custGeom>
            <a:avLst/>
            <a:gdLst/>
            <a:ahLst/>
            <a:cxnLst/>
            <a:rect l="l" t="t" r="r" b="b"/>
            <a:pathLst>
              <a:path w="4000500" h="1843088">
                <a:moveTo>
                  <a:pt x="66167" y="0"/>
                </a:moveTo>
                <a:lnTo>
                  <a:pt x="3934333" y="0"/>
                </a:lnTo>
                <a:quadBezTo>
                  <a:pt x="4000500" y="0"/>
                  <a:pt x="4000500" y="66167"/>
                </a:quadBezTo>
                <a:lnTo>
                  <a:pt x="4000500" y="1776921"/>
                </a:lnTo>
                <a:quadBezTo>
                  <a:pt x="4000500" y="1843088"/>
                  <a:pt x="3934333" y="1843088"/>
                </a:quadBezTo>
                <a:lnTo>
                  <a:pt x="66167" y="1843088"/>
                </a:lnTo>
                <a:quadBezTo>
                  <a:pt x="0" y="1843088"/>
                  <a:pt x="0" y="1776921"/>
                </a:quadBezTo>
                <a:lnTo>
                  <a:pt x="0" y="66167"/>
                </a:lnTo>
                <a:quadBezTo>
                  <a:pt x="0" y="0"/>
                  <a:pt x="66167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0" name="Shape 26"/>
          <p:cNvSpPr/>
          <p:nvPr/>
        </p:nvSpPr>
        <p:spPr>
          <a:xfrm>
            <a:off x="4914900" y="254307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70946" y="0"/>
                </a:moveTo>
                <a:lnTo>
                  <a:pt x="205279" y="0"/>
                </a:lnTo>
                <a:quadBezTo>
                  <a:pt x="276225" y="0"/>
                  <a:pt x="276225" y="70946"/>
                </a:quadBezTo>
                <a:lnTo>
                  <a:pt x="276225" y="205279"/>
                </a:lnTo>
                <a:quadBezTo>
                  <a:pt x="276225" y="276225"/>
                  <a:pt x="205279" y="276225"/>
                </a:quadBezTo>
                <a:lnTo>
                  <a:pt x="70946" y="276225"/>
                </a:lnTo>
                <a:quadBezTo>
                  <a:pt x="0" y="276225"/>
                  <a:pt x="0" y="205279"/>
                </a:quadBezTo>
                <a:lnTo>
                  <a:pt x="0" y="70946"/>
                </a:lnTo>
                <a:quadBezTo>
                  <a:pt x="0" y="0"/>
                  <a:pt x="7094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575" y="2609751"/>
            <a:ext cx="142875" cy="142875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276254" y="2602583"/>
            <a:ext cx="490537" cy="157163"/>
          </a:xfrm>
          <a:custGeom>
            <a:avLst/>
            <a:gdLst/>
            <a:ahLst/>
            <a:cxnLst/>
            <a:rect l="l" t="t" r="r" b="b"/>
            <a:pathLst>
              <a:path w="490537" h="157163">
                <a:moveTo>
                  <a:pt x="0" y="0"/>
                </a:moveTo>
                <a:lnTo>
                  <a:pt x="490537" y="0"/>
                </a:lnTo>
                <a:lnTo>
                  <a:pt x="4905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5276254" y="2602583"/>
            <a:ext cx="4905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Officer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914900" y="2885976"/>
            <a:ext cx="3543300" cy="128588"/>
          </a:xfrm>
          <a:custGeom>
            <a:avLst/>
            <a:gdLst/>
            <a:ahLst/>
            <a:cxnLst/>
            <a:rect l="l" t="t" r="r" b="b"/>
            <a:pathLst>
              <a:path w="3543300" h="128588">
                <a:moveTo>
                  <a:pt x="0" y="0"/>
                </a:moveTo>
                <a:lnTo>
                  <a:pt x="3543300" y="0"/>
                </a:lnTo>
                <a:lnTo>
                  <a:pt x="354330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4914900" y="2885976"/>
            <a:ext cx="3543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focused path from queue to decision.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914900" y="32669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F6FED"/>
          </a:solidFill>
          <a:ln/>
        </p:spPr>
      </p:sp>
      <p:sp>
        <p:nvSpPr>
          <p:cNvPr id="37" name="Shape 32"/>
          <p:cNvSpPr/>
          <p:nvPr/>
        </p:nvSpPr>
        <p:spPr>
          <a:xfrm>
            <a:off x="5058073" y="3214961"/>
            <a:ext cx="1995487" cy="142875"/>
          </a:xfrm>
          <a:custGeom>
            <a:avLst/>
            <a:gdLst/>
            <a:ahLst/>
            <a:cxnLst/>
            <a:rect l="l" t="t" r="r" b="b"/>
            <a:pathLst>
              <a:path w="1995487" h="142875">
                <a:moveTo>
                  <a:pt x="0" y="0"/>
                </a:moveTo>
                <a:lnTo>
                  <a:pt x="1995487" y="0"/>
                </a:lnTo>
                <a:lnTo>
                  <a:pt x="1995487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5058073" y="3214961"/>
            <a:ext cx="1995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 shows what needs attention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914900" y="35439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40" name="Shape 35"/>
          <p:cNvSpPr/>
          <p:nvPr/>
        </p:nvSpPr>
        <p:spPr>
          <a:xfrm>
            <a:off x="5058668" y="3491930"/>
            <a:ext cx="1500188" cy="142875"/>
          </a:xfrm>
          <a:custGeom>
            <a:avLst/>
            <a:gdLst/>
            <a:ahLst/>
            <a:cxnLst/>
            <a:rect l="l" t="t" r="r" b="b"/>
            <a:pathLst>
              <a:path w="1500188" h="142875">
                <a:moveTo>
                  <a:pt x="0" y="0"/>
                </a:moveTo>
                <a:lnTo>
                  <a:pt x="1500188" y="0"/>
                </a:lnTo>
                <a:lnTo>
                  <a:pt x="15001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5058668" y="3491930"/>
            <a:ext cx="1500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arrives in context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914900" y="38209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43" name="Shape 38"/>
          <p:cNvSpPr/>
          <p:nvPr/>
        </p:nvSpPr>
        <p:spPr>
          <a:xfrm>
            <a:off x="5058767" y="3768899"/>
            <a:ext cx="1633538" cy="142875"/>
          </a:xfrm>
          <a:custGeom>
            <a:avLst/>
            <a:gdLst/>
            <a:ahLst/>
            <a:cxnLst/>
            <a:rect l="l" t="t" r="r" b="b"/>
            <a:pathLst>
              <a:path w="1633538" h="142875">
                <a:moveTo>
                  <a:pt x="0" y="0"/>
                </a:moveTo>
                <a:lnTo>
                  <a:pt x="1633538" y="0"/>
                </a:lnTo>
                <a:lnTo>
                  <a:pt x="163353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5058767" y="3768899"/>
            <a:ext cx="16335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officer owns the decision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4914900" y="3911749"/>
            <a:ext cx="3543300" cy="271463"/>
          </a:xfrm>
          <a:custGeom>
            <a:avLst/>
            <a:gdLst/>
            <a:ahLst/>
            <a:cxnLst/>
            <a:rect l="l" t="t" r="r" b="b"/>
            <a:pathLst>
              <a:path w="3543300" h="271463">
                <a:moveTo>
                  <a:pt x="0" y="0"/>
                </a:moveTo>
                <a:lnTo>
                  <a:pt x="3543300" y="0"/>
                </a:lnTo>
                <a:lnTo>
                  <a:pt x="354330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4914900" y="3911749"/>
            <a:ext cx="3543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support, never decision replacement.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57200" y="4382691"/>
            <a:ext cx="8229600" cy="419100"/>
          </a:xfrm>
          <a:custGeom>
            <a:avLst/>
            <a:gdLst/>
            <a:ahLst/>
            <a:cxnLst/>
            <a:rect l="l" t="t" r="r" b="b"/>
            <a:pathLst>
              <a:path w="8229600" h="419100">
                <a:moveTo>
                  <a:pt x="57148" y="0"/>
                </a:moveTo>
                <a:lnTo>
                  <a:pt x="8172452" y="0"/>
                </a:lnTo>
                <a:quadBezTo>
                  <a:pt x="8229600" y="0"/>
                  <a:pt x="8229600" y="57148"/>
                </a:quadBezTo>
                <a:lnTo>
                  <a:pt x="8229600" y="361952"/>
                </a:lnTo>
                <a:quadBezTo>
                  <a:pt x="8229600" y="419100"/>
                  <a:pt x="8172452" y="419100"/>
                </a:quadBezTo>
                <a:lnTo>
                  <a:pt x="57148" y="419100"/>
                </a:lnTo>
                <a:quadBezTo>
                  <a:pt x="0" y="419100"/>
                  <a:pt x="0" y="361952"/>
                </a:quadBezTo>
                <a:lnTo>
                  <a:pt x="0" y="57148"/>
                </a:lnTo>
                <a:quadBezTo>
                  <a:pt x="0" y="0"/>
                  <a:pt x="57148" y="0"/>
                </a:quadBezTo>
                <a:close/>
              </a:path>
            </a:pathLst>
          </a:custGeom>
          <a:solidFill>
            <a:srgbClr val="142033"/>
          </a:solidFill>
          <a:ln/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520802"/>
            <a:ext cx="142875" cy="142875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848222" y="4501752"/>
            <a:ext cx="2843213" cy="180975"/>
          </a:xfrm>
          <a:custGeom>
            <a:avLst/>
            <a:gdLst/>
            <a:ahLst/>
            <a:cxnLst/>
            <a:rect l="l" t="t" r="r" b="b"/>
            <a:pathLst>
              <a:path w="2843213" h="180975">
                <a:moveTo>
                  <a:pt x="0" y="0"/>
                </a:moveTo>
                <a:lnTo>
                  <a:pt x="2843213" y="0"/>
                </a:lnTo>
                <a:lnTo>
                  <a:pt x="284321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848222" y="4501752"/>
            <a:ext cx="2843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lifecycle state links both sides.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486079" y="4518423"/>
            <a:ext cx="2038350" cy="147637"/>
          </a:xfrm>
          <a:custGeom>
            <a:avLst/>
            <a:gdLst/>
            <a:ahLst/>
            <a:cxnLst/>
            <a:rect l="l" t="t" r="r" b="b"/>
            <a:pathLst>
              <a:path w="2038350" h="147637">
                <a:moveTo>
                  <a:pt x="0" y="0"/>
                </a:moveTo>
                <a:lnTo>
                  <a:pt x="2038350" y="0"/>
                </a:lnTo>
                <a:lnTo>
                  <a:pt x="20383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6"/>
          <p:cNvSpPr/>
          <p:nvPr/>
        </p:nvSpPr>
        <p:spPr>
          <a:xfrm>
            <a:off x="6486079" y="4518423"/>
            <a:ext cx="20383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FD3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connects — it does not decide.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61453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61453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66787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66787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is built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83110"/>
            <a:ext cx="5143500" cy="409575"/>
          </a:xfrm>
          <a:custGeom>
            <a:avLst/>
            <a:gdLst/>
            <a:ahLst/>
            <a:cxnLst/>
            <a:rect l="l" t="t" r="r" b="b"/>
            <a:pathLst>
              <a:path w="5143500" h="409575">
                <a:moveTo>
                  <a:pt x="0" y="0"/>
                </a:moveTo>
                <a:lnTo>
                  <a:pt x="5143500" y="0"/>
                </a:lnTo>
                <a:lnTo>
                  <a:pt x="51435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83110"/>
            <a:ext cx="5143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service journeys, one shared foundation — designed for citizen trust and officer ownership.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937445"/>
            <a:ext cx="4343400" cy="2881313"/>
          </a:xfrm>
          <a:custGeom>
            <a:avLst/>
            <a:gdLst/>
            <a:ahLst/>
            <a:cxnLst/>
            <a:rect l="l" t="t" r="r" b="b"/>
            <a:pathLst>
              <a:path w="4343400" h="2881313">
                <a:moveTo>
                  <a:pt x="42326" y="0"/>
                </a:moveTo>
                <a:lnTo>
                  <a:pt x="4301074" y="0"/>
                </a:lnTo>
                <a:quadBezTo>
                  <a:pt x="4343400" y="0"/>
                  <a:pt x="4343400" y="42326"/>
                </a:quadBezTo>
                <a:lnTo>
                  <a:pt x="4343400" y="2838986"/>
                </a:lnTo>
                <a:quadBezTo>
                  <a:pt x="4343400" y="2881313"/>
                  <a:pt x="4301074" y="2881313"/>
                </a:quadBezTo>
                <a:lnTo>
                  <a:pt x="42326" y="2881313"/>
                </a:lnTo>
                <a:quadBezTo>
                  <a:pt x="0" y="2881313"/>
                  <a:pt x="0" y="2838986"/>
                </a:quadBezTo>
                <a:lnTo>
                  <a:pt x="0" y="42326"/>
                </a:lnTo>
                <a:quadBezTo>
                  <a:pt x="0" y="0"/>
                  <a:pt x="4232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00025" dist="8572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6750" y="1984971"/>
            <a:ext cx="3886200" cy="195263"/>
          </a:xfrm>
          <a:custGeom>
            <a:avLst/>
            <a:gdLst/>
            <a:ahLst/>
            <a:cxnLst/>
            <a:rect l="l" t="t" r="r" b="b"/>
            <a:pathLst>
              <a:path w="3886200" h="195263">
                <a:moveTo>
                  <a:pt x="0" y="0"/>
                </a:moveTo>
                <a:lnTo>
                  <a:pt x="3886200" y="0"/>
                </a:lnTo>
                <a:lnTo>
                  <a:pt x="38862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66750" y="1984971"/>
            <a:ext cx="3886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foundation, two experiences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6750" y="2228800"/>
            <a:ext cx="3886200" cy="166688"/>
          </a:xfrm>
          <a:custGeom>
            <a:avLst/>
            <a:gdLst/>
            <a:ahLst/>
            <a:cxnLst/>
            <a:rect l="l" t="t" r="r" b="b"/>
            <a:pathLst>
              <a:path w="3886200" h="166688">
                <a:moveTo>
                  <a:pt x="0" y="0"/>
                </a:moveTo>
                <a:lnTo>
                  <a:pt x="3886200" y="0"/>
                </a:lnTo>
                <a:lnTo>
                  <a:pt x="38862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6750" y="2228800"/>
            <a:ext cx="38862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keeps complexity behind the scenes.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6750" y="2557414"/>
            <a:ext cx="3886200" cy="9525"/>
          </a:xfrm>
          <a:custGeom>
            <a:avLst/>
            <a:gdLst/>
            <a:ahLst/>
            <a:cxnLst/>
            <a:rect l="l" t="t" r="r" b="b"/>
            <a:pathLst>
              <a:path w="3886200" h="9525">
                <a:moveTo>
                  <a:pt x="0" y="0"/>
                </a:moveTo>
                <a:lnTo>
                  <a:pt x="3886200" y="0"/>
                </a:lnTo>
                <a:lnTo>
                  <a:pt x="38862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9E6F2"/>
          </a:solidFill>
          <a:ln/>
        </p:spPr>
      </p:sp>
      <p:sp>
        <p:nvSpPr>
          <p:cNvPr id="17" name="Shape 14"/>
          <p:cNvSpPr/>
          <p:nvPr/>
        </p:nvSpPr>
        <p:spPr>
          <a:xfrm>
            <a:off x="666750" y="2728864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786014"/>
            <a:ext cx="123825" cy="12382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10270" y="2728864"/>
            <a:ext cx="3490912" cy="171450"/>
          </a:xfrm>
          <a:custGeom>
            <a:avLst/>
            <a:gdLst/>
            <a:ahLst/>
            <a:cxnLst/>
            <a:rect l="l" t="t" r="r" b="b"/>
            <a:pathLst>
              <a:path w="3490912" h="171450">
                <a:moveTo>
                  <a:pt x="0" y="0"/>
                </a:moveTo>
                <a:lnTo>
                  <a:pt x="3490912" y="0"/>
                </a:lnTo>
                <a:lnTo>
                  <a:pt x="3490912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010270" y="2728864"/>
            <a:ext cx="34909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 frontend + backend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10270" y="2933056"/>
            <a:ext cx="3490912" cy="161925"/>
          </a:xfrm>
          <a:custGeom>
            <a:avLst/>
            <a:gdLst/>
            <a:ahLst/>
            <a:cxnLst/>
            <a:rect l="l" t="t" r="r" b="b"/>
            <a:pathLst>
              <a:path w="3490912" h="161925">
                <a:moveTo>
                  <a:pt x="0" y="0"/>
                </a:moveTo>
                <a:lnTo>
                  <a:pt x="3490912" y="0"/>
                </a:lnTo>
                <a:lnTo>
                  <a:pt x="3490912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010270" y="2933056"/>
            <a:ext cx="34909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public-service journey from intent to completion.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66750" y="323726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E8F5F2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294410"/>
            <a:ext cx="123825" cy="12382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08459" y="3237260"/>
            <a:ext cx="3100388" cy="171450"/>
          </a:xfrm>
          <a:custGeom>
            <a:avLst/>
            <a:gdLst/>
            <a:ahLst/>
            <a:cxnLst/>
            <a:rect l="l" t="t" r="r" b="b"/>
            <a:pathLst>
              <a:path w="3100388" h="171450">
                <a:moveTo>
                  <a:pt x="0" y="0"/>
                </a:moveTo>
                <a:lnTo>
                  <a:pt x="3100388" y="0"/>
                </a:lnTo>
                <a:lnTo>
                  <a:pt x="310038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1008459" y="3237260"/>
            <a:ext cx="3100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state layer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008459" y="3441454"/>
            <a:ext cx="3100388" cy="161925"/>
          </a:xfrm>
          <a:custGeom>
            <a:avLst/>
            <a:gdLst/>
            <a:ahLst/>
            <a:cxnLst/>
            <a:rect l="l" t="t" r="r" b="b"/>
            <a:pathLst>
              <a:path w="3100388" h="161925">
                <a:moveTo>
                  <a:pt x="0" y="0"/>
                </a:moveTo>
                <a:lnTo>
                  <a:pt x="3100388" y="0"/>
                </a:lnTo>
                <a:lnTo>
                  <a:pt x="31003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1008459" y="3441454"/>
            <a:ext cx="3100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+ Prisma keep every handoff consistent.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66750" y="374565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802807"/>
            <a:ext cx="123825" cy="12382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09278" y="3745657"/>
            <a:ext cx="3443288" cy="171450"/>
          </a:xfrm>
          <a:custGeom>
            <a:avLst/>
            <a:gdLst/>
            <a:ahLst/>
            <a:cxnLst/>
            <a:rect l="l" t="t" r="r" b="b"/>
            <a:pathLst>
              <a:path w="3443288" h="171450">
                <a:moveTo>
                  <a:pt x="0" y="0"/>
                </a:moveTo>
                <a:lnTo>
                  <a:pt x="3443288" y="0"/>
                </a:lnTo>
                <a:lnTo>
                  <a:pt x="344328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1009278" y="3745657"/>
            <a:ext cx="3443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frontend + backend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009278" y="3949850"/>
            <a:ext cx="3443288" cy="161925"/>
          </a:xfrm>
          <a:custGeom>
            <a:avLst/>
            <a:gdLst/>
            <a:ahLst/>
            <a:cxnLst/>
            <a:rect l="l" t="t" r="r" b="b"/>
            <a:pathLst>
              <a:path w="3443288" h="161925">
                <a:moveTo>
                  <a:pt x="0" y="0"/>
                </a:moveTo>
                <a:lnTo>
                  <a:pt x="3443288" y="0"/>
                </a:lnTo>
                <a:lnTo>
                  <a:pt x="34432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1009278" y="3949850"/>
            <a:ext cx="3443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 AI, mock verification, and PWA-ready workflows.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66750" y="4291658"/>
            <a:ext cx="3886200" cy="481012"/>
          </a:xfrm>
          <a:custGeom>
            <a:avLst/>
            <a:gdLst/>
            <a:ahLst/>
            <a:cxnLst/>
            <a:rect l="l" t="t" r="r" b="b"/>
            <a:pathLst>
              <a:path w="3886200" h="481012">
                <a:moveTo>
                  <a:pt x="144857" y="0"/>
                </a:moveTo>
                <a:lnTo>
                  <a:pt x="3741343" y="0"/>
                </a:lnTo>
                <a:quadBezTo>
                  <a:pt x="3886200" y="0"/>
                  <a:pt x="3886200" y="144857"/>
                </a:quadBezTo>
                <a:lnTo>
                  <a:pt x="3886200" y="336156"/>
                </a:lnTo>
                <a:quadBezTo>
                  <a:pt x="3886200" y="481012"/>
                  <a:pt x="3741343" y="481012"/>
                </a:quadBezTo>
                <a:lnTo>
                  <a:pt x="144857" y="481012"/>
                </a:lnTo>
                <a:quadBezTo>
                  <a:pt x="0" y="481012"/>
                  <a:pt x="0" y="336156"/>
                </a:quadBezTo>
                <a:lnTo>
                  <a:pt x="0" y="144857"/>
                </a:lnTo>
                <a:quadBezTo>
                  <a:pt x="0" y="0"/>
                  <a:pt x="144857" y="0"/>
                </a:quadBezTo>
                <a:close/>
              </a:path>
            </a:pathLst>
          </a:custGeom>
          <a:solidFill>
            <a:srgbClr val="E8F5F2"/>
          </a:solidFill>
          <a:ln/>
        </p:spPr>
      </p:sp>
      <p:sp>
        <p:nvSpPr>
          <p:cNvPr id="36" name="Text 30"/>
          <p:cNvSpPr/>
          <p:nvPr/>
        </p:nvSpPr>
        <p:spPr>
          <a:xfrm>
            <a:off x="666750" y="4291658"/>
            <a:ext cx="38862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moves with the case — from citizen consent to employee action.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086350" y="1937445"/>
            <a:ext cx="3619500" cy="2881313"/>
          </a:xfrm>
          <a:custGeom>
            <a:avLst/>
            <a:gdLst/>
            <a:ahLst/>
            <a:cxnLst/>
            <a:rect l="l" t="t" r="r" b="b"/>
            <a:pathLst>
              <a:path w="3619500" h="2881313">
                <a:moveTo>
                  <a:pt x="42326" y="0"/>
                </a:moveTo>
                <a:lnTo>
                  <a:pt x="3577174" y="0"/>
                </a:lnTo>
                <a:quadBezTo>
                  <a:pt x="3619500" y="0"/>
                  <a:pt x="3619500" y="42326"/>
                </a:quadBezTo>
                <a:lnTo>
                  <a:pt x="3619500" y="2838986"/>
                </a:lnTo>
                <a:quadBezTo>
                  <a:pt x="3619500" y="2881313"/>
                  <a:pt x="3577174" y="2881313"/>
                </a:quadBezTo>
                <a:lnTo>
                  <a:pt x="42326" y="2881313"/>
                </a:lnTo>
                <a:quadBezTo>
                  <a:pt x="0" y="2881313"/>
                  <a:pt x="0" y="2838986"/>
                </a:quadBezTo>
                <a:lnTo>
                  <a:pt x="0" y="42326"/>
                </a:lnTo>
                <a:quadBezTo>
                  <a:pt x="0" y="0"/>
                  <a:pt x="42326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2070795"/>
            <a:ext cx="3352800" cy="26146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1453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1453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&amp;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65252"/>
            <a:ext cx="8229600" cy="671513"/>
          </a:xfrm>
          <a:custGeom>
            <a:avLst/>
            <a:gdLst/>
            <a:ahLst/>
            <a:cxnLst/>
            <a:rect l="l" t="t" r="r" b="b"/>
            <a:pathLst>
              <a:path w="8229600" h="671513">
                <a:moveTo>
                  <a:pt x="0" y="0"/>
                </a:moveTo>
                <a:lnTo>
                  <a:pt x="8229600" y="0"/>
                </a:lnTo>
                <a:lnTo>
                  <a:pt x="8229600" y="671513"/>
                </a:lnTo>
                <a:lnTo>
                  <a:pt x="0" y="6715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5252"/>
            <a:ext cx="8229600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around consent, ownership and controlled lifecycle states.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11276"/>
            <a:ext cx="6096000" cy="195263"/>
          </a:xfrm>
          <a:custGeom>
            <a:avLst/>
            <a:gdLst/>
            <a:ahLst/>
            <a:cxnLst/>
            <a:rect l="l" t="t" r="r" b="b"/>
            <a:pathLst>
              <a:path w="6096000" h="195263">
                <a:moveTo>
                  <a:pt x="0" y="0"/>
                </a:moveTo>
                <a:lnTo>
                  <a:pt x="6096000" y="0"/>
                </a:lnTo>
                <a:lnTo>
                  <a:pt x="60960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11276"/>
            <a:ext cx="60960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request is checked at the point of access, action and transition.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47851"/>
            <a:ext cx="4000500" cy="2185988"/>
          </a:xfrm>
          <a:custGeom>
            <a:avLst/>
            <a:gdLst/>
            <a:ahLst/>
            <a:cxnLst/>
            <a:rect l="l" t="t" r="r" b="b"/>
            <a:pathLst>
              <a:path w="4000500" h="2185988">
                <a:moveTo>
                  <a:pt x="47808" y="0"/>
                </a:moveTo>
                <a:lnTo>
                  <a:pt x="3952692" y="0"/>
                </a:lnTo>
                <a:quadBezTo>
                  <a:pt x="4000500" y="0"/>
                  <a:pt x="4000500" y="47808"/>
                </a:quadBezTo>
                <a:lnTo>
                  <a:pt x="4000500" y="2138180"/>
                </a:lnTo>
                <a:quadBezTo>
                  <a:pt x="4000500" y="2185988"/>
                  <a:pt x="3952692" y="2185988"/>
                </a:quadBezTo>
                <a:lnTo>
                  <a:pt x="47808" y="2185988"/>
                </a:lnTo>
                <a:quadBezTo>
                  <a:pt x="0" y="2185988"/>
                  <a:pt x="0" y="2138180"/>
                </a:quadBezTo>
                <a:lnTo>
                  <a:pt x="0" y="47808"/>
                </a:lnTo>
                <a:quadBezTo>
                  <a:pt x="0" y="0"/>
                  <a:pt x="4780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31209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378771"/>
            <a:ext cx="142875" cy="1428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46806" y="2258765"/>
            <a:ext cx="2371725" cy="195263"/>
          </a:xfrm>
          <a:custGeom>
            <a:avLst/>
            <a:gdLst/>
            <a:ahLst/>
            <a:cxnLst/>
            <a:rect l="l" t="t" r="r" b="b"/>
            <a:pathLst>
              <a:path w="2371725" h="195263">
                <a:moveTo>
                  <a:pt x="0" y="0"/>
                </a:moveTo>
                <a:lnTo>
                  <a:pt x="2371725" y="0"/>
                </a:lnTo>
                <a:lnTo>
                  <a:pt x="237172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46806" y="2258765"/>
            <a:ext cx="23717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authority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46806" y="2489251"/>
            <a:ext cx="2371725" cy="152400"/>
          </a:xfrm>
          <a:custGeom>
            <a:avLst/>
            <a:gdLst/>
            <a:ahLst/>
            <a:cxnLst/>
            <a:rect l="l" t="t" r="r" b="b"/>
            <a:pathLst>
              <a:path w="2371725" h="152400">
                <a:moveTo>
                  <a:pt x="0" y="0"/>
                </a:moveTo>
                <a:lnTo>
                  <a:pt x="2371725" y="0"/>
                </a:lnTo>
                <a:lnTo>
                  <a:pt x="23717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46806" y="2489251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right actor, with the right permission.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" y="2804517"/>
            <a:ext cx="3543300" cy="4763"/>
          </a:xfrm>
          <a:custGeom>
            <a:avLst/>
            <a:gdLst/>
            <a:ahLst/>
            <a:cxnLst/>
            <a:rect l="l" t="t" r="r" b="b"/>
            <a:pathLst>
              <a:path w="3543300" h="4763">
                <a:moveTo>
                  <a:pt x="0" y="0"/>
                </a:moveTo>
                <a:lnTo>
                  <a:pt x="3543300" y="0"/>
                </a:lnTo>
                <a:lnTo>
                  <a:pt x="35433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6F2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85492"/>
            <a:ext cx="133350" cy="1333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14400" y="2971800"/>
            <a:ext cx="3314700" cy="171450"/>
          </a:xfrm>
          <a:custGeom>
            <a:avLst/>
            <a:gdLst/>
            <a:ahLst/>
            <a:cxnLst/>
            <a:rect l="l" t="t" r="r" b="b"/>
            <a:pathLst>
              <a:path w="3314700" h="171450">
                <a:moveTo>
                  <a:pt x="0" y="0"/>
                </a:moveTo>
                <a:lnTo>
                  <a:pt x="3314700" y="0"/>
                </a:lnTo>
                <a:lnTo>
                  <a:pt x="33147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2971800"/>
            <a:ext cx="331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14400" y="3177183"/>
            <a:ext cx="3314700" cy="333375"/>
          </a:xfrm>
          <a:custGeom>
            <a:avLst/>
            <a:gdLst/>
            <a:ahLst/>
            <a:cxnLst/>
            <a:rect l="l" t="t" r="r" b="b"/>
            <a:pathLst>
              <a:path w="3314700" h="333375">
                <a:moveTo>
                  <a:pt x="0" y="0"/>
                </a:moveTo>
                <a:lnTo>
                  <a:pt x="3314700" y="0"/>
                </a:lnTo>
                <a:lnTo>
                  <a:pt x="33147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" y="3177183"/>
            <a:ext cx="3314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 unauthenticated requests and inactive accounts.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58196"/>
            <a:ext cx="133350" cy="13335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13854" y="3644502"/>
            <a:ext cx="3062287" cy="171450"/>
          </a:xfrm>
          <a:custGeom>
            <a:avLst/>
            <a:gdLst/>
            <a:ahLst/>
            <a:cxnLst/>
            <a:rect l="l" t="t" r="r" b="b"/>
            <a:pathLst>
              <a:path w="3062287" h="171450">
                <a:moveTo>
                  <a:pt x="0" y="0"/>
                </a:moveTo>
                <a:lnTo>
                  <a:pt x="3062287" y="0"/>
                </a:lnTo>
                <a:lnTo>
                  <a:pt x="3062287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13854" y="3644502"/>
            <a:ext cx="3062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+ ownership validation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913854" y="3849886"/>
            <a:ext cx="3062287" cy="166688"/>
          </a:xfrm>
          <a:custGeom>
            <a:avLst/>
            <a:gdLst/>
            <a:ahLst/>
            <a:cxnLst/>
            <a:rect l="l" t="t" r="r" b="b"/>
            <a:pathLst>
              <a:path w="3062287" h="166688">
                <a:moveTo>
                  <a:pt x="0" y="0"/>
                </a:moveTo>
                <a:lnTo>
                  <a:pt x="3062287" y="0"/>
                </a:lnTo>
                <a:lnTo>
                  <a:pt x="30622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913854" y="3849886"/>
            <a:ext cx="30622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role authorization and resource ownership.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686300" y="2047851"/>
            <a:ext cx="4000500" cy="2185988"/>
          </a:xfrm>
          <a:custGeom>
            <a:avLst/>
            <a:gdLst/>
            <a:ahLst/>
            <a:cxnLst/>
            <a:rect l="l" t="t" r="r" b="b"/>
            <a:pathLst>
              <a:path w="4000500" h="2185988">
                <a:moveTo>
                  <a:pt x="47808" y="0"/>
                </a:moveTo>
                <a:lnTo>
                  <a:pt x="3952692" y="0"/>
                </a:lnTo>
                <a:quadBezTo>
                  <a:pt x="4000500" y="0"/>
                  <a:pt x="4000500" y="47808"/>
                </a:quadBezTo>
                <a:lnTo>
                  <a:pt x="4000500" y="2138180"/>
                </a:lnTo>
                <a:quadBezTo>
                  <a:pt x="4000500" y="2185988"/>
                  <a:pt x="3952692" y="2185988"/>
                </a:quadBezTo>
                <a:lnTo>
                  <a:pt x="47808" y="2185988"/>
                </a:lnTo>
                <a:quadBezTo>
                  <a:pt x="0" y="2185988"/>
                  <a:pt x="0" y="2138180"/>
                </a:quadBezTo>
                <a:lnTo>
                  <a:pt x="0" y="47808"/>
                </a:lnTo>
                <a:quadBezTo>
                  <a:pt x="0" y="0"/>
                  <a:pt x="4780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914900" y="231209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E8F5F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75" y="2378771"/>
            <a:ext cx="142875" cy="14287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276751" y="2258765"/>
            <a:ext cx="2338388" cy="195263"/>
          </a:xfrm>
          <a:custGeom>
            <a:avLst/>
            <a:gdLst/>
            <a:ahLst/>
            <a:cxnLst/>
            <a:rect l="l" t="t" r="r" b="b"/>
            <a:pathLst>
              <a:path w="2338388" h="195263">
                <a:moveTo>
                  <a:pt x="0" y="0"/>
                </a:moveTo>
                <a:lnTo>
                  <a:pt x="2338388" y="0"/>
                </a:lnTo>
                <a:lnTo>
                  <a:pt x="23383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276751" y="2258765"/>
            <a:ext cx="23383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&amp; boundary controls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276751" y="2489251"/>
            <a:ext cx="2338388" cy="152400"/>
          </a:xfrm>
          <a:custGeom>
            <a:avLst/>
            <a:gdLst/>
            <a:ahLst/>
            <a:cxnLst/>
            <a:rect l="l" t="t" r="r" b="b"/>
            <a:pathLst>
              <a:path w="2338388" h="152400">
                <a:moveTo>
                  <a:pt x="0" y="0"/>
                </a:moveTo>
                <a:lnTo>
                  <a:pt x="2338388" y="0"/>
                </a:lnTo>
                <a:lnTo>
                  <a:pt x="233838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5276751" y="2489251"/>
            <a:ext cx="2338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transitions, isolated execution.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914900" y="2804517"/>
            <a:ext cx="3543300" cy="4763"/>
          </a:xfrm>
          <a:custGeom>
            <a:avLst/>
            <a:gdLst/>
            <a:ahLst/>
            <a:cxnLst/>
            <a:rect l="l" t="t" r="r" b="b"/>
            <a:pathLst>
              <a:path w="3543300" h="4763">
                <a:moveTo>
                  <a:pt x="0" y="0"/>
                </a:moveTo>
                <a:lnTo>
                  <a:pt x="3543300" y="0"/>
                </a:lnTo>
                <a:lnTo>
                  <a:pt x="35433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6F2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985492"/>
            <a:ext cx="133350" cy="13335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143401" y="2971800"/>
            <a:ext cx="2586038" cy="171450"/>
          </a:xfrm>
          <a:custGeom>
            <a:avLst/>
            <a:gdLst/>
            <a:ahLst/>
            <a:cxnLst/>
            <a:rect l="l" t="t" r="r" b="b"/>
            <a:pathLst>
              <a:path w="2586038" h="171450">
                <a:moveTo>
                  <a:pt x="0" y="0"/>
                </a:moveTo>
                <a:lnTo>
                  <a:pt x="2586038" y="0"/>
                </a:lnTo>
                <a:lnTo>
                  <a:pt x="258603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5143401" y="2971800"/>
            <a:ext cx="2586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Lifecycle validation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143401" y="3177183"/>
            <a:ext cx="2586038" cy="166688"/>
          </a:xfrm>
          <a:custGeom>
            <a:avLst/>
            <a:gdLst/>
            <a:ahLst/>
            <a:cxnLst/>
            <a:rect l="l" t="t" r="r" b="b"/>
            <a:pathLst>
              <a:path w="2586038" h="166688">
                <a:moveTo>
                  <a:pt x="0" y="0"/>
                </a:moveTo>
                <a:lnTo>
                  <a:pt x="2586038" y="0"/>
                </a:lnTo>
                <a:lnTo>
                  <a:pt x="258603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5143401" y="3177183"/>
            <a:ext cx="258603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only valid, controlled state transitions.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477221"/>
            <a:ext cx="133350" cy="13335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5143500" y="3477816"/>
            <a:ext cx="3314700" cy="171450"/>
          </a:xfrm>
          <a:custGeom>
            <a:avLst/>
            <a:gdLst/>
            <a:ahLst/>
            <a:cxnLst/>
            <a:rect l="l" t="t" r="r" b="b"/>
            <a:pathLst>
              <a:path w="3314700" h="171450">
                <a:moveTo>
                  <a:pt x="0" y="0"/>
                </a:moveTo>
                <a:lnTo>
                  <a:pt x="3314700" y="0"/>
                </a:lnTo>
                <a:lnTo>
                  <a:pt x="33147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5143500" y="3477816"/>
            <a:ext cx="331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Idempotency + isolation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143500" y="3683198"/>
            <a:ext cx="3314700" cy="333375"/>
          </a:xfrm>
          <a:custGeom>
            <a:avLst/>
            <a:gdLst/>
            <a:ahLst/>
            <a:cxnLst/>
            <a:rect l="l" t="t" r="r" b="b"/>
            <a:pathLst>
              <a:path w="3314700" h="333375">
                <a:moveTo>
                  <a:pt x="0" y="0"/>
                </a:moveTo>
                <a:lnTo>
                  <a:pt x="3314700" y="0"/>
                </a:lnTo>
                <a:lnTo>
                  <a:pt x="33147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5143500" y="3683198"/>
            <a:ext cx="3314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documents and isolate mock-provider behavior.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57200" y="4414614"/>
            <a:ext cx="8229600" cy="404813"/>
          </a:xfrm>
          <a:custGeom>
            <a:avLst/>
            <a:gdLst/>
            <a:ahLst/>
            <a:cxnLst/>
            <a:rect l="l" t="t" r="r" b="b"/>
            <a:pathLst>
              <a:path w="8229600" h="404813">
                <a:moveTo>
                  <a:pt x="53787" y="0"/>
                </a:moveTo>
                <a:lnTo>
                  <a:pt x="8175813" y="0"/>
                </a:lnTo>
                <a:quadBezTo>
                  <a:pt x="8229600" y="0"/>
                  <a:pt x="8229600" y="53787"/>
                </a:quadBezTo>
                <a:lnTo>
                  <a:pt x="8229600" y="351025"/>
                </a:lnTo>
                <a:quadBezTo>
                  <a:pt x="8229600" y="404813"/>
                  <a:pt x="8175813" y="404813"/>
                </a:quadBezTo>
                <a:lnTo>
                  <a:pt x="53787" y="404813"/>
                </a:lnTo>
                <a:quadBezTo>
                  <a:pt x="0" y="404813"/>
                  <a:pt x="0" y="351025"/>
                </a:quadBezTo>
                <a:lnTo>
                  <a:pt x="0" y="53787"/>
                </a:lnTo>
                <a:quadBezTo>
                  <a:pt x="0" y="0"/>
                  <a:pt x="53787" y="0"/>
                </a:quadBezTo>
                <a:close/>
              </a:path>
            </a:pathLst>
          </a:custGeom>
          <a:solidFill>
            <a:srgbClr val="142033"/>
          </a:solidFill>
          <a:ln/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4550322"/>
            <a:ext cx="133350" cy="13335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857176" y="4533676"/>
            <a:ext cx="3347342" cy="166687"/>
          </a:xfrm>
          <a:custGeom>
            <a:avLst/>
            <a:gdLst/>
            <a:ahLst/>
            <a:cxnLst/>
            <a:rect l="l" t="t" r="r" b="b"/>
            <a:pathLst>
              <a:path w="3347342" h="166687">
                <a:moveTo>
                  <a:pt x="0" y="0"/>
                </a:moveTo>
                <a:lnTo>
                  <a:pt x="3347342" y="0"/>
                </a:lnTo>
                <a:lnTo>
                  <a:pt x="3347342" y="166687"/>
                </a:lnTo>
                <a:lnTo>
                  <a:pt x="0" y="166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0"/>
          <p:cNvSpPr/>
          <p:nvPr/>
        </p:nvSpPr>
        <p:spPr>
          <a:xfrm>
            <a:off x="857176" y="4533676"/>
            <a:ext cx="3347342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is explicit at every trust boundary.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6553944" y="4547964"/>
            <a:ext cx="1952625" cy="138113"/>
          </a:xfrm>
          <a:custGeom>
            <a:avLst/>
            <a:gdLst/>
            <a:ahLst/>
            <a:cxnLst/>
            <a:rect l="l" t="t" r="r" b="b"/>
            <a:pathLst>
              <a:path w="1952625" h="138113">
                <a:moveTo>
                  <a:pt x="0" y="0"/>
                </a:moveTo>
                <a:lnTo>
                  <a:pt x="1952625" y="0"/>
                </a:lnTo>
                <a:lnTo>
                  <a:pt x="19526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2"/>
          <p:cNvSpPr/>
          <p:nvPr/>
        </p:nvSpPr>
        <p:spPr>
          <a:xfrm>
            <a:off x="6553944" y="4547964"/>
            <a:ext cx="1952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8C7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→ verify → own → transition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370978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150" y="370978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&amp; SCALE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150" y="585343"/>
            <a:ext cx="6762750" cy="657225"/>
          </a:xfrm>
          <a:custGeom>
            <a:avLst/>
            <a:gdLst/>
            <a:ahLst/>
            <a:cxnLst/>
            <a:rect l="l" t="t" r="r" b="b"/>
            <a:pathLst>
              <a:path w="6762750" h="657225">
                <a:moveTo>
                  <a:pt x="0" y="0"/>
                </a:moveTo>
                <a:lnTo>
                  <a:pt x="6762750" y="0"/>
                </a:lnTo>
                <a:lnTo>
                  <a:pt x="676275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150" y="585343"/>
            <a:ext cx="67627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reusable layer for clearer, more guided service journeys.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150" y="1319312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0" y="0"/>
                </a:moveTo>
                <a:lnTo>
                  <a:pt x="5334000" y="0"/>
                </a:lnTo>
                <a:lnTo>
                  <a:pt x="53340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150" y="1319312"/>
            <a:ext cx="533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service foundation that guides citizens today and expands across government workflows tomorrow.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150" y="2290837"/>
            <a:ext cx="2628900" cy="1766887"/>
          </a:xfrm>
          <a:custGeom>
            <a:avLst/>
            <a:gdLst/>
            <a:ahLst/>
            <a:cxnLst/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700" y="251946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2590900"/>
            <a:ext cx="152400" cy="152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46820" y="2588519"/>
            <a:ext cx="109537" cy="157163"/>
          </a:xfrm>
          <a:custGeom>
            <a:avLst/>
            <a:gdLst/>
            <a:ahLst/>
            <a:cxnLst/>
            <a:rect l="l" t="t" r="r" b="b"/>
            <a:pathLst>
              <a:path w="109537" h="157163">
                <a:moveTo>
                  <a:pt x="0" y="0"/>
                </a:moveTo>
                <a:lnTo>
                  <a:pt x="109537" y="0"/>
                </a:lnTo>
                <a:lnTo>
                  <a:pt x="1095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746820" y="2588519"/>
            <a:ext cx="1095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7700" y="3013795"/>
            <a:ext cx="2209800" cy="161925"/>
          </a:xfrm>
          <a:custGeom>
            <a:avLst/>
            <a:gdLst/>
            <a:ahLst/>
            <a:cxnLst/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7700" y="3013795"/>
            <a:ext cx="2209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citizens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7700" y="3242370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47700" y="324237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friction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7700" y="3538590"/>
            <a:ext cx="1857375" cy="338137"/>
          </a:xfrm>
          <a:custGeom>
            <a:avLst/>
            <a:gdLst/>
            <a:ahLst/>
            <a:cxnLst/>
            <a:rect l="l" t="t" r="r" b="b"/>
            <a:pathLst>
              <a:path w="1857375" h="338137">
                <a:moveTo>
                  <a:pt x="0" y="0"/>
                </a:moveTo>
                <a:lnTo>
                  <a:pt x="1857375" y="0"/>
                </a:lnTo>
                <a:lnTo>
                  <a:pt x="1857375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47700" y="3538590"/>
            <a:ext cx="185737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Clearer status from intent through completion.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57550" y="2290837"/>
            <a:ext cx="2628900" cy="1766887"/>
          </a:xfrm>
          <a:custGeom>
            <a:avLst/>
            <a:gdLst/>
            <a:ahLst/>
            <a:cxnLst/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67100" y="251946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EAF6F3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538" y="2590900"/>
            <a:ext cx="152400" cy="1524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43944" y="2588519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5543944" y="2588519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467100" y="3013795"/>
            <a:ext cx="2209800" cy="161925"/>
          </a:xfrm>
          <a:custGeom>
            <a:avLst/>
            <a:gdLst/>
            <a:ahLst/>
            <a:cxnLst/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3467100" y="3013795"/>
            <a:ext cx="2209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government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67100" y="3242370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3467100" y="324237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1E8E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review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467100" y="3538590"/>
            <a:ext cx="1952625" cy="338137"/>
          </a:xfrm>
          <a:custGeom>
            <a:avLst/>
            <a:gdLst/>
            <a:ahLst/>
            <a:cxnLst/>
            <a:rect l="l" t="t" r="r" b="b"/>
            <a:pathLst>
              <a:path w="1952625" h="338137">
                <a:moveTo>
                  <a:pt x="0" y="0"/>
                </a:moveTo>
                <a:lnTo>
                  <a:pt x="1952625" y="0"/>
                </a:lnTo>
                <a:lnTo>
                  <a:pt x="1952625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3467100" y="3538590"/>
            <a:ext cx="195262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 AI supports review while officers retain ownership.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076950" y="2290837"/>
            <a:ext cx="2628900" cy="1766887"/>
          </a:xfrm>
          <a:custGeom>
            <a:avLst/>
            <a:gdLst/>
            <a:ahLst/>
            <a:cxnLst/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86500" y="251946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938" y="2590900"/>
            <a:ext cx="152400" cy="1524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8363546" y="2588519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8363546" y="2588519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E7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286500" y="3013795"/>
            <a:ext cx="2209800" cy="161925"/>
          </a:xfrm>
          <a:custGeom>
            <a:avLst/>
            <a:gdLst/>
            <a:ahLst/>
            <a:cxnLst/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286500" y="3013795"/>
            <a:ext cx="2209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286500" y="3242370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6286500" y="324237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2F6F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services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286500" y="3538590"/>
            <a:ext cx="1905000" cy="338137"/>
          </a:xfrm>
          <a:custGeom>
            <a:avLst/>
            <a:gdLst/>
            <a:ahLst/>
            <a:cxnLst/>
            <a:rect l="l" t="t" r="r" b="b"/>
            <a:pathLst>
              <a:path w="1905000" h="338137">
                <a:moveTo>
                  <a:pt x="0" y="0"/>
                </a:moveTo>
                <a:lnTo>
                  <a:pt x="1905000" y="0"/>
                </a:lnTo>
                <a:lnTo>
                  <a:pt x="19050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6286500" y="3538590"/>
            <a:ext cx="19050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reusable layer designed to extend beyond one journey.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438150" y="4257726"/>
            <a:ext cx="8267700" cy="438150"/>
          </a:xfrm>
          <a:custGeom>
            <a:avLst/>
            <a:gdLst/>
            <a:ahLst/>
            <a:cxnLst/>
            <a:rect l="l" t="t" r="r" b="b"/>
            <a:pathLst>
              <a:path w="8267700" h="438150">
                <a:moveTo>
                  <a:pt x="44726" y="0"/>
                </a:moveTo>
                <a:lnTo>
                  <a:pt x="8222974" y="0"/>
                </a:lnTo>
                <a:quadBezTo>
                  <a:pt x="8267700" y="0"/>
                  <a:pt x="8267700" y="44726"/>
                </a:quadBezTo>
                <a:lnTo>
                  <a:pt x="8267700" y="393424"/>
                </a:lnTo>
                <a:quadBezTo>
                  <a:pt x="8267700" y="438150"/>
                  <a:pt x="8222974" y="438150"/>
                </a:quadBezTo>
                <a:lnTo>
                  <a:pt x="44726" y="438150"/>
                </a:lnTo>
                <a:quadBezTo>
                  <a:pt x="0" y="438150"/>
                  <a:pt x="0" y="393424"/>
                </a:quadBezTo>
                <a:lnTo>
                  <a:pt x="0" y="44726"/>
                </a:lnTo>
                <a:quadBezTo>
                  <a:pt x="0" y="0"/>
                  <a:pt x="44726" y="0"/>
                </a:quadBezTo>
                <a:close/>
              </a:path>
            </a:pathLst>
          </a:custGeom>
          <a:solidFill>
            <a:srgbClr val="EEF3F8"/>
          </a:solidFill>
          <a:ln/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4410075"/>
            <a:ext cx="133350" cy="13335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809128" y="4402955"/>
            <a:ext cx="2293810" cy="147637"/>
          </a:xfrm>
          <a:custGeom>
            <a:avLst/>
            <a:gdLst/>
            <a:ahLst/>
            <a:cxnLst/>
            <a:rect l="l" t="t" r="r" b="b"/>
            <a:pathLst>
              <a:path w="2293810" h="147637">
                <a:moveTo>
                  <a:pt x="0" y="0"/>
                </a:moveTo>
                <a:lnTo>
                  <a:pt x="2293810" y="0"/>
                </a:lnTo>
                <a:lnTo>
                  <a:pt x="229381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809128" y="4402955"/>
            <a:ext cx="229381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prototype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3646317" y="4395787"/>
            <a:ext cx="5158664" cy="147637"/>
          </a:xfrm>
          <a:custGeom>
            <a:avLst/>
            <a:gdLst/>
            <a:ahLst/>
            <a:cxnLst/>
            <a:rect l="l" t="t" r="r" b="b"/>
            <a:pathLst>
              <a:path w="5158664" h="147637">
                <a:moveTo>
                  <a:pt x="0" y="0"/>
                </a:moveTo>
                <a:lnTo>
                  <a:pt x="5158664" y="0"/>
                </a:lnTo>
                <a:lnTo>
                  <a:pt x="5158664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3646317" y="4395787"/>
            <a:ext cx="5158664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F5D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Synthetic and mocked — a foundation for validation, not a deployment claim.</a:t>
            </a:r>
            <a:endParaRPr lang="en-US" sz="9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2290837"/>
            <a:ext cx="2628900" cy="1766887"/>
          </a:xfrm>
          <a:prstGeom prst="rect">
            <a:avLst/>
          </a:prstGeom>
        </p:spPr>
      </p:pic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550" y="2290837"/>
            <a:ext cx="2628900" cy="1766887"/>
          </a:xfrm>
          <a:prstGeom prst="rect">
            <a:avLst/>
          </a:prstGeom>
        </p:spPr>
      </p:pic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950" y="2290837"/>
            <a:ext cx="2628900" cy="1766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C182B">
              <a:alpha val="67843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4148110" y="1527176"/>
            <a:ext cx="847725" cy="138113"/>
          </a:xfrm>
          <a:custGeom>
            <a:avLst/>
            <a:gdLst/>
            <a:ahLst/>
            <a:cxnLst/>
            <a:rect l="l" t="t" r="r" b="b"/>
            <a:pathLst>
              <a:path w="847725" h="138113">
                <a:moveTo>
                  <a:pt x="0" y="0"/>
                </a:moveTo>
                <a:lnTo>
                  <a:pt x="847725" y="0"/>
                </a:lnTo>
                <a:lnTo>
                  <a:pt x="8477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148110" y="1527176"/>
            <a:ext cx="8477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8BB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JANSEVA-X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571625" y="1769269"/>
            <a:ext cx="6000750" cy="700088"/>
          </a:xfrm>
          <a:custGeom>
            <a:avLst/>
            <a:gdLst/>
            <a:ahLst/>
            <a:cxnLst/>
            <a:rect l="l" t="t" r="r" b="b"/>
            <a:pathLst>
              <a:path w="6000750" h="700088">
                <a:moveTo>
                  <a:pt x="0" y="0"/>
                </a:moveTo>
                <a:lnTo>
                  <a:pt x="6000750" y="0"/>
                </a:lnTo>
                <a:lnTo>
                  <a:pt x="600075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571625" y="1769269"/>
            <a:ext cx="600075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services should understand citizens.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391025" y="2630984"/>
            <a:ext cx="361950" cy="23812"/>
          </a:xfrm>
          <a:custGeom>
            <a:avLst/>
            <a:gdLst/>
            <a:ahLst/>
            <a:cxnLst/>
            <a:rect l="l" t="t" r="r" b="b"/>
            <a:pathLst>
              <a:path w="361950" h="23812">
                <a:moveTo>
                  <a:pt x="21167" y="0"/>
                </a:moveTo>
                <a:lnTo>
                  <a:pt x="622300" y="0"/>
                </a:lnTo>
                <a:quadBezTo>
                  <a:pt x="643467" y="0"/>
                  <a:pt x="643467" y="21167"/>
                </a:quadBezTo>
                <a:lnTo>
                  <a:pt x="643467" y="21167"/>
                </a:lnTo>
                <a:quadBezTo>
                  <a:pt x="643467" y="42333"/>
                  <a:pt x="622300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>
            <a:srgbClr val="1E8E7E"/>
          </a:solidFill>
          <a:ln/>
        </p:spPr>
      </p:sp>
      <p:sp>
        <p:nvSpPr>
          <p:cNvPr id="11" name="Shape 7"/>
          <p:cNvSpPr/>
          <p:nvPr/>
        </p:nvSpPr>
        <p:spPr>
          <a:xfrm>
            <a:off x="2333625" y="2797175"/>
            <a:ext cx="4476750" cy="438150"/>
          </a:xfrm>
          <a:custGeom>
            <a:avLst/>
            <a:gdLst/>
            <a:ahLst/>
            <a:cxnLst/>
            <a:rect l="l" t="t" r="r" b="b"/>
            <a:pathLst>
              <a:path w="4476750" h="438150">
                <a:moveTo>
                  <a:pt x="0" y="0"/>
                </a:moveTo>
                <a:lnTo>
                  <a:pt x="4476750" y="0"/>
                </a:lnTo>
                <a:lnTo>
                  <a:pt x="44767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333625" y="2797175"/>
            <a:ext cx="447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EF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 JANSEVA-X what you need. We will help you get it done.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0556" y="4772025"/>
            <a:ext cx="1919287" cy="114300"/>
          </a:xfrm>
          <a:custGeom>
            <a:avLst/>
            <a:gdLst/>
            <a:ahLst/>
            <a:cxnLst/>
            <a:rect l="l" t="t" r="r" b="b"/>
            <a:pathLst>
              <a:path w="1919287" h="114300">
                <a:moveTo>
                  <a:pt x="0" y="0"/>
                </a:moveTo>
                <a:lnTo>
                  <a:pt x="1919287" y="0"/>
                </a:lnTo>
                <a:lnTo>
                  <a:pt x="1919287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70556" y="4772025"/>
            <a:ext cx="19192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APPLICATION JOURNEY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53583" y="4772025"/>
            <a:ext cx="2319337" cy="114300"/>
          </a:xfrm>
          <a:custGeom>
            <a:avLst/>
            <a:gdLst/>
            <a:ahLst/>
            <a:cxnLst/>
            <a:rect l="l" t="t" r="r" b="b"/>
            <a:pathLst>
              <a:path w="2319337" h="114300">
                <a:moveTo>
                  <a:pt x="0" y="0"/>
                </a:moveTo>
                <a:lnTo>
                  <a:pt x="2319337" y="0"/>
                </a:lnTo>
                <a:lnTo>
                  <a:pt x="2319337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253583" y="4772025"/>
            <a:ext cx="23193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D9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Hackathon prototype · Public service innovation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Microsoft Office PowerPoint</Application>
  <PresentationFormat>On-screen Show (16:9)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2026-09-21T18:15:04Z</dcterms:created>
  <dcterms:modified xsi:type="dcterms:W3CDTF">2026-09-22T05:32:32Z</dcterms:modified>
</cp:coreProperties>
</file>